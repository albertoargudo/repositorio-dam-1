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y="5143500" cx="9144000"/>
  <p:notesSz cx="6858000" cy="9144000"/>
  <p:embeddedFontLst>
    <p:embeddedFont>
      <p:font typeface="Poppins"/>
      <p:regular r:id="rId35"/>
      <p:bold r:id="rId36"/>
      <p:italic r:id="rId37"/>
      <p:boldItalic r:id="rId38"/>
    </p:embeddedFont>
    <p:embeddedFont>
      <p:font typeface="Poppins Light"/>
      <p:regular r:id="rId39"/>
      <p:bold r:id="rId40"/>
      <p:italic r:id="rId41"/>
      <p:boldItalic r:id="rId42"/>
    </p:embeddedFont>
    <p:embeddedFont>
      <p:font typeface="Poppins Medium"/>
      <p:regular r:id="rId43"/>
      <p:bold r:id="rId44"/>
      <p:italic r:id="rId45"/>
      <p:boldItalic r:id="rId46"/>
    </p:embeddedFont>
    <p:embeddedFont>
      <p:font typeface="Poppins SemiBold"/>
      <p:regular r:id="rId47"/>
      <p:bold r:id="rId48"/>
      <p:italic r:id="rId49"/>
      <p:boldItalic r:id="rId50"/>
    </p:embeddedFont>
    <p:embeddedFont>
      <p:font typeface="Roboto Mono"/>
      <p:regular r:id="rId51"/>
      <p:bold r:id="rId52"/>
      <p:italic r:id="rId53"/>
      <p:boldItalic r:id="rId5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55" roundtripDataSignature="AMtx7mj+qYtyqaXqxJrvEAHM8lalv2BH8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oppinsLight-bold.fntdata"/><Relationship Id="rId42" Type="http://schemas.openxmlformats.org/officeDocument/2006/relationships/font" Target="fonts/PoppinsLight-boldItalic.fntdata"/><Relationship Id="rId41" Type="http://schemas.openxmlformats.org/officeDocument/2006/relationships/font" Target="fonts/PoppinsLight-italic.fntdata"/><Relationship Id="rId44" Type="http://schemas.openxmlformats.org/officeDocument/2006/relationships/font" Target="fonts/PoppinsMedium-bold.fntdata"/><Relationship Id="rId43" Type="http://schemas.openxmlformats.org/officeDocument/2006/relationships/font" Target="fonts/PoppinsMedium-regular.fntdata"/><Relationship Id="rId46" Type="http://schemas.openxmlformats.org/officeDocument/2006/relationships/font" Target="fonts/PoppinsMedium-boldItalic.fntdata"/><Relationship Id="rId45" Type="http://schemas.openxmlformats.org/officeDocument/2006/relationships/font" Target="fonts/PoppinsMedium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PoppinsSemiBold-bold.fntdata"/><Relationship Id="rId47" Type="http://schemas.openxmlformats.org/officeDocument/2006/relationships/font" Target="fonts/PoppinsSemiBold-regular.fntdata"/><Relationship Id="rId49" Type="http://schemas.openxmlformats.org/officeDocument/2006/relationships/font" Target="fonts/PoppinsSemiBold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font" Target="fonts/Poppins-regular.fntdata"/><Relationship Id="rId34" Type="http://schemas.openxmlformats.org/officeDocument/2006/relationships/slide" Target="slides/slide29.xml"/><Relationship Id="rId37" Type="http://schemas.openxmlformats.org/officeDocument/2006/relationships/font" Target="fonts/Poppins-italic.fntdata"/><Relationship Id="rId36" Type="http://schemas.openxmlformats.org/officeDocument/2006/relationships/font" Target="fonts/Poppins-bold.fntdata"/><Relationship Id="rId39" Type="http://schemas.openxmlformats.org/officeDocument/2006/relationships/font" Target="fonts/PoppinsLight-regular.fntdata"/><Relationship Id="rId38" Type="http://schemas.openxmlformats.org/officeDocument/2006/relationships/font" Target="fonts/Poppins-boldItalic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RobotoMono-regular.fntdata"/><Relationship Id="rId50" Type="http://schemas.openxmlformats.org/officeDocument/2006/relationships/font" Target="fonts/PoppinsSemiBold-boldItalic.fntdata"/><Relationship Id="rId53" Type="http://schemas.openxmlformats.org/officeDocument/2006/relationships/font" Target="fonts/RobotoMono-italic.fntdata"/><Relationship Id="rId52" Type="http://schemas.openxmlformats.org/officeDocument/2006/relationships/font" Target="fonts/RobotoMono-bold.fntdata"/><Relationship Id="rId11" Type="http://schemas.openxmlformats.org/officeDocument/2006/relationships/slide" Target="slides/slide6.xml"/><Relationship Id="rId55" Type="http://customschemas.google.com/relationships/presentationmetadata" Target="metadata"/><Relationship Id="rId10" Type="http://schemas.openxmlformats.org/officeDocument/2006/relationships/slide" Target="slides/slide5.xml"/><Relationship Id="rId54" Type="http://schemas.openxmlformats.org/officeDocument/2006/relationships/font" Target="fonts/RobotoMon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" name="Google Shape;9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h2a66104a94aeaf98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h2a66104a94aeaf98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h2a66104a94aeaf98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h2a66104a94aeaf98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h2a66104a94aeaf98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h2a66104a94aeaf98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h2a66104a94aeaf98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h2a66104a94aeaf98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h2a66104a94aeaf98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h2a66104a94aeaf98_0_1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1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1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2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1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2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2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2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2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2A1D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"/>
          <p:cNvSpPr/>
          <p:nvPr/>
        </p:nvSpPr>
        <p:spPr>
          <a:xfrm>
            <a:off x="6309360" y="3246120"/>
            <a:ext cx="3931920" cy="3931920"/>
          </a:xfrm>
          <a:prstGeom prst="ellipse">
            <a:avLst/>
          </a:prstGeom>
          <a:solidFill>
            <a:srgbClr val="FFFFFF">
              <a:alpha val="1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"/>
          <p:cNvSpPr/>
          <p:nvPr/>
        </p:nvSpPr>
        <p:spPr>
          <a:xfrm>
            <a:off x="7960766" y="3717950"/>
            <a:ext cx="2948940" cy="2948940"/>
          </a:xfrm>
          <a:prstGeom prst="ellipse">
            <a:avLst/>
          </a:prstGeom>
          <a:solidFill>
            <a:srgbClr val="E6945A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-822960" y="-1005840"/>
            <a:ext cx="2377440" cy="2377440"/>
          </a:xfrm>
          <a:prstGeom prst="ellipse">
            <a:avLst/>
          </a:prstGeom>
          <a:solidFill>
            <a:srgbClr val="FFFFFF">
              <a:alpha val="1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175565" y="-720547"/>
            <a:ext cx="1783080" cy="1783080"/>
          </a:xfrm>
          <a:prstGeom prst="ellipse">
            <a:avLst/>
          </a:prstGeom>
          <a:solidFill>
            <a:srgbClr val="E6945A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502920" y="566928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945A"/>
              </a:buClr>
              <a:buSzPts val="1200"/>
              <a:buFont typeface="Poppins Medium"/>
              <a:buNone/>
            </a:pPr>
            <a:r>
              <a:rPr b="0" i="0" lang="en-US" sz="1200" u="none" cap="none" strike="noStrike">
                <a:solidFill>
                  <a:srgbClr val="E6945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ENTORNOS DE DESARROLLO · 0487</a:t>
            </a:r>
            <a:endParaRPr b="0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502920" y="1691640"/>
            <a:ext cx="731520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Poppins Light"/>
              <a:buNone/>
            </a:pPr>
            <a:r>
              <a:rPr b="0" i="0" lang="en-US" sz="3800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Unidad 1: </a:t>
            </a:r>
            <a:r>
              <a:rPr b="1" i="0" lang="en-US" sz="38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La máquina, los lenguajes y las fases</a:t>
            </a:r>
            <a:endParaRPr b="0" i="0" sz="3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502920" y="3310128"/>
            <a:ext cx="6858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945A"/>
              </a:buClr>
              <a:buSzPts val="1500"/>
              <a:buFont typeface="Poppins"/>
              <a:buNone/>
            </a:pPr>
            <a:r>
              <a:rPr b="0" i="0" lang="en-US" sz="1500" u="none" cap="none" strike="noStrike">
                <a:solidFill>
                  <a:srgbClr val="E6945A"/>
                </a:solidFill>
                <a:latin typeface="Poppins"/>
                <a:ea typeface="Poppins"/>
                <a:cs typeface="Poppins"/>
                <a:sym typeface="Poppins"/>
              </a:rPr>
              <a:t>Entornos de desarrollo (0487) · 1.º DAM · Qué hay dentro del ordenador, cómo se describen los lenguajes y qué fases atraviesa una aplicación</a:t>
            </a:r>
            <a:endParaRPr b="0"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18" name="Google Shape;18;p1"/>
          <p:cNvCxnSpPr/>
          <p:nvPr/>
        </p:nvCxnSpPr>
        <p:spPr>
          <a:xfrm>
            <a:off x="502920" y="4160520"/>
            <a:ext cx="1828800" cy="0"/>
          </a:xfrm>
          <a:prstGeom prst="straightConnector1">
            <a:avLst/>
          </a:prstGeom>
          <a:noFill/>
          <a:ln cap="flat" cmpd="sng" w="19050">
            <a:solidFill>
              <a:srgbClr val="E6945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1"/>
          <p:cNvSpPr/>
          <p:nvPr/>
        </p:nvSpPr>
        <p:spPr>
          <a:xfrm>
            <a:off x="502920" y="4279392"/>
            <a:ext cx="4114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Rafael Gómez Prudencio</a:t>
            </a:r>
            <a:endParaRPr b="0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502920" y="4553712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945A"/>
              </a:buClr>
              <a:buSzPts val="1100"/>
              <a:buFont typeface="Poppins Light"/>
              <a:buNone/>
            </a:pPr>
            <a:r>
              <a:rPr b="0" i="0" lang="en-US" sz="1100" u="none" cap="none" strike="noStrike">
                <a:solidFill>
                  <a:srgbClr val="E6945A"/>
                </a:solidFill>
                <a:latin typeface="Poppins Light"/>
                <a:ea typeface="Poppins Light"/>
                <a:cs typeface="Poppins Light"/>
                <a:sym typeface="Poppins Light"/>
              </a:rPr>
              <a:t>Curso 2026 / 2027</a:t>
            </a:r>
            <a:endParaRPr b="0" i="0" sz="11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"/>
          <p:cNvSpPr/>
          <p:nvPr/>
        </p:nvSpPr>
        <p:spPr>
          <a:xfrm>
            <a:off x="502920" y="34747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449"/>
              </a:buClr>
              <a:buSzPts val="1050"/>
              <a:buFont typeface="Poppins Medium"/>
              <a:buNone/>
            </a:pPr>
            <a:r>
              <a:rPr b="0" i="0" lang="en-US" sz="1050" u="none" cap="none" strike="noStrike">
                <a:solidFill>
                  <a:srgbClr val="4A544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UT1 · EL DESARROLLO DE SOFTWARE Y SUS FASES</a:t>
            </a:r>
            <a:endParaRPr b="0" i="0" sz="105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" name="Google Shape;26;p2"/>
          <p:cNvSpPr/>
          <p:nvPr/>
        </p:nvSpPr>
        <p:spPr>
          <a:xfrm>
            <a:off x="7223760" y="594360"/>
            <a:ext cx="1417320" cy="365760"/>
          </a:xfrm>
          <a:prstGeom prst="roundRect">
            <a:avLst>
              <a:gd fmla="val 15000" name="adj"/>
            </a:avLst>
          </a:prstGeom>
          <a:solidFill>
            <a:srgbClr val="F7F3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2"/>
          <p:cNvSpPr/>
          <p:nvPr/>
        </p:nvSpPr>
        <p:spPr>
          <a:xfrm>
            <a:off x="7223760" y="594360"/>
            <a:ext cx="1417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A1D"/>
              </a:buClr>
              <a:buSzPts val="1000"/>
              <a:buFont typeface="Poppins Medium"/>
              <a:buNone/>
            </a:pPr>
            <a:r>
              <a:rPr b="0" i="0" lang="en-US" sz="1000" u="none" cap="none" strike="noStrike">
                <a:solidFill>
                  <a:srgbClr val="152A1D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REPASO</a:t>
            </a:r>
            <a:endParaRPr b="0" i="0" sz="1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502920" y="566928"/>
            <a:ext cx="5760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A1D"/>
              </a:buClr>
              <a:buSzPts val="2500"/>
              <a:buFont typeface="Poppins SemiBold"/>
              <a:buNone/>
            </a:pPr>
            <a:r>
              <a:rPr b="1" i="0" lang="en-US" sz="2500" u="none" cap="none" strike="noStrike">
                <a:solidFill>
                  <a:srgbClr val="152A1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Lo que ya sabemos</a:t>
            </a:r>
            <a:endParaRPr b="0" i="0" sz="2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502920" y="1371600"/>
            <a:ext cx="8138160" cy="3246120"/>
          </a:xfrm>
          <a:prstGeom prst="roundRect">
            <a:avLst>
              <a:gd fmla="val 2254" name="adj"/>
            </a:avLst>
          </a:prstGeom>
          <a:solidFill>
            <a:srgbClr val="FBF8F5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685800" y="1554480"/>
            <a:ext cx="2456688" cy="2606040"/>
          </a:xfrm>
          <a:prstGeom prst="roundRect">
            <a:avLst>
              <a:gd fmla="val 12000" name="adj"/>
            </a:avLst>
          </a:prstGeom>
          <a:solidFill>
            <a:srgbClr val="F7F3EE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850392" y="1719072"/>
            <a:ext cx="2127504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Tres ficheros</a:t>
            </a: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850392" y="2139545"/>
            <a:ext cx="21276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Producto.java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El código fuente que escribe el programador.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6B726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Producto.class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Lo genera javac. Contiene bytecode para la JVM, no instrucciones de una CPU concreta.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6B726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tienda.jar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Un paquete: agrupa clases .class y otros recursos para distribuir o ejecutar la aplicación.</a:t>
            </a: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3343656" y="1554480"/>
            <a:ext cx="2456688" cy="2606040"/>
          </a:xfrm>
          <a:prstGeom prst="roundRect">
            <a:avLst>
              <a:gd fmla="val 12000" name="adj"/>
            </a:avLst>
          </a:prstGeom>
          <a:solidFill>
            <a:srgbClr val="F7F3EE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3508248" y="1719072"/>
            <a:ext cx="2127504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Dos órdenes</a:t>
            </a: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3508248" y="2139545"/>
            <a:ext cx="21276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javac Producto.java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Compila el código fuente y genera Producto.class.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6B726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java Producto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Inicia la JVM, carga Producto.class y ejecuta su método principal.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6B726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En el flujo que usamos en clase: primero compilamos, después ejecutamos.</a:t>
            </a:r>
            <a:endParaRPr/>
          </a:p>
        </p:txBody>
      </p:sp>
      <p:sp>
        <p:nvSpPr>
          <p:cNvPr id="36" name="Google Shape;36;p2"/>
          <p:cNvSpPr/>
          <p:nvPr/>
        </p:nvSpPr>
        <p:spPr>
          <a:xfrm>
            <a:off x="6001512" y="1554480"/>
            <a:ext cx="2456688" cy="2606040"/>
          </a:xfrm>
          <a:prstGeom prst="roundRect">
            <a:avLst>
              <a:gd fmla="val 12000" name="adj"/>
            </a:avLst>
          </a:prstGeom>
          <a:solidFill>
            <a:srgbClr val="F7F3EE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6166104" y="1719072"/>
            <a:ext cx="2127504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Una promesa</a:t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6166104" y="2139545"/>
            <a:ext cx="21276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«Write once, run anywhere.»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6B726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El mismo bytecode puede ejecutarse en distintos sistemas siempre que exista una JVM compatible para ellos.</a:t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685800" y="4206240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E6945A"/>
                </a:solidFill>
                <a:latin typeface="Poppins"/>
                <a:ea typeface="Poppins"/>
                <a:cs typeface="Poppins"/>
                <a:sym typeface="Poppins"/>
              </a:rPr>
              <a:t>Ahora vamos a ver qué ocurre entre ese bytecode y el procesador, y cómo lo resuelven otros lenguajes.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2A1D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"/>
          <p:cNvSpPr/>
          <p:nvPr/>
        </p:nvSpPr>
        <p:spPr>
          <a:xfrm>
            <a:off x="-1005840" y="2468880"/>
            <a:ext cx="3291840" cy="3291840"/>
          </a:xfrm>
          <a:prstGeom prst="ellipse">
            <a:avLst/>
          </a:prstGeom>
          <a:solidFill>
            <a:srgbClr val="FFFFFF">
              <a:alpha val="1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3"/>
          <p:cNvSpPr/>
          <p:nvPr/>
        </p:nvSpPr>
        <p:spPr>
          <a:xfrm>
            <a:off x="376733" y="2863901"/>
            <a:ext cx="2468880" cy="2468880"/>
          </a:xfrm>
          <a:prstGeom prst="ellipse">
            <a:avLst/>
          </a:prstGeom>
          <a:solidFill>
            <a:srgbClr val="E6945A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3"/>
          <p:cNvSpPr/>
          <p:nvPr/>
        </p:nvSpPr>
        <p:spPr>
          <a:xfrm>
            <a:off x="4663440" y="502920"/>
            <a:ext cx="3977640" cy="4206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4436"/>
              </a:buClr>
              <a:buSzPts val="22000"/>
              <a:buFont typeface="Poppins SemiBold"/>
              <a:buNone/>
            </a:pPr>
            <a:r>
              <a:rPr b="1" i="0" lang="en-US" sz="22000" u="none" cap="none" strike="noStrike">
                <a:solidFill>
                  <a:srgbClr val="2C443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01</a:t>
            </a:r>
            <a:endParaRPr b="0" i="0" sz="22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7" name="Google Shape;47;p3"/>
          <p:cNvSpPr/>
          <p:nvPr/>
        </p:nvSpPr>
        <p:spPr>
          <a:xfrm>
            <a:off x="502920" y="196596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945A"/>
              </a:buClr>
              <a:buSzPts val="1300"/>
              <a:buFont typeface="Poppins Medium"/>
              <a:buNone/>
            </a:pPr>
            <a:r>
              <a:rPr b="0" i="0" lang="en-US" sz="1300" u="none" cap="none" strike="noStrike">
                <a:solidFill>
                  <a:srgbClr val="E6945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UNIDAD 1</a:t>
            </a:r>
            <a:endParaRPr b="0" i="0" sz="13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8" name="Google Shape;48;p3"/>
          <p:cNvSpPr/>
          <p:nvPr/>
        </p:nvSpPr>
        <p:spPr>
          <a:xfrm>
            <a:off x="502920" y="2286000"/>
            <a:ext cx="512064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Poppins SemiBold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Qué hay dentro</a:t>
            </a:r>
            <a:endParaRPr b="0" i="0" sz="3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Poppins SemiBold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de la máquina</a:t>
            </a:r>
            <a:endParaRPr b="0" i="0" sz="3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"/>
          <p:cNvSpPr/>
          <p:nvPr/>
        </p:nvSpPr>
        <p:spPr>
          <a:xfrm>
            <a:off x="502920" y="34747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449"/>
              </a:buClr>
              <a:buSzPts val="1050"/>
              <a:buFont typeface="Poppins Medium"/>
              <a:buNone/>
            </a:pPr>
            <a:r>
              <a:rPr b="0" i="0" lang="en-US" sz="1050" u="none" cap="none" strike="noStrike">
                <a:solidFill>
                  <a:srgbClr val="4A544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UT1 · EL DESARROLLO DE SOFTWARE Y SUS FASES</a:t>
            </a:r>
            <a:endParaRPr b="0" i="0" sz="105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7223760" y="594360"/>
            <a:ext cx="1417320" cy="365760"/>
          </a:xfrm>
          <a:prstGeom prst="roundRect">
            <a:avLst>
              <a:gd fmla="val 15000" name="adj"/>
            </a:avLst>
          </a:prstGeom>
          <a:solidFill>
            <a:srgbClr val="F7F3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7223760" y="594360"/>
            <a:ext cx="1417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A1D"/>
              </a:buClr>
              <a:buSzPts val="1000"/>
              <a:buFont typeface="Poppins Medium"/>
              <a:buNone/>
            </a:pPr>
            <a:r>
              <a:rPr b="0" i="0" lang="en-US" sz="1000" u="none" cap="none" strike="noStrike">
                <a:solidFill>
                  <a:srgbClr val="152A1D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CONCEPTO</a:t>
            </a:r>
            <a:endParaRPr b="0" i="0" sz="1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502920" y="566928"/>
            <a:ext cx="5760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A1D"/>
              </a:buClr>
              <a:buSzPts val="2500"/>
              <a:buFont typeface="Poppins SemiBold"/>
              <a:buNone/>
            </a:pPr>
            <a:r>
              <a:rPr b="1" i="0" lang="en-US" sz="2500" u="none" cap="none" strike="noStrike">
                <a:solidFill>
                  <a:srgbClr val="152A1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Tres piezas y un programa</a:t>
            </a:r>
            <a:endParaRPr b="0" i="0" sz="2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502920" y="1371600"/>
            <a:ext cx="8138160" cy="3246120"/>
          </a:xfrm>
          <a:prstGeom prst="roundRect">
            <a:avLst>
              <a:gd fmla="val 2254" name="adj"/>
            </a:avLst>
          </a:prstGeom>
          <a:solidFill>
            <a:srgbClr val="FBF8F5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685800" y="1481328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Un programa no se ejecuta «en el ordenador» en abstracto: intervienen tres piezas, y cada una hace una cosa.</a:t>
            </a:r>
            <a:endParaRPr/>
          </a:p>
        </p:txBody>
      </p:sp>
      <p:sp>
        <p:nvSpPr>
          <p:cNvPr id="59" name="Google Shape;59;p4"/>
          <p:cNvSpPr/>
          <p:nvPr/>
        </p:nvSpPr>
        <p:spPr>
          <a:xfrm>
            <a:off x="685800" y="1828800"/>
            <a:ext cx="2456688" cy="2103120"/>
          </a:xfrm>
          <a:prstGeom prst="roundRect">
            <a:avLst>
              <a:gd fmla="val 12000" name="adj"/>
            </a:avLst>
          </a:prstGeom>
          <a:solidFill>
            <a:srgbClr val="F7F3EE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850392" y="1993392"/>
            <a:ext cx="2127504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CPU (procesador)</a:t>
            </a:r>
            <a:endParaRPr/>
          </a:p>
        </p:txBody>
      </p:sp>
      <p:sp>
        <p:nvSpPr>
          <p:cNvPr id="61" name="Google Shape;61;p4"/>
          <p:cNvSpPr/>
          <p:nvPr/>
        </p:nvSpPr>
        <p:spPr>
          <a:xfrm>
            <a:off x="850392" y="2606040"/>
            <a:ext cx="2127504" cy="1142999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Ejecuta las instrucciones máquina del programa.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50" u="none" cap="none" strike="noStrike">
              <a:solidFill>
                <a:srgbClr val="6B726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Cada familia de procesadores entiende su propio conjunto de instrucciones, codificadas en binario.</a:t>
            </a:r>
            <a:endParaRPr/>
          </a:p>
        </p:txBody>
      </p:sp>
      <p:sp>
        <p:nvSpPr>
          <p:cNvPr id="62" name="Google Shape;62;p4"/>
          <p:cNvSpPr/>
          <p:nvPr/>
        </p:nvSpPr>
        <p:spPr>
          <a:xfrm>
            <a:off x="3343656" y="1828800"/>
            <a:ext cx="2456688" cy="2103120"/>
          </a:xfrm>
          <a:prstGeom prst="roundRect">
            <a:avLst>
              <a:gd fmla="val 12000" name="adj"/>
            </a:avLst>
          </a:prstGeom>
          <a:solidFill>
            <a:srgbClr val="F7F3EE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3508248" y="1993392"/>
            <a:ext cx="2127504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Memoria RAM</a:t>
            </a:r>
            <a:endParaRPr/>
          </a:p>
        </p:txBody>
      </p:sp>
      <p:sp>
        <p:nvSpPr>
          <p:cNvPr id="64" name="Google Shape;64;p4"/>
          <p:cNvSpPr/>
          <p:nvPr/>
        </p:nvSpPr>
        <p:spPr>
          <a:xfrm>
            <a:off x="3508248" y="2606040"/>
            <a:ext cx="2127504" cy="1142999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Mantiene temporalmente el código y los datos que están usando los programas en ejecución.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50" u="none" cap="none" strike="noStrike">
              <a:solidFill>
                <a:srgbClr val="6B726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Es rápida y volátil: su contenido se pierde al apagar el equipo.</a:t>
            </a:r>
            <a:endParaRPr/>
          </a:p>
        </p:txBody>
      </p:sp>
      <p:sp>
        <p:nvSpPr>
          <p:cNvPr id="65" name="Google Shape;65;p4"/>
          <p:cNvSpPr/>
          <p:nvPr/>
        </p:nvSpPr>
        <p:spPr>
          <a:xfrm>
            <a:off x="6001512" y="1828800"/>
            <a:ext cx="2456688" cy="2103120"/>
          </a:xfrm>
          <a:prstGeom prst="roundRect">
            <a:avLst>
              <a:gd fmla="val 12000" name="adj"/>
            </a:avLst>
          </a:prstGeom>
          <a:solidFill>
            <a:srgbClr val="F7F3EE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6166104" y="1993392"/>
            <a:ext cx="2127504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Almacenamiento y periféricos</a:t>
            </a:r>
            <a:endParaRPr/>
          </a:p>
        </p:txBody>
      </p:sp>
      <p:sp>
        <p:nvSpPr>
          <p:cNvPr id="67" name="Google Shape;67;p4"/>
          <p:cNvSpPr/>
          <p:nvPr/>
        </p:nvSpPr>
        <p:spPr>
          <a:xfrm>
            <a:off x="6166104" y="2606040"/>
            <a:ext cx="2127504" cy="1142999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El disco o SSD conserva los programas y los datos cuando no se están usando.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50" u="none" cap="none" strike="noStrike">
              <a:solidFill>
                <a:srgbClr val="6B726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Pantalla, teclado, ratón y red son la entrada y la salida.</a:t>
            </a:r>
            <a:endParaRPr/>
          </a:p>
        </p:txBody>
      </p:sp>
      <p:sp>
        <p:nvSpPr>
          <p:cNvPr id="68" name="Google Shape;68;p4"/>
          <p:cNvSpPr/>
          <p:nvPr/>
        </p:nvSpPr>
        <p:spPr>
          <a:xfrm>
            <a:off x="685800" y="4023360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E6945A"/>
                </a:solidFill>
                <a:latin typeface="Poppins"/>
                <a:ea typeface="Poppins"/>
                <a:cs typeface="Poppins"/>
                <a:sym typeface="Poppins"/>
              </a:rPr>
              <a:t>Al abrir un programa, el sistema operativo carga en memoria lo necesario para ejecutarlo. La CPU trabaja con instrucciones y datos disponibles en memoria, no ejecutando directamente los ficheros del disco.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"/>
          <p:cNvSpPr/>
          <p:nvPr/>
        </p:nvSpPr>
        <p:spPr>
          <a:xfrm>
            <a:off x="502920" y="34747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449"/>
              </a:buClr>
              <a:buSzPts val="1050"/>
              <a:buFont typeface="Poppins Medium"/>
              <a:buNone/>
            </a:pPr>
            <a:r>
              <a:rPr b="0" i="0" lang="en-US" sz="1050" u="none" cap="none" strike="noStrike">
                <a:solidFill>
                  <a:srgbClr val="4A544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UT1 · EL DESARROLLO DE SOFTWARE Y SUS FASES</a:t>
            </a:r>
            <a:endParaRPr b="0" i="0" sz="105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7223760" y="594360"/>
            <a:ext cx="1417320" cy="365760"/>
          </a:xfrm>
          <a:prstGeom prst="roundRect">
            <a:avLst>
              <a:gd fmla="val 15000" name="adj"/>
            </a:avLst>
          </a:prstGeom>
          <a:solidFill>
            <a:srgbClr val="F7F3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7223760" y="594360"/>
            <a:ext cx="1417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A1D"/>
              </a:buClr>
              <a:buSzPts val="1000"/>
              <a:buFont typeface="Poppins Medium"/>
              <a:buNone/>
            </a:pPr>
            <a:r>
              <a:rPr b="0" i="0" lang="en-US" sz="1000" u="none" cap="none" strike="noStrike">
                <a:solidFill>
                  <a:srgbClr val="152A1D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CONCEPTO</a:t>
            </a:r>
            <a:endParaRPr b="0" i="0" sz="1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502920" y="566928"/>
            <a:ext cx="5760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A1D"/>
              </a:buClr>
              <a:buSzPts val="2500"/>
              <a:buFont typeface="Poppins SemiBold"/>
              <a:buNone/>
            </a:pPr>
            <a:r>
              <a:rPr b="1" i="0" lang="en-US" sz="1900" u="none" cap="none" strike="noStrike">
                <a:solidFill>
                  <a:srgbClr val="152A1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Qué pasa cuando abres un programa</a:t>
            </a:r>
            <a:endParaRPr b="0" i="0" sz="2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502920" y="1371600"/>
            <a:ext cx="8138160" cy="3246120"/>
          </a:xfrm>
          <a:prstGeom prst="roundRect">
            <a:avLst>
              <a:gd fmla="val 2254" name="adj"/>
            </a:avLst>
          </a:prstGeom>
          <a:solidFill>
            <a:srgbClr val="FBF8F5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777240" y="1728216"/>
            <a:ext cx="310896" cy="310896"/>
          </a:xfrm>
          <a:prstGeom prst="ellipse">
            <a:avLst/>
          </a:prstGeom>
          <a:solidFill>
            <a:srgbClr val="E6945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/>
          </a:p>
        </p:txBody>
      </p:sp>
      <p:sp>
        <p:nvSpPr>
          <p:cNvPr id="79" name="Google Shape;79;p5"/>
          <p:cNvSpPr/>
          <p:nvPr/>
        </p:nvSpPr>
        <p:spPr>
          <a:xfrm>
            <a:off x="1234440" y="1554480"/>
            <a:ext cx="7132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El programa está almacenado</a:t>
            </a:r>
            <a:endParaRPr/>
          </a:p>
        </p:txBody>
      </p:sp>
      <p:sp>
        <p:nvSpPr>
          <p:cNvPr id="80" name="Google Shape;80;p5"/>
          <p:cNvSpPr/>
          <p:nvPr/>
        </p:nvSpPr>
        <p:spPr>
          <a:xfrm>
            <a:off x="1234440" y="1810512"/>
            <a:ext cx="7132320" cy="420623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Sus ficheros están guardados en el disco o SSD. Mientras no se ejecuta, no existe todavía un proceso asociado.</a:t>
            </a:r>
            <a:endParaRPr/>
          </a:p>
        </p:txBody>
      </p:sp>
      <p:sp>
        <p:nvSpPr>
          <p:cNvPr id="81" name="Google Shape;81;p5"/>
          <p:cNvSpPr/>
          <p:nvPr/>
        </p:nvSpPr>
        <p:spPr>
          <a:xfrm>
            <a:off x="777240" y="2478024"/>
            <a:ext cx="310896" cy="310896"/>
          </a:xfrm>
          <a:prstGeom prst="ellipse">
            <a:avLst/>
          </a:prstGeom>
          <a:solidFill>
            <a:srgbClr val="E6945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/>
          </a:p>
        </p:txBody>
      </p:sp>
      <p:sp>
        <p:nvSpPr>
          <p:cNvPr id="82" name="Google Shape;82;p5"/>
          <p:cNvSpPr/>
          <p:nvPr/>
        </p:nvSpPr>
        <p:spPr>
          <a:xfrm>
            <a:off x="1234440" y="2304288"/>
            <a:ext cx="7132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El sistema operativo crea un proceso</a:t>
            </a:r>
            <a:endParaRPr/>
          </a:p>
        </p:txBody>
      </p:sp>
      <p:sp>
        <p:nvSpPr>
          <p:cNvPr id="83" name="Google Shape;83;p5"/>
          <p:cNvSpPr/>
          <p:nvPr/>
        </p:nvSpPr>
        <p:spPr>
          <a:xfrm>
            <a:off x="1234440" y="2560320"/>
            <a:ext cx="7132320" cy="420623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Reserva y carga en memoria lo necesario y pone el programa en marcha. Un proceso es una instancia de un programa que se está ejecutando.</a:t>
            </a:r>
            <a:endParaRPr/>
          </a:p>
        </p:txBody>
      </p:sp>
      <p:sp>
        <p:nvSpPr>
          <p:cNvPr id="84" name="Google Shape;84;p5"/>
          <p:cNvSpPr/>
          <p:nvPr/>
        </p:nvSpPr>
        <p:spPr>
          <a:xfrm>
            <a:off x="777240" y="3227832"/>
            <a:ext cx="310896" cy="310896"/>
          </a:xfrm>
          <a:prstGeom prst="ellipse">
            <a:avLst/>
          </a:prstGeom>
          <a:solidFill>
            <a:srgbClr val="E6945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/>
          </a:p>
        </p:txBody>
      </p:sp>
      <p:sp>
        <p:nvSpPr>
          <p:cNvPr id="85" name="Google Shape;85;p5"/>
          <p:cNvSpPr/>
          <p:nvPr/>
        </p:nvSpPr>
        <p:spPr>
          <a:xfrm>
            <a:off x="1234440" y="3054096"/>
            <a:ext cx="7132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La CPU ejecuta instrucciones</a:t>
            </a:r>
            <a:endParaRPr/>
          </a:p>
        </p:txBody>
      </p:sp>
      <p:sp>
        <p:nvSpPr>
          <p:cNvPr id="86" name="Google Shape;86;p5"/>
          <p:cNvSpPr/>
          <p:nvPr/>
        </p:nvSpPr>
        <p:spPr>
          <a:xfrm>
            <a:off x="1234440" y="3310128"/>
            <a:ext cx="7132320" cy="420623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La CPU ejecuta finalmente instrucciones máquina. Si el programa usa una máquina virtual o un intérprete, ese runtime participa en el camino hasta esas instrucciones.</a:t>
            </a:r>
            <a:endParaRPr/>
          </a:p>
        </p:txBody>
      </p:sp>
      <p:sp>
        <p:nvSpPr>
          <p:cNvPr id="87" name="Google Shape;87;p5"/>
          <p:cNvSpPr/>
          <p:nvPr/>
        </p:nvSpPr>
        <p:spPr>
          <a:xfrm>
            <a:off x="777240" y="3977640"/>
            <a:ext cx="310896" cy="310896"/>
          </a:xfrm>
          <a:prstGeom prst="ellipse">
            <a:avLst/>
          </a:prstGeom>
          <a:solidFill>
            <a:srgbClr val="E6945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endParaRPr/>
          </a:p>
        </p:txBody>
      </p:sp>
      <p:sp>
        <p:nvSpPr>
          <p:cNvPr id="88" name="Google Shape;88;p5"/>
          <p:cNvSpPr/>
          <p:nvPr/>
        </p:nvSpPr>
        <p:spPr>
          <a:xfrm>
            <a:off x="1234440" y="3803904"/>
            <a:ext cx="7132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Entrada, salida y sistema operativo</a:t>
            </a:r>
            <a:endParaRPr/>
          </a:p>
        </p:txBody>
      </p:sp>
      <p:sp>
        <p:nvSpPr>
          <p:cNvPr id="89" name="Google Shape;89;p5"/>
          <p:cNvSpPr/>
          <p:nvPr/>
        </p:nvSpPr>
        <p:spPr>
          <a:xfrm>
            <a:off x="1234440" y="4059936"/>
            <a:ext cx="7132320" cy="420623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El programa solicita al sistema operativo operaciones como leer un fichero, mostrar una ventana, acceder a la red o usar otros dispositivos.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"/>
          <p:cNvSpPr/>
          <p:nvPr/>
        </p:nvSpPr>
        <p:spPr>
          <a:xfrm>
            <a:off x="502920" y="34747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449"/>
              </a:buClr>
              <a:buSzPts val="1050"/>
              <a:buFont typeface="Poppins Medium"/>
              <a:buNone/>
            </a:pPr>
            <a:r>
              <a:rPr b="0" i="0" lang="en-US" sz="1050" u="none" cap="none" strike="noStrike">
                <a:solidFill>
                  <a:srgbClr val="4A544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UT1 · EL DESARROLLO DE SOFTWARE Y SUS FASES</a:t>
            </a:r>
            <a:endParaRPr b="0" i="0" sz="105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7223760" y="594360"/>
            <a:ext cx="1417320" cy="365760"/>
          </a:xfrm>
          <a:prstGeom prst="roundRect">
            <a:avLst>
              <a:gd fmla="val 15000" name="adj"/>
            </a:avLst>
          </a:prstGeom>
          <a:solidFill>
            <a:srgbClr val="F7F3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7223760" y="594360"/>
            <a:ext cx="1417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A1D"/>
              </a:buClr>
              <a:buSzPts val="1000"/>
              <a:buFont typeface="Poppins Medium"/>
              <a:buNone/>
            </a:pPr>
            <a:r>
              <a:rPr b="0" i="0" lang="en-US" sz="1000" u="none" cap="none" strike="noStrike">
                <a:solidFill>
                  <a:srgbClr val="152A1D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CONCEPTO</a:t>
            </a:r>
            <a:endParaRPr b="0" i="0" sz="1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502920" y="566928"/>
            <a:ext cx="5760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A1D"/>
              </a:buClr>
              <a:buSzPts val="2500"/>
              <a:buFont typeface="Poppins SemiBold"/>
              <a:buNone/>
            </a:pPr>
            <a:r>
              <a:rPr b="1" i="0" lang="en-US" sz="1900" u="none" cap="none" strike="noStrike">
                <a:solidFill>
                  <a:srgbClr val="152A1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Memoria y CPU: qué gasta un programa</a:t>
            </a:r>
            <a:endParaRPr b="0" i="0" sz="2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502920" y="1371600"/>
            <a:ext cx="8138160" cy="3246120"/>
          </a:xfrm>
          <a:prstGeom prst="roundRect">
            <a:avLst>
              <a:gd fmla="val 2254" name="adj"/>
            </a:avLst>
          </a:prstGeom>
          <a:solidFill>
            <a:srgbClr val="FBF8F5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685800" y="146304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E6945A"/>
                </a:solidFill>
                <a:latin typeface="Poppins"/>
                <a:ea typeface="Poppins"/>
                <a:cs typeface="Poppins"/>
                <a:sym typeface="Poppins"/>
              </a:rPr>
              <a:t>Un programa puede ocupar memoria aunque en ese momento apenas utilice CPU.</a:t>
            </a:r>
            <a:endParaRPr/>
          </a:p>
        </p:txBody>
      </p:sp>
      <p:sp>
        <p:nvSpPr>
          <p:cNvPr id="100" name="Google Shape;100;p6"/>
          <p:cNvSpPr/>
          <p:nvPr/>
        </p:nvSpPr>
        <p:spPr>
          <a:xfrm>
            <a:off x="685800" y="1810512"/>
            <a:ext cx="3794760" cy="1325880"/>
          </a:xfrm>
          <a:prstGeom prst="roundRect">
            <a:avLst>
              <a:gd fmla="val 12000" name="adj"/>
            </a:avLst>
          </a:prstGeom>
          <a:solidFill>
            <a:srgbClr val="F7F3EE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822960" y="1874519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Memoria RAM</a:t>
            </a:r>
            <a:endParaRPr/>
          </a:p>
        </p:txBody>
      </p:sp>
      <p:sp>
        <p:nvSpPr>
          <p:cNvPr id="102" name="Google Shape;102;p6"/>
          <p:cNvSpPr/>
          <p:nvPr/>
        </p:nvSpPr>
        <p:spPr>
          <a:xfrm>
            <a:off x="822960" y="2167128"/>
            <a:ext cx="35661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Variables, objetos, imágenes, código cargado y otras estructuras ocupan RAM mientras son necesarias.</a:t>
            </a:r>
            <a:endParaRPr/>
          </a:p>
        </p:txBody>
      </p:sp>
      <p:sp>
        <p:nvSpPr>
          <p:cNvPr id="103" name="Google Shape;103;p6"/>
          <p:cNvSpPr/>
          <p:nvPr/>
        </p:nvSpPr>
        <p:spPr>
          <a:xfrm>
            <a:off x="4663440" y="1810512"/>
            <a:ext cx="3794760" cy="1325880"/>
          </a:xfrm>
          <a:prstGeom prst="roundRect">
            <a:avLst>
              <a:gd fmla="val 12000" name="adj"/>
            </a:avLst>
          </a:prstGeom>
          <a:solidFill>
            <a:srgbClr val="F7F3EE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4800600" y="1874519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CPU</a:t>
            </a:r>
            <a:endParaRPr/>
          </a:p>
        </p:txBody>
      </p:sp>
      <p:sp>
        <p:nvSpPr>
          <p:cNvPr id="105" name="Google Shape;105;p6"/>
          <p:cNvSpPr/>
          <p:nvPr/>
        </p:nvSpPr>
        <p:spPr>
          <a:xfrm>
            <a:off x="4800600" y="2167128"/>
            <a:ext cx="35661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Se utiliza cuando el programa realiza operaciones. Cuando espera una acción del usuario, su consumo puede ser muy bajo.</a:t>
            </a:r>
            <a:endParaRPr/>
          </a:p>
        </p:txBody>
      </p:sp>
      <p:sp>
        <p:nvSpPr>
          <p:cNvPr id="106" name="Google Shape;106;p6"/>
          <p:cNvSpPr/>
          <p:nvPr/>
        </p:nvSpPr>
        <p:spPr>
          <a:xfrm>
            <a:off x="685800" y="3291840"/>
            <a:ext cx="7772400" cy="1234440"/>
          </a:xfrm>
          <a:prstGeom prst="roundRect">
            <a:avLst>
              <a:gd fmla="val 12000" name="adj"/>
            </a:avLst>
          </a:prstGeom>
          <a:solidFill>
            <a:srgbClr val="F3E6DA"/>
          </a:solidFill>
          <a:ln cap="flat" cmpd="sng" w="12700">
            <a:solidFill>
              <a:srgbClr val="E694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822960" y="3346704"/>
            <a:ext cx="749807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En Java aparece una capa adicional: la JVM</a:t>
            </a:r>
            <a:endParaRPr/>
          </a:p>
        </p:txBody>
      </p:sp>
      <p:sp>
        <p:nvSpPr>
          <p:cNvPr id="108" name="Google Shape;108;p6"/>
          <p:cNvSpPr/>
          <p:nvPr/>
        </p:nvSpPr>
        <p:spPr>
          <a:xfrm>
            <a:off x="822960" y="3639312"/>
            <a:ext cx="7498079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El sistema inicia un proceso Java. La JVM carga las clases .class y ejecuta su bytecode: puede interpretarlo o compilar partes a código máquina durante la ejecución (JIT). Tanto la JVM como la propia aplicación utilizan memoria y CPU.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7"/>
          <p:cNvSpPr/>
          <p:nvPr/>
        </p:nvSpPr>
        <p:spPr>
          <a:xfrm>
            <a:off x="502920" y="34747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449"/>
              </a:buClr>
              <a:buSzPts val="1050"/>
              <a:buFont typeface="Poppins Medium"/>
              <a:buNone/>
            </a:pPr>
            <a:r>
              <a:rPr b="0" i="0" lang="en-US" sz="1050" u="none" cap="none" strike="noStrike">
                <a:solidFill>
                  <a:srgbClr val="4A544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UT1 · EL DESARROLLO DE SOFTWARE Y SUS FASES</a:t>
            </a:r>
            <a:endParaRPr b="0" i="0" sz="105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7223760" y="594360"/>
            <a:ext cx="1417320" cy="365760"/>
          </a:xfrm>
          <a:prstGeom prst="roundRect">
            <a:avLst>
              <a:gd fmla="val 15000" name="adj"/>
            </a:avLst>
          </a:prstGeom>
          <a:solidFill>
            <a:srgbClr val="F7F3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7223760" y="594360"/>
            <a:ext cx="1417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A1D"/>
              </a:buClr>
              <a:buSzPts val="1000"/>
              <a:buFont typeface="Poppins Medium"/>
              <a:buNone/>
            </a:pPr>
            <a:r>
              <a:rPr b="0" i="0" lang="en-US" sz="1000" u="none" cap="none" strike="noStrike">
                <a:solidFill>
                  <a:srgbClr val="152A1D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PRÁCTICA · 10 MIN</a:t>
            </a:r>
            <a:endParaRPr b="0" i="0" sz="1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502920" y="566928"/>
            <a:ext cx="5760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A1D"/>
              </a:buClr>
              <a:buSzPts val="2500"/>
              <a:buFont typeface="Poppins SemiBold"/>
              <a:buNone/>
            </a:pPr>
            <a:r>
              <a:rPr b="1" i="0" lang="en-US" sz="2500" u="none" cap="none" strike="noStrike">
                <a:solidFill>
                  <a:srgbClr val="152A1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Lo que consume un programa</a:t>
            </a:r>
            <a:endParaRPr b="0" i="0" sz="2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502920" y="1371600"/>
            <a:ext cx="8138160" cy="3246120"/>
          </a:xfrm>
          <a:prstGeom prst="roundRect">
            <a:avLst>
              <a:gd fmla="val 2254" name="adj"/>
            </a:avLst>
          </a:prstGeom>
          <a:solidFill>
            <a:srgbClr val="FBF8F5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777240" y="1728216"/>
            <a:ext cx="310896" cy="310896"/>
          </a:xfrm>
          <a:prstGeom prst="ellipse">
            <a:avLst/>
          </a:prstGeom>
          <a:solidFill>
            <a:srgbClr val="E6945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/>
          </a:p>
        </p:txBody>
      </p:sp>
      <p:sp>
        <p:nvSpPr>
          <p:cNvPr id="119" name="Google Shape;119;p7"/>
          <p:cNvSpPr/>
          <p:nvPr/>
        </p:nvSpPr>
        <p:spPr>
          <a:xfrm>
            <a:off x="1234440" y="1554480"/>
            <a:ext cx="7132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Abre el Administrador de tareas</a:t>
            </a:r>
            <a:endParaRPr/>
          </a:p>
        </p:txBody>
      </p:sp>
      <p:sp>
        <p:nvSpPr>
          <p:cNvPr id="120" name="Google Shape;120;p7"/>
          <p:cNvSpPr/>
          <p:nvPr/>
        </p:nvSpPr>
        <p:spPr>
          <a:xfrm>
            <a:off x="1234440" y="1810512"/>
            <a:ext cx="7132320" cy="420623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Ctrl + Mayús + Esc. En la pestaña «Procesos» se ve la CPU y la memoria de cada programa.</a:t>
            </a:r>
            <a:endParaRPr/>
          </a:p>
        </p:txBody>
      </p:sp>
      <p:sp>
        <p:nvSpPr>
          <p:cNvPr id="121" name="Google Shape;121;p7"/>
          <p:cNvSpPr/>
          <p:nvPr/>
        </p:nvSpPr>
        <p:spPr>
          <a:xfrm>
            <a:off x="777240" y="2478024"/>
            <a:ext cx="310896" cy="310896"/>
          </a:xfrm>
          <a:prstGeom prst="ellipse">
            <a:avLst/>
          </a:prstGeom>
          <a:solidFill>
            <a:srgbClr val="E6945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/>
          </a:p>
        </p:txBody>
      </p:sp>
      <p:sp>
        <p:nvSpPr>
          <p:cNvPr id="122" name="Google Shape;122;p7"/>
          <p:cNvSpPr/>
          <p:nvPr/>
        </p:nvSpPr>
        <p:spPr>
          <a:xfrm>
            <a:off x="1234440" y="2304288"/>
            <a:ext cx="7132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Abre una aplicación sencilla: el Bloc de notas</a:t>
            </a:r>
            <a:endParaRPr/>
          </a:p>
        </p:txBody>
      </p:sp>
      <p:sp>
        <p:nvSpPr>
          <p:cNvPr id="123" name="Google Shape;123;p7"/>
          <p:cNvSpPr/>
          <p:nvPr/>
        </p:nvSpPr>
        <p:spPr>
          <a:xfrm>
            <a:off x="1234440" y="2560320"/>
            <a:ext cx="7132320" cy="420623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Búscala en la lista. Abierta pero inactiva ocupa RAM y apenas usa CPU.</a:t>
            </a:r>
            <a:endParaRPr/>
          </a:p>
        </p:txBody>
      </p:sp>
      <p:sp>
        <p:nvSpPr>
          <p:cNvPr id="124" name="Google Shape;124;p7"/>
          <p:cNvSpPr/>
          <p:nvPr/>
        </p:nvSpPr>
        <p:spPr>
          <a:xfrm>
            <a:off x="777240" y="3227832"/>
            <a:ext cx="310896" cy="310896"/>
          </a:xfrm>
          <a:prstGeom prst="ellipse">
            <a:avLst/>
          </a:prstGeom>
          <a:solidFill>
            <a:srgbClr val="E6945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/>
          </a:p>
        </p:txBody>
      </p:sp>
      <p:sp>
        <p:nvSpPr>
          <p:cNvPr id="125" name="Google Shape;125;p7"/>
          <p:cNvSpPr/>
          <p:nvPr/>
        </p:nvSpPr>
        <p:spPr>
          <a:xfrm>
            <a:off x="1234440" y="3054096"/>
            <a:ext cx="7132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Ponla a trabajar y observa los cambios</a:t>
            </a:r>
            <a:endParaRPr/>
          </a:p>
        </p:txBody>
      </p:sp>
      <p:sp>
        <p:nvSpPr>
          <p:cNvPr id="126" name="Google Shape;126;p7"/>
          <p:cNvSpPr/>
          <p:nvPr/>
        </p:nvSpPr>
        <p:spPr>
          <a:xfrm>
            <a:off x="1234440" y="3310128"/>
            <a:ext cx="7132320" cy="420623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Pega un texto grande, usa «Buscar y reemplazar» o cambia el tamaño de la letra. Mira qué pasa con la CPU y con la memoria.</a:t>
            </a:r>
            <a:endParaRPr/>
          </a:p>
        </p:txBody>
      </p:sp>
      <p:sp>
        <p:nvSpPr>
          <p:cNvPr id="127" name="Google Shape;127;p7"/>
          <p:cNvSpPr/>
          <p:nvPr/>
        </p:nvSpPr>
        <p:spPr>
          <a:xfrm>
            <a:off x="777240" y="3977640"/>
            <a:ext cx="310896" cy="310896"/>
          </a:xfrm>
          <a:prstGeom prst="ellipse">
            <a:avLst/>
          </a:prstGeom>
          <a:solidFill>
            <a:srgbClr val="E6945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endParaRPr/>
          </a:p>
        </p:txBody>
      </p:sp>
      <p:sp>
        <p:nvSpPr>
          <p:cNvPr id="128" name="Google Shape;128;p7"/>
          <p:cNvSpPr/>
          <p:nvPr/>
        </p:nvSpPr>
        <p:spPr>
          <a:xfrm>
            <a:off x="1234440" y="3803904"/>
            <a:ext cx="7132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Escribe dos líneas</a:t>
            </a:r>
            <a:endParaRPr/>
          </a:p>
        </p:txBody>
      </p:sp>
      <p:sp>
        <p:nvSpPr>
          <p:cNvPr id="129" name="Google Shape;129;p7"/>
          <p:cNvSpPr/>
          <p:nvPr/>
        </p:nvSpPr>
        <p:spPr>
          <a:xfrm>
            <a:off x="1234440" y="4059936"/>
            <a:ext cx="7132320" cy="420623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Qué has observado con la aplicación inactiva y qué ha cambiado al ponerla a trabajar. Los valores exactos cambian entre equipos: lo importante es la diferencia entre memoria ocupada y actividad de CPU.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2A1D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"/>
          <p:cNvSpPr/>
          <p:nvPr/>
        </p:nvSpPr>
        <p:spPr>
          <a:xfrm>
            <a:off x="-1005840" y="2468880"/>
            <a:ext cx="3291840" cy="3291840"/>
          </a:xfrm>
          <a:prstGeom prst="ellipse">
            <a:avLst/>
          </a:prstGeom>
          <a:solidFill>
            <a:srgbClr val="FFFFFF">
              <a:alpha val="1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8"/>
          <p:cNvSpPr/>
          <p:nvPr/>
        </p:nvSpPr>
        <p:spPr>
          <a:xfrm>
            <a:off x="376733" y="2863901"/>
            <a:ext cx="2468880" cy="2468880"/>
          </a:xfrm>
          <a:prstGeom prst="ellipse">
            <a:avLst/>
          </a:prstGeom>
          <a:solidFill>
            <a:srgbClr val="E6945A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8"/>
          <p:cNvSpPr/>
          <p:nvPr/>
        </p:nvSpPr>
        <p:spPr>
          <a:xfrm>
            <a:off x="4663440" y="502920"/>
            <a:ext cx="3977640" cy="4206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4436"/>
              </a:buClr>
              <a:buSzPts val="22000"/>
              <a:buFont typeface="Poppins SemiBold"/>
              <a:buNone/>
            </a:pPr>
            <a:r>
              <a:rPr b="1" i="0" lang="en-US" sz="22000" u="none" cap="none" strike="noStrike">
                <a:solidFill>
                  <a:srgbClr val="2C443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02</a:t>
            </a:r>
            <a:endParaRPr b="0" i="0" sz="22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7" name="Google Shape;137;p8"/>
          <p:cNvSpPr/>
          <p:nvPr/>
        </p:nvSpPr>
        <p:spPr>
          <a:xfrm>
            <a:off x="502920" y="196596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945A"/>
              </a:buClr>
              <a:buSzPts val="1300"/>
              <a:buFont typeface="Poppins Medium"/>
              <a:buNone/>
            </a:pPr>
            <a:r>
              <a:rPr b="0" i="0" lang="en-US" sz="1300" u="none" cap="none" strike="noStrike">
                <a:solidFill>
                  <a:srgbClr val="E6945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UNIDAD 1</a:t>
            </a:r>
            <a:endParaRPr b="0" i="0" sz="13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8" name="Google Shape;138;p8"/>
          <p:cNvSpPr/>
          <p:nvPr/>
        </p:nvSpPr>
        <p:spPr>
          <a:xfrm>
            <a:off x="502920" y="2286000"/>
            <a:ext cx="512064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Poppins SemiBold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Los lenguajes</a:t>
            </a:r>
            <a:endParaRPr b="0" i="0" sz="3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Poppins SemiBold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de programación</a:t>
            </a:r>
            <a:endParaRPr b="0" i="0" sz="3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0"/>
          <p:cNvSpPr/>
          <p:nvPr/>
        </p:nvSpPr>
        <p:spPr>
          <a:xfrm>
            <a:off x="502920" y="34747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449"/>
              </a:buClr>
              <a:buSzPts val="1050"/>
              <a:buFont typeface="Poppins Medium"/>
              <a:buNone/>
            </a:pPr>
            <a:r>
              <a:rPr b="0" i="0" lang="en-US" sz="1050" u="none" cap="none" strike="noStrike">
                <a:solidFill>
                  <a:srgbClr val="4A544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UT1 · EL DESARROLLO DE SOFTWARE Y SUS FASES</a:t>
            </a:r>
            <a:endParaRPr b="0" i="0" sz="105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4" name="Google Shape;144;p10"/>
          <p:cNvSpPr/>
          <p:nvPr/>
        </p:nvSpPr>
        <p:spPr>
          <a:xfrm>
            <a:off x="7223760" y="594360"/>
            <a:ext cx="1417320" cy="365760"/>
          </a:xfrm>
          <a:prstGeom prst="roundRect">
            <a:avLst>
              <a:gd fmla="val 15000" name="adj"/>
            </a:avLst>
          </a:prstGeom>
          <a:solidFill>
            <a:srgbClr val="F7F3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0"/>
          <p:cNvSpPr/>
          <p:nvPr/>
        </p:nvSpPr>
        <p:spPr>
          <a:xfrm>
            <a:off x="7223760" y="594360"/>
            <a:ext cx="1417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A1D"/>
              </a:buClr>
              <a:buSzPts val="1000"/>
              <a:buFont typeface="Poppins Medium"/>
              <a:buNone/>
            </a:pPr>
            <a:r>
              <a:rPr b="0" i="0" lang="en-US" sz="1000" u="none" cap="none" strike="noStrike">
                <a:solidFill>
                  <a:srgbClr val="152A1D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CONCEPTO</a:t>
            </a:r>
            <a:endParaRPr b="0" i="0" sz="1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6" name="Google Shape;146;p10"/>
          <p:cNvSpPr/>
          <p:nvPr/>
        </p:nvSpPr>
        <p:spPr>
          <a:xfrm>
            <a:off x="502920" y="566928"/>
            <a:ext cx="5760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A1D"/>
              </a:buClr>
              <a:buSzPts val="2500"/>
              <a:buFont typeface="Poppins SemiBold"/>
              <a:buNone/>
            </a:pPr>
            <a:r>
              <a:rPr b="1" i="0" lang="en-US" sz="1900" u="none" cap="none" strike="noStrike">
                <a:solidFill>
                  <a:srgbClr val="152A1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Tres ejes para describir un lenguaje</a:t>
            </a:r>
            <a:endParaRPr b="0" i="0" sz="2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7" name="Google Shape;147;p10"/>
          <p:cNvSpPr/>
          <p:nvPr/>
        </p:nvSpPr>
        <p:spPr>
          <a:xfrm>
            <a:off x="502925" y="1115575"/>
            <a:ext cx="8138100" cy="3502200"/>
          </a:xfrm>
          <a:prstGeom prst="roundRect">
            <a:avLst>
              <a:gd fmla="val 2254" name="adj"/>
            </a:avLst>
          </a:prstGeom>
          <a:solidFill>
            <a:srgbClr val="FBF8F5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0"/>
          <p:cNvSpPr/>
          <p:nvPr/>
        </p:nvSpPr>
        <p:spPr>
          <a:xfrm>
            <a:off x="685800" y="1325878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Un lenguaje de programación puede describirse desde distintas perspectivas. En esta unidad utilizaremos tres: cuánto se aleja del hardware, cómo llega desde el código fuente hasta la ejecución y cómo organiza la solución a un problema. </a:t>
            </a:r>
            <a:endParaRPr/>
          </a:p>
        </p:txBody>
      </p:sp>
      <p:sp>
        <p:nvSpPr>
          <p:cNvPr id="149" name="Google Shape;149;p10"/>
          <p:cNvSpPr/>
          <p:nvPr/>
        </p:nvSpPr>
        <p:spPr>
          <a:xfrm>
            <a:off x="685800" y="1810512"/>
            <a:ext cx="7772400" cy="841248"/>
          </a:xfrm>
          <a:prstGeom prst="roundRect">
            <a:avLst>
              <a:gd fmla="val 12000" name="adj"/>
            </a:avLst>
          </a:prstGeom>
          <a:solidFill>
            <a:srgbClr val="F7F3EE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10"/>
          <p:cNvSpPr/>
          <p:nvPr/>
        </p:nvSpPr>
        <p:spPr>
          <a:xfrm>
            <a:off x="804672" y="2075688"/>
            <a:ext cx="310896" cy="310896"/>
          </a:xfrm>
          <a:prstGeom prst="ellipse">
            <a:avLst/>
          </a:prstGeom>
          <a:solidFill>
            <a:srgbClr val="E6945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/>
          </a:p>
        </p:txBody>
      </p:sp>
      <p:sp>
        <p:nvSpPr>
          <p:cNvPr id="151" name="Google Shape;151;p10"/>
          <p:cNvSpPr/>
          <p:nvPr/>
        </p:nvSpPr>
        <p:spPr>
          <a:xfrm>
            <a:off x="1234440" y="1856231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Nivel de abstracción</a:t>
            </a:r>
            <a:endParaRPr/>
          </a:p>
        </p:txBody>
      </p:sp>
      <p:sp>
        <p:nvSpPr>
          <p:cNvPr id="152" name="Google Shape;152;p10"/>
          <p:cNvSpPr/>
          <p:nvPr/>
        </p:nvSpPr>
        <p:spPr>
          <a:xfrm>
            <a:off x="1234440" y="2139696"/>
            <a:ext cx="2240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E6945A"/>
                </a:solidFill>
                <a:latin typeface="Poppins"/>
                <a:ea typeface="Poppins"/>
                <a:cs typeface="Poppins"/>
                <a:sym typeface="Poppins"/>
              </a:rPr>
              <a:t>¿Cuánto detalle del hardware maneja directamente el programador?</a:t>
            </a:r>
            <a:endParaRPr/>
          </a:p>
        </p:txBody>
      </p:sp>
      <p:sp>
        <p:nvSpPr>
          <p:cNvPr id="153" name="Google Shape;153;p10"/>
          <p:cNvSpPr/>
          <p:nvPr/>
        </p:nvSpPr>
        <p:spPr>
          <a:xfrm>
            <a:off x="3520440" y="1856231"/>
            <a:ext cx="48463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2"/>
                </a:solidFill>
              </a:rPr>
              <a:t>Indica </a:t>
            </a:r>
            <a:r>
              <a:rPr b="1" lang="en-US" sz="1100">
                <a:solidFill>
                  <a:schemeClr val="dk2"/>
                </a:solidFill>
              </a:rPr>
              <a:t>cuánto nos alejamos del funcionamiento interno de la máquina</a:t>
            </a:r>
            <a:r>
              <a:rPr lang="en-US" sz="1100">
                <a:solidFill>
                  <a:schemeClr val="dk2"/>
                </a:solidFill>
              </a:rPr>
              <a:t>. Cuanto mayor es la abstracción, más detalles del hardware oculta el lenguaje al programador. </a:t>
            </a:r>
            <a:endParaRPr/>
          </a:p>
        </p:txBody>
      </p:sp>
      <p:sp>
        <p:nvSpPr>
          <p:cNvPr id="154" name="Google Shape;154;p10"/>
          <p:cNvSpPr/>
          <p:nvPr/>
        </p:nvSpPr>
        <p:spPr>
          <a:xfrm>
            <a:off x="685800" y="2715768"/>
            <a:ext cx="7772400" cy="841248"/>
          </a:xfrm>
          <a:prstGeom prst="roundRect">
            <a:avLst>
              <a:gd fmla="val 12000" name="adj"/>
            </a:avLst>
          </a:prstGeom>
          <a:solidFill>
            <a:srgbClr val="F7F3EE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0"/>
          <p:cNvSpPr/>
          <p:nvPr/>
        </p:nvSpPr>
        <p:spPr>
          <a:xfrm>
            <a:off x="804672" y="2980944"/>
            <a:ext cx="310896" cy="310896"/>
          </a:xfrm>
          <a:prstGeom prst="ellipse">
            <a:avLst/>
          </a:prstGeom>
          <a:solidFill>
            <a:srgbClr val="E6945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/>
          </a:p>
        </p:txBody>
      </p:sp>
      <p:sp>
        <p:nvSpPr>
          <p:cNvPr id="156" name="Google Shape;156;p10"/>
          <p:cNvSpPr/>
          <p:nvPr/>
        </p:nvSpPr>
        <p:spPr>
          <a:xfrm>
            <a:off x="1234440" y="2761487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Modelo de ejecución</a:t>
            </a:r>
            <a:endParaRPr/>
          </a:p>
        </p:txBody>
      </p:sp>
      <p:sp>
        <p:nvSpPr>
          <p:cNvPr id="157" name="Google Shape;157;p10"/>
          <p:cNvSpPr/>
          <p:nvPr/>
        </p:nvSpPr>
        <p:spPr>
          <a:xfrm>
            <a:off x="1234440" y="3044951"/>
            <a:ext cx="2240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E6945A"/>
                </a:solidFill>
                <a:latin typeface="Poppins"/>
                <a:ea typeface="Poppins"/>
                <a:cs typeface="Poppins"/>
                <a:sym typeface="Poppins"/>
              </a:rPr>
              <a:t>¿Qué ocurre desde el código fuente hasta su ejecución?</a:t>
            </a:r>
            <a:endParaRPr/>
          </a:p>
        </p:txBody>
      </p:sp>
      <p:sp>
        <p:nvSpPr>
          <p:cNvPr id="158" name="Google Shape;158;p10"/>
          <p:cNvSpPr/>
          <p:nvPr/>
        </p:nvSpPr>
        <p:spPr>
          <a:xfrm>
            <a:off x="3520440" y="2761487"/>
            <a:ext cx="48463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2"/>
                </a:solidFill>
              </a:rPr>
              <a:t>Describe </a:t>
            </a:r>
            <a:r>
              <a:rPr b="1" lang="en-US" sz="1100">
                <a:solidFill>
                  <a:schemeClr val="dk2"/>
                </a:solidFill>
              </a:rPr>
              <a:t>el camino que sigue el código hasta poder ser ejecutado por la CPU</a:t>
            </a:r>
            <a:r>
              <a:rPr lang="en-US" sz="1100">
                <a:solidFill>
                  <a:schemeClr val="dk2"/>
                </a:solidFill>
              </a:rPr>
              <a:t>: puede traducirse antes de ejecutarse, procesarse durante la ejecución o combinar ambos enfoques. </a:t>
            </a:r>
            <a:endParaRPr/>
          </a:p>
        </p:txBody>
      </p:sp>
      <p:sp>
        <p:nvSpPr>
          <p:cNvPr id="159" name="Google Shape;159;p10"/>
          <p:cNvSpPr/>
          <p:nvPr/>
        </p:nvSpPr>
        <p:spPr>
          <a:xfrm>
            <a:off x="685800" y="3621024"/>
            <a:ext cx="7772400" cy="841248"/>
          </a:xfrm>
          <a:prstGeom prst="roundRect">
            <a:avLst>
              <a:gd fmla="val 12000" name="adj"/>
            </a:avLst>
          </a:prstGeom>
          <a:solidFill>
            <a:srgbClr val="F7F3EE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0"/>
          <p:cNvSpPr/>
          <p:nvPr/>
        </p:nvSpPr>
        <p:spPr>
          <a:xfrm>
            <a:off x="804672" y="3886200"/>
            <a:ext cx="310896" cy="310896"/>
          </a:xfrm>
          <a:prstGeom prst="ellipse">
            <a:avLst/>
          </a:prstGeom>
          <a:solidFill>
            <a:srgbClr val="E6945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/>
          </a:p>
        </p:txBody>
      </p:sp>
      <p:sp>
        <p:nvSpPr>
          <p:cNvPr id="161" name="Google Shape;161;p10"/>
          <p:cNvSpPr/>
          <p:nvPr/>
        </p:nvSpPr>
        <p:spPr>
          <a:xfrm>
            <a:off x="1234440" y="3666744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Paradigma</a:t>
            </a:r>
            <a:endParaRPr/>
          </a:p>
        </p:txBody>
      </p:sp>
      <p:sp>
        <p:nvSpPr>
          <p:cNvPr id="162" name="Google Shape;162;p10"/>
          <p:cNvSpPr/>
          <p:nvPr/>
        </p:nvSpPr>
        <p:spPr>
          <a:xfrm>
            <a:off x="1234440" y="3950208"/>
            <a:ext cx="2240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E6945A"/>
                </a:solidFill>
                <a:latin typeface="Poppins"/>
                <a:ea typeface="Poppins"/>
                <a:cs typeface="Poppins"/>
                <a:sym typeface="Poppins"/>
              </a:rPr>
              <a:t>¿Cómo se estructura y expresa la solución?</a:t>
            </a:r>
            <a:endParaRPr/>
          </a:p>
        </p:txBody>
      </p:sp>
      <p:sp>
        <p:nvSpPr>
          <p:cNvPr id="163" name="Google Shape;163;p10"/>
          <p:cNvSpPr/>
          <p:nvPr/>
        </p:nvSpPr>
        <p:spPr>
          <a:xfrm>
            <a:off x="3520440" y="3666744"/>
            <a:ext cx="48463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2"/>
                </a:solidFill>
              </a:rPr>
              <a:t>Describe </a:t>
            </a:r>
            <a:r>
              <a:rPr b="1" lang="en-US" sz="1100">
                <a:solidFill>
                  <a:schemeClr val="dk2"/>
                </a:solidFill>
              </a:rPr>
              <a:t>la forma de plantear y organizar un programa para resolver un problema</a:t>
            </a:r>
            <a:r>
              <a:rPr lang="en-US" sz="1100">
                <a:solidFill>
                  <a:schemeClr val="dk2"/>
                </a:solidFill>
              </a:rPr>
              <a:t>. Un lenguaje puede permitir distintas formas de hacerlo y, por tanto, admitir varios paradigmas.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h2a66104a94aeaf98_0_28"/>
          <p:cNvSpPr/>
          <p:nvPr/>
        </p:nvSpPr>
        <p:spPr>
          <a:xfrm>
            <a:off x="502920" y="347472"/>
            <a:ext cx="5029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449"/>
              </a:buClr>
              <a:buSzPts val="1050"/>
              <a:buFont typeface="Poppins Medium"/>
              <a:buNone/>
            </a:pPr>
            <a:r>
              <a:rPr b="0" i="0" lang="en-US" sz="1050" u="none" cap="none" strike="noStrike">
                <a:solidFill>
                  <a:srgbClr val="4A544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UT1 · EL DESARROLLO DE SOFTWARE Y SUS FASES</a:t>
            </a:r>
            <a:endParaRPr b="0" i="0" sz="105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9" name="Google Shape;169;h2a66104a94aeaf98_0_28"/>
          <p:cNvSpPr/>
          <p:nvPr/>
        </p:nvSpPr>
        <p:spPr>
          <a:xfrm>
            <a:off x="502920" y="566928"/>
            <a:ext cx="5760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b="1" lang="en-US" sz="10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Nivel de abstracción</a:t>
            </a:r>
            <a:endParaRPr b="1" sz="105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0" name="Google Shape;170;h2a66104a94aeaf98_0_28"/>
          <p:cNvSpPr/>
          <p:nvPr/>
        </p:nvSpPr>
        <p:spPr>
          <a:xfrm flipH="1">
            <a:off x="394875" y="950825"/>
            <a:ext cx="8562000" cy="3924600"/>
          </a:xfrm>
          <a:prstGeom prst="roundRect">
            <a:avLst>
              <a:gd fmla="val 2254" name="adj"/>
            </a:avLst>
          </a:prstGeom>
          <a:solidFill>
            <a:srgbClr val="FBF8F5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h2a66104a94aeaf98_0_28"/>
          <p:cNvSpPr/>
          <p:nvPr/>
        </p:nvSpPr>
        <p:spPr>
          <a:xfrm>
            <a:off x="1281150" y="1059575"/>
            <a:ext cx="6816000" cy="717900"/>
          </a:xfrm>
          <a:prstGeom prst="roundRect">
            <a:avLst>
              <a:gd fmla="val 12000" name="adj"/>
            </a:avLst>
          </a:prstGeom>
          <a:solidFill>
            <a:srgbClr val="F3F3F3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h2a66104a94aeaf98_0_28"/>
          <p:cNvSpPr/>
          <p:nvPr/>
        </p:nvSpPr>
        <p:spPr>
          <a:xfrm>
            <a:off x="57947" y="685869"/>
            <a:ext cx="310800" cy="310800"/>
          </a:xfrm>
          <a:prstGeom prst="ellipse">
            <a:avLst/>
          </a:prstGeom>
          <a:solidFill>
            <a:srgbClr val="E6945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/>
          </a:p>
        </p:txBody>
      </p:sp>
      <p:sp>
        <p:nvSpPr>
          <p:cNvPr id="173" name="Google Shape;173;h2a66104a94aeaf98_0_28"/>
          <p:cNvSpPr/>
          <p:nvPr/>
        </p:nvSpPr>
        <p:spPr>
          <a:xfrm>
            <a:off x="2068950" y="727275"/>
            <a:ext cx="42429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b="1" lang="en-US" sz="800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rPr>
              <a:t>¿Cuánto detalle del hardware maneja directamente el programador?</a:t>
            </a:r>
            <a:endParaRPr>
              <a:solidFill>
                <a:schemeClr val="dk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E6945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4" name="Google Shape;174;h2a66104a94aeaf98_0_28"/>
          <p:cNvSpPr/>
          <p:nvPr/>
        </p:nvSpPr>
        <p:spPr>
          <a:xfrm>
            <a:off x="1442600" y="1092698"/>
            <a:ext cx="6315600" cy="7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2"/>
                </a:solidFill>
              </a:rPr>
              <a:t>El </a:t>
            </a:r>
            <a:r>
              <a:rPr b="1" lang="en-US" sz="1100">
                <a:solidFill>
                  <a:schemeClr val="dk2"/>
                </a:solidFill>
              </a:rPr>
              <a:t>nivel de abstracción</a:t>
            </a:r>
            <a:r>
              <a:rPr lang="en-US" sz="1100">
                <a:solidFill>
                  <a:schemeClr val="dk2"/>
                </a:solidFill>
              </a:rPr>
              <a:t> indica cuánto detalle del funcionamiento interno del ordenador tiene que manejar directamente el programador. Cuanto mayor es la abstracción, más detalles de la máquina oculta el lenguaje y más podemos centrarnos en expresar el problema que queremos resolver. </a:t>
            </a:r>
            <a:endParaRPr sz="1000">
              <a:solidFill>
                <a:srgbClr val="6B726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5" name="Google Shape;175;h2a66104a94aeaf98_0_28"/>
          <p:cNvSpPr/>
          <p:nvPr/>
        </p:nvSpPr>
        <p:spPr>
          <a:xfrm>
            <a:off x="584600" y="1861150"/>
            <a:ext cx="2496600" cy="2811900"/>
          </a:xfrm>
          <a:prstGeom prst="roundRect">
            <a:avLst>
              <a:gd fmla="val 12000" name="adj"/>
            </a:avLst>
          </a:prstGeom>
          <a:solidFill>
            <a:srgbClr val="F7F3EE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h2a66104a94aeaf98_0_28"/>
          <p:cNvSpPr/>
          <p:nvPr/>
        </p:nvSpPr>
        <p:spPr>
          <a:xfrm>
            <a:off x="658675" y="2198750"/>
            <a:ext cx="2295000" cy="23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2"/>
                </a:solidFill>
              </a:rPr>
              <a:t>Los lenguajes de </a:t>
            </a:r>
            <a:r>
              <a:rPr b="1" lang="en-US" sz="1100">
                <a:solidFill>
                  <a:schemeClr val="dk2"/>
                </a:solidFill>
              </a:rPr>
              <a:t>bajo nivel</a:t>
            </a:r>
            <a:r>
              <a:rPr lang="en-US" sz="1100">
                <a:solidFill>
                  <a:schemeClr val="dk2"/>
                </a:solidFill>
              </a:rPr>
              <a:t> están muy próximos al funcionamiento del procesador y permiten trabajar de forma directa con instrucciones, registros, direcciones de memoria y otros recursos de la máquina. Dan mucho control sobre el hardware, pero obligan al programador a ocuparse de más detalles técnicos. </a:t>
            </a:r>
            <a:br>
              <a:rPr lang="en-US" sz="1100">
                <a:solidFill>
                  <a:schemeClr val="dk2"/>
                </a:solidFill>
              </a:rPr>
            </a:br>
            <a:br>
              <a:rPr lang="en-US" sz="1100">
                <a:solidFill>
                  <a:schemeClr val="dk2"/>
                </a:solidFill>
              </a:rPr>
            </a:br>
            <a:r>
              <a:rPr b="1" lang="en-US" sz="1100">
                <a:solidFill>
                  <a:schemeClr val="dk2"/>
                </a:solidFill>
              </a:rPr>
              <a:t>Ejemplo:</a:t>
            </a:r>
            <a:r>
              <a:rPr lang="en-US" sz="1100">
                <a:solidFill>
                  <a:schemeClr val="dk2"/>
                </a:solidFill>
              </a:rPr>
              <a:t> lenguaje ensamblador. </a:t>
            </a:r>
            <a:endParaRPr sz="1000">
              <a:solidFill>
                <a:srgbClr val="6B726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7" name="Google Shape;177;h2a66104a94aeaf98_0_28"/>
          <p:cNvSpPr/>
          <p:nvPr/>
        </p:nvSpPr>
        <p:spPr>
          <a:xfrm>
            <a:off x="712871" y="1953771"/>
            <a:ext cx="2212800" cy="2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Bajo nivel </a:t>
            </a:r>
            <a:endParaRPr/>
          </a:p>
        </p:txBody>
      </p:sp>
      <p:sp>
        <p:nvSpPr>
          <p:cNvPr id="178" name="Google Shape;178;h2a66104a94aeaf98_0_28"/>
          <p:cNvSpPr/>
          <p:nvPr/>
        </p:nvSpPr>
        <p:spPr>
          <a:xfrm>
            <a:off x="3213294" y="1861150"/>
            <a:ext cx="2496600" cy="2811900"/>
          </a:xfrm>
          <a:prstGeom prst="roundRect">
            <a:avLst>
              <a:gd fmla="val 12000" name="adj"/>
            </a:avLst>
          </a:prstGeom>
          <a:solidFill>
            <a:srgbClr val="F7F3EE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h2a66104a94aeaf98_0_28"/>
          <p:cNvSpPr/>
          <p:nvPr/>
        </p:nvSpPr>
        <p:spPr>
          <a:xfrm>
            <a:off x="3258250" y="2198750"/>
            <a:ext cx="2399100" cy="23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2"/>
                </a:solidFill>
              </a:rPr>
              <a:t>Los lenguajes de </a:t>
            </a:r>
            <a:r>
              <a:rPr b="1" lang="en-US" sz="1100">
                <a:solidFill>
                  <a:schemeClr val="dk2"/>
                </a:solidFill>
              </a:rPr>
              <a:t>alto nivel</a:t>
            </a:r>
            <a:r>
              <a:rPr lang="en-US" sz="1100">
                <a:solidFill>
                  <a:schemeClr val="dk2"/>
                </a:solidFill>
              </a:rPr>
              <a:t> ocultan gran parte de esos detalles y proporcionan estructuras más cómodas para expresar operaciones: variables, objetos, funciones, colecciones, excepciones, etc. Una instrucción escrita por el programador puede acabar implicando muchas operaciones internas de la máquina. </a:t>
            </a:r>
            <a:br>
              <a:rPr lang="en-US" sz="1100">
                <a:solidFill>
                  <a:schemeClr val="dk2"/>
                </a:solidFill>
              </a:rPr>
            </a:br>
            <a:br>
              <a:rPr lang="en-US" sz="1100">
                <a:solidFill>
                  <a:schemeClr val="dk2"/>
                </a:solidFill>
              </a:rPr>
            </a:br>
            <a:r>
              <a:rPr b="1" lang="en-US" sz="1100">
                <a:solidFill>
                  <a:schemeClr val="dk2"/>
                </a:solidFill>
              </a:rPr>
              <a:t>Ejemplos:</a:t>
            </a:r>
            <a:r>
              <a:rPr lang="en-US" sz="1100">
                <a:solidFill>
                  <a:schemeClr val="dk2"/>
                </a:solidFill>
              </a:rPr>
              <a:t> Java, Python, C#, Kotlin. </a:t>
            </a:r>
            <a:endParaRPr sz="1000">
              <a:solidFill>
                <a:srgbClr val="6B726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0" name="Google Shape;180;h2a66104a94aeaf98_0_28"/>
          <p:cNvSpPr/>
          <p:nvPr/>
        </p:nvSpPr>
        <p:spPr>
          <a:xfrm>
            <a:off x="3312446" y="1953771"/>
            <a:ext cx="2212800" cy="2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Alto nivel </a:t>
            </a:r>
            <a:endParaRPr/>
          </a:p>
        </p:txBody>
      </p:sp>
      <p:sp>
        <p:nvSpPr>
          <p:cNvPr id="181" name="Google Shape;181;h2a66104a94aeaf98_0_28"/>
          <p:cNvSpPr/>
          <p:nvPr/>
        </p:nvSpPr>
        <p:spPr>
          <a:xfrm>
            <a:off x="6003275" y="2537650"/>
            <a:ext cx="2751900" cy="1073400"/>
          </a:xfrm>
          <a:prstGeom prst="roundRect">
            <a:avLst>
              <a:gd fmla="val 12000" name="adj"/>
            </a:avLst>
          </a:prstGeom>
          <a:solidFill>
            <a:srgbClr val="F3F3F3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h2a66104a94aeaf98_0_28"/>
          <p:cNvSpPr/>
          <p:nvPr/>
        </p:nvSpPr>
        <p:spPr>
          <a:xfrm>
            <a:off x="6068450" y="2611096"/>
            <a:ext cx="2550000" cy="9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2"/>
                </a:solidFill>
              </a:rPr>
              <a:t>Alto o bajo nivel no significa mejor o peor, ni determina por sí solo el rendimiento.</a:t>
            </a:r>
            <a:r>
              <a:rPr lang="en-US" sz="1100">
                <a:solidFill>
                  <a:schemeClr val="dk2"/>
                </a:solidFill>
              </a:rPr>
              <a:t> Indica principalmente cuánto detalle de la máquina queda visible para el programador. </a:t>
            </a:r>
            <a:endParaRPr sz="1000">
              <a:solidFill>
                <a:srgbClr val="6B726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h2a66104a94aeaf98_0_68"/>
          <p:cNvSpPr/>
          <p:nvPr/>
        </p:nvSpPr>
        <p:spPr>
          <a:xfrm>
            <a:off x="502920" y="347472"/>
            <a:ext cx="5029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449"/>
              </a:buClr>
              <a:buSzPts val="1050"/>
              <a:buFont typeface="Poppins Medium"/>
              <a:buNone/>
            </a:pPr>
            <a:r>
              <a:rPr b="0" i="0" lang="en-US" sz="1050" u="none" cap="none" strike="noStrike">
                <a:solidFill>
                  <a:srgbClr val="4A544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UT1 · EL DESARROLLO DE SOFTWARE Y SUS FASES</a:t>
            </a:r>
            <a:endParaRPr b="0" i="0" sz="105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8" name="Google Shape;188;h2a66104a94aeaf98_0_68"/>
          <p:cNvSpPr/>
          <p:nvPr/>
        </p:nvSpPr>
        <p:spPr>
          <a:xfrm>
            <a:off x="502920" y="566928"/>
            <a:ext cx="5760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b="1" lang="en-US" sz="10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Modelo de ejecución</a:t>
            </a:r>
            <a:endParaRPr b="0" i="0" sz="2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9" name="Google Shape;189;h2a66104a94aeaf98_0_68"/>
          <p:cNvSpPr/>
          <p:nvPr/>
        </p:nvSpPr>
        <p:spPr>
          <a:xfrm flipH="1">
            <a:off x="394875" y="1016550"/>
            <a:ext cx="8562000" cy="3858900"/>
          </a:xfrm>
          <a:prstGeom prst="roundRect">
            <a:avLst>
              <a:gd fmla="val 2254" name="adj"/>
            </a:avLst>
          </a:prstGeom>
          <a:solidFill>
            <a:srgbClr val="FBF8F5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h2a66104a94aeaf98_0_68"/>
          <p:cNvSpPr/>
          <p:nvPr/>
        </p:nvSpPr>
        <p:spPr>
          <a:xfrm>
            <a:off x="685750" y="1168300"/>
            <a:ext cx="2469000" cy="3479700"/>
          </a:xfrm>
          <a:prstGeom prst="roundRect">
            <a:avLst>
              <a:gd fmla="val 12000" name="adj"/>
            </a:avLst>
          </a:prstGeom>
          <a:solidFill>
            <a:srgbClr val="F7F3EE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h2a66104a94aeaf98_0_68"/>
          <p:cNvSpPr/>
          <p:nvPr/>
        </p:nvSpPr>
        <p:spPr>
          <a:xfrm>
            <a:off x="759825" y="1588318"/>
            <a:ext cx="2212800" cy="28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n-US" sz="1000">
                <a:solidFill>
                  <a:schemeClr val="dk2"/>
                </a:solidFill>
              </a:rPr>
              <a:t>Compilar consiste en traducir el código fuente a otra representación antes de ejecutarlo.</a:t>
            </a:r>
            <a:r>
              <a:rPr lang="en-US" sz="1000">
                <a:solidFill>
                  <a:schemeClr val="dk2"/>
                </a:solidFill>
              </a:rPr>
              <a:t> El resultado puede ser directamente código máquina, como ocurre habitualmente con C, o un código intermedio, como el bytecode que genera Java.</a:t>
            </a:r>
            <a:endParaRPr sz="1000">
              <a:solidFill>
                <a:schemeClr val="dk2"/>
              </a:solidFill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000">
                <a:solidFill>
                  <a:schemeClr val="dk2"/>
                </a:solidFill>
              </a:rPr>
              <a:t>La compilación produce por tanto </a:t>
            </a:r>
            <a:r>
              <a:rPr b="1" lang="en-US" sz="1000">
                <a:solidFill>
                  <a:schemeClr val="dk2"/>
                </a:solidFill>
              </a:rPr>
              <a:t>un nuevo código a partir del código fuente</a:t>
            </a:r>
            <a:r>
              <a:rPr lang="en-US" sz="1000">
                <a:solidFill>
                  <a:schemeClr val="dk2"/>
                </a:solidFill>
              </a:rPr>
              <a:t>, que después será utilizado para ejecutar el programa.</a:t>
            </a:r>
            <a:endParaRPr sz="1000">
              <a:solidFill>
                <a:schemeClr val="dk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6B726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2" name="Google Shape;192;h2a66104a94aeaf98_0_68"/>
          <p:cNvSpPr/>
          <p:nvPr/>
        </p:nvSpPr>
        <p:spPr>
          <a:xfrm>
            <a:off x="3337500" y="1168300"/>
            <a:ext cx="2525100" cy="3479700"/>
          </a:xfrm>
          <a:prstGeom prst="roundRect">
            <a:avLst>
              <a:gd fmla="val 12000" name="adj"/>
            </a:avLst>
          </a:prstGeom>
          <a:solidFill>
            <a:srgbClr val="F7F3EE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h2a66104a94aeaf98_0_68"/>
          <p:cNvSpPr/>
          <p:nvPr/>
        </p:nvSpPr>
        <p:spPr>
          <a:xfrm>
            <a:off x="3435350" y="1588325"/>
            <a:ext cx="2384700" cy="28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n-US" sz="1000">
                <a:solidFill>
                  <a:schemeClr val="dk2"/>
                </a:solidFill>
              </a:rPr>
              <a:t>Interpretar consiste en procesar el código mientras el programa se está ejecutando.</a:t>
            </a:r>
            <a:r>
              <a:rPr lang="en-US" sz="1000">
                <a:solidFill>
                  <a:schemeClr val="dk2"/>
                </a:solidFill>
              </a:rPr>
              <a:t> Un intérprete o runtime va leyendo las instrucciones y realizando las operaciones correspondientes, sin necesitar generar previamente un ejecutable nativo independiente.</a:t>
            </a:r>
            <a:endParaRPr sz="1000">
              <a:solidFill>
                <a:schemeClr val="dk2"/>
              </a:solidFill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000">
                <a:solidFill>
                  <a:schemeClr val="dk2"/>
                </a:solidFill>
              </a:rPr>
              <a:t>El intérprete también es un programa y, en último término, </a:t>
            </a:r>
            <a:r>
              <a:rPr b="1" lang="en-US" sz="1000">
                <a:solidFill>
                  <a:schemeClr val="dk2"/>
                </a:solidFill>
              </a:rPr>
              <a:t>la CPU sigue ejecutando código máquina</a:t>
            </a:r>
            <a:r>
              <a:rPr lang="en-US" sz="1000">
                <a:solidFill>
                  <a:schemeClr val="dk2"/>
                </a:solidFill>
              </a:rPr>
              <a:t>; simplemente hay una capa intermedia que se encarga de procesar el código del programa.</a:t>
            </a:r>
            <a:endParaRPr sz="1000">
              <a:solidFill>
                <a:schemeClr val="dk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6B726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4" name="Google Shape;194;h2a66104a94aeaf98_0_68"/>
          <p:cNvSpPr/>
          <p:nvPr/>
        </p:nvSpPr>
        <p:spPr>
          <a:xfrm>
            <a:off x="6045350" y="2202575"/>
            <a:ext cx="2800200" cy="1653900"/>
          </a:xfrm>
          <a:prstGeom prst="roundRect">
            <a:avLst>
              <a:gd fmla="val 12000" name="adj"/>
            </a:avLst>
          </a:prstGeom>
          <a:solidFill>
            <a:srgbClr val="F3F3F3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h2a66104a94aeaf98_0_68"/>
          <p:cNvSpPr/>
          <p:nvPr/>
        </p:nvSpPr>
        <p:spPr>
          <a:xfrm>
            <a:off x="814021" y="1283530"/>
            <a:ext cx="2212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Compilar </a:t>
            </a:r>
            <a:endParaRPr/>
          </a:p>
        </p:txBody>
      </p:sp>
      <p:sp>
        <p:nvSpPr>
          <p:cNvPr id="196" name="Google Shape;196;h2a66104a94aeaf98_0_68"/>
          <p:cNvSpPr/>
          <p:nvPr/>
        </p:nvSpPr>
        <p:spPr>
          <a:xfrm>
            <a:off x="3465781" y="1283530"/>
            <a:ext cx="2212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Interpretar </a:t>
            </a:r>
            <a:endParaRPr/>
          </a:p>
        </p:txBody>
      </p:sp>
      <p:sp>
        <p:nvSpPr>
          <p:cNvPr id="197" name="Google Shape;197;h2a66104a94aeaf98_0_68"/>
          <p:cNvSpPr/>
          <p:nvPr/>
        </p:nvSpPr>
        <p:spPr>
          <a:xfrm>
            <a:off x="6227475" y="2400071"/>
            <a:ext cx="2212800" cy="13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2"/>
                </a:solidFill>
              </a:rPr>
              <a:t>Compilar e interpretar no son necesariamente excluyentes: un mismo entorno puede utilizar ambas técnicas. Java, por ejemplo, compila primero a bytecode y después la JVM puede interpretarlo o compilarlo a código máquina durante la ejecución. </a:t>
            </a:r>
            <a:endParaRPr sz="1000">
              <a:solidFill>
                <a:srgbClr val="6B726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8" name="Google Shape;198;h2a66104a94aeaf98_0_68"/>
          <p:cNvSpPr/>
          <p:nvPr/>
        </p:nvSpPr>
        <p:spPr>
          <a:xfrm>
            <a:off x="57947" y="685869"/>
            <a:ext cx="310800" cy="310800"/>
          </a:xfrm>
          <a:prstGeom prst="ellipse">
            <a:avLst/>
          </a:prstGeom>
          <a:solidFill>
            <a:srgbClr val="E6945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/>
          </a:p>
        </p:txBody>
      </p:sp>
      <p:sp>
        <p:nvSpPr>
          <p:cNvPr id="199" name="Google Shape;199;h2a66104a94aeaf98_0_68"/>
          <p:cNvSpPr/>
          <p:nvPr/>
        </p:nvSpPr>
        <p:spPr>
          <a:xfrm>
            <a:off x="2068950" y="727275"/>
            <a:ext cx="3657900" cy="2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E6945A"/>
                </a:solidFill>
                <a:latin typeface="Poppins"/>
                <a:ea typeface="Poppins"/>
                <a:cs typeface="Poppins"/>
                <a:sym typeface="Poppins"/>
              </a:rPr>
              <a:t>¿Qué ocurre desde el código fuente hasta su ejecución?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9"/>
          <p:cNvSpPr/>
          <p:nvPr/>
        </p:nvSpPr>
        <p:spPr>
          <a:xfrm>
            <a:off x="502920" y="34747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449"/>
              </a:buClr>
              <a:buSzPts val="1050"/>
              <a:buFont typeface="Poppins Medium"/>
              <a:buNone/>
            </a:pPr>
            <a:r>
              <a:rPr b="0" i="0" lang="en-US" sz="1050" u="none" cap="none" strike="noStrike">
                <a:solidFill>
                  <a:srgbClr val="4A544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UT1 · EL DESARROLLO DE SOFTWARE Y SUS FASES</a:t>
            </a:r>
            <a:endParaRPr b="0" i="0" sz="105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5" name="Google Shape;205;p9"/>
          <p:cNvSpPr/>
          <p:nvPr/>
        </p:nvSpPr>
        <p:spPr>
          <a:xfrm flipH="1">
            <a:off x="394825" y="1081650"/>
            <a:ext cx="8637900" cy="3662400"/>
          </a:xfrm>
          <a:prstGeom prst="roundRect">
            <a:avLst>
              <a:gd fmla="val 2254" name="adj"/>
            </a:avLst>
          </a:prstGeom>
          <a:solidFill>
            <a:srgbClr val="FBF8F5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9"/>
          <p:cNvSpPr/>
          <p:nvPr/>
        </p:nvSpPr>
        <p:spPr>
          <a:xfrm>
            <a:off x="685805" y="1176560"/>
            <a:ext cx="7772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La CPU solo ejecuta código máquina. Lo que cambia es el camino desde el código fuente y cuándo se traduce.</a:t>
            </a:r>
            <a:endParaRPr/>
          </a:p>
        </p:txBody>
      </p:sp>
      <p:sp>
        <p:nvSpPr>
          <p:cNvPr id="207" name="Google Shape;207;p9"/>
          <p:cNvSpPr/>
          <p:nvPr/>
        </p:nvSpPr>
        <p:spPr>
          <a:xfrm>
            <a:off x="685750" y="1431275"/>
            <a:ext cx="2469000" cy="3216600"/>
          </a:xfrm>
          <a:prstGeom prst="roundRect">
            <a:avLst>
              <a:gd fmla="val 12000" name="adj"/>
            </a:avLst>
          </a:prstGeom>
          <a:solidFill>
            <a:srgbClr val="F7F3EE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9"/>
          <p:cNvSpPr/>
          <p:nvPr/>
        </p:nvSpPr>
        <p:spPr>
          <a:xfrm>
            <a:off x="814024" y="1890957"/>
            <a:ext cx="2392800" cy="6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1) </a:t>
            </a:r>
            <a:r>
              <a:rPr b="1" lang="en-US" sz="800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Código fuente</a:t>
            </a:r>
            <a:br>
              <a:rPr b="1" lang="en-US" sz="800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b="1" lang="en-US" sz="800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2) Se traduce a código máquina (compila al lenguaje de la plataforma)</a:t>
            </a:r>
            <a:br>
              <a:rPr b="1" lang="en-US" sz="800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b="1" lang="en-US" sz="800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3) Se ejecuta</a:t>
            </a:r>
            <a:endParaRPr sz="800"/>
          </a:p>
        </p:txBody>
      </p:sp>
      <p:sp>
        <p:nvSpPr>
          <p:cNvPr id="209" name="Google Shape;209;p9"/>
          <p:cNvSpPr/>
          <p:nvPr/>
        </p:nvSpPr>
        <p:spPr>
          <a:xfrm>
            <a:off x="814033" y="2521412"/>
            <a:ext cx="2212800" cy="18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El código fuente se traduce antes de ejecutarse a código máquina de una plataforma concreta: un ejecutable nativo que el sistema operativo carga y la CPU ejecuta.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50" u="none" cap="none" strike="noStrike">
              <a:solidFill>
                <a:srgbClr val="6B726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Rendimiento muy alto; una versión por plataforma.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50" u="none" cap="none" strike="noStrike">
              <a:solidFill>
                <a:srgbClr val="6B726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C, C++, Rust</a:t>
            </a:r>
            <a:endParaRPr/>
          </a:p>
        </p:txBody>
      </p:sp>
      <p:sp>
        <p:nvSpPr>
          <p:cNvPr id="210" name="Google Shape;210;p9"/>
          <p:cNvSpPr/>
          <p:nvPr/>
        </p:nvSpPr>
        <p:spPr>
          <a:xfrm>
            <a:off x="3337500" y="1431275"/>
            <a:ext cx="2525100" cy="3216600"/>
          </a:xfrm>
          <a:prstGeom prst="roundRect">
            <a:avLst>
              <a:gd fmla="val 12000" name="adj"/>
            </a:avLst>
          </a:prstGeom>
          <a:solidFill>
            <a:srgbClr val="F7F3EE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9"/>
          <p:cNvSpPr/>
          <p:nvPr/>
        </p:nvSpPr>
        <p:spPr>
          <a:xfrm>
            <a:off x="3465706" y="2521412"/>
            <a:ext cx="2212800" cy="18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El código se ejecuta mediante un intérprete o runtime, sin generar </a:t>
            </a:r>
            <a:r>
              <a:rPr lang="en-US" sz="850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para ello </a:t>
            </a:r>
            <a:r>
              <a:rPr b="0" i="0" lang="en-US" sz="85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un ejecutable nativo independiente.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50" u="none" cap="none" strike="noStrike">
              <a:solidFill>
                <a:srgbClr val="6B726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Permite un ciclo rápido de editar y ejecutar, pero necesita disponer del intérprete o runtime correspondiente.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50" u="none" cap="none" strike="noStrike">
              <a:solidFill>
                <a:srgbClr val="6B726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Python, Bash</a:t>
            </a:r>
            <a:endParaRPr/>
          </a:p>
        </p:txBody>
      </p:sp>
      <p:sp>
        <p:nvSpPr>
          <p:cNvPr id="212" name="Google Shape;212;p9"/>
          <p:cNvSpPr/>
          <p:nvPr/>
        </p:nvSpPr>
        <p:spPr>
          <a:xfrm>
            <a:off x="6045350" y="1431275"/>
            <a:ext cx="2800200" cy="3216600"/>
          </a:xfrm>
          <a:prstGeom prst="roundRect">
            <a:avLst>
              <a:gd fmla="val 12000" name="adj"/>
            </a:avLst>
          </a:prstGeom>
          <a:solidFill>
            <a:srgbClr val="F7F3EE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9"/>
          <p:cNvSpPr/>
          <p:nvPr/>
        </p:nvSpPr>
        <p:spPr>
          <a:xfrm>
            <a:off x="6195604" y="2767787"/>
            <a:ext cx="2212800" cy="18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-US" sz="700">
                <a:solidFill>
                  <a:schemeClr val="dk2"/>
                </a:solidFill>
              </a:rPr>
              <a:t>El código fuente se traduce primero a un código intermedio</a:t>
            </a:r>
            <a:r>
              <a:rPr lang="en-US" sz="700">
                <a:solidFill>
                  <a:schemeClr val="dk2"/>
                </a:solidFill>
              </a:rPr>
              <a:t>, tras compilar, como el bytecode de Java. Ese código todavía no pertenece a una CPU concreta.</a:t>
            </a:r>
            <a:br>
              <a:rPr lang="en-US" sz="700">
                <a:solidFill>
                  <a:schemeClr val="dk2"/>
                </a:solidFill>
              </a:rPr>
            </a:br>
            <a:r>
              <a:rPr lang="en-US" sz="700">
                <a:solidFill>
                  <a:schemeClr val="dk2"/>
                </a:solidFill>
              </a:rPr>
              <a:t> Después, una </a:t>
            </a:r>
            <a:r>
              <a:rPr b="1" lang="en-US" sz="700">
                <a:solidFill>
                  <a:schemeClr val="dk2"/>
                </a:solidFill>
              </a:rPr>
              <a:t>máquina virtual </a:t>
            </a:r>
            <a:r>
              <a:rPr lang="en-US" sz="700">
                <a:solidFill>
                  <a:schemeClr val="dk2"/>
                </a:solidFill>
              </a:rPr>
              <a:t>se encarga de ejecutarlo en cada sistema, interpretándolo o transformándolo a código máquina cuando sea necesario.</a:t>
            </a:r>
            <a:endParaRPr sz="7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 sz="700">
                <a:solidFill>
                  <a:schemeClr val="dk2"/>
                </a:solidFill>
              </a:rPr>
              <a:t>Gracias a esto, </a:t>
            </a:r>
            <a:r>
              <a:rPr b="1" lang="en-US" sz="700">
                <a:solidFill>
                  <a:schemeClr val="dk2"/>
                </a:solidFill>
              </a:rPr>
              <a:t>el mismo código intermedio puede utilizarse en distintas plataformas</a:t>
            </a:r>
            <a:r>
              <a:rPr lang="en-US" sz="700">
                <a:solidFill>
                  <a:schemeClr val="dk2"/>
                </a:solidFill>
              </a:rPr>
              <a:t> siempre que exista una máquina virtual o runtime compatible.</a:t>
            </a:r>
            <a:endParaRPr sz="7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-US" sz="700">
                <a:solidFill>
                  <a:schemeClr val="dk2"/>
                </a:solidFill>
              </a:rPr>
              <a:t>Ejemplos:</a:t>
            </a:r>
            <a:r>
              <a:rPr lang="en-US" sz="700">
                <a:solidFill>
                  <a:schemeClr val="dk2"/>
                </a:solidFill>
              </a:rPr>
              <a:t> Java/JVM, Kotlin/JVM, C#/.NET.</a:t>
            </a:r>
            <a:endParaRPr sz="700">
              <a:solidFill>
                <a:schemeClr val="dk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450">
              <a:solidFill>
                <a:srgbClr val="6B726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4" name="Google Shape;214;p9"/>
          <p:cNvSpPr/>
          <p:nvPr/>
        </p:nvSpPr>
        <p:spPr>
          <a:xfrm>
            <a:off x="3465801" y="1951058"/>
            <a:ext cx="24468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1) Código fuente </a:t>
            </a:r>
            <a:br>
              <a:rPr b="1" lang="en-US" sz="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b="1" lang="en-US" sz="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2) Intérprete lo procesa durante la ejecución</a:t>
            </a:r>
            <a:br>
              <a:rPr b="1" lang="en-US" sz="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b="1" lang="en-US" sz="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3) </a:t>
            </a:r>
            <a:r>
              <a:rPr b="1" lang="en-US" sz="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 ejecuta</a:t>
            </a:r>
            <a:endParaRPr sz="800"/>
          </a:p>
        </p:txBody>
      </p:sp>
      <p:sp>
        <p:nvSpPr>
          <p:cNvPr id="215" name="Google Shape;215;p9"/>
          <p:cNvSpPr/>
          <p:nvPr/>
        </p:nvSpPr>
        <p:spPr>
          <a:xfrm>
            <a:off x="6171575" y="1847125"/>
            <a:ext cx="2446800" cy="6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1) Código fuente (.java)</a:t>
            </a:r>
            <a:br>
              <a:rPr b="1" lang="en-US" sz="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b="1" lang="en-US" sz="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2) Traducción a código intermedio (compila </a:t>
            </a:r>
            <a:r>
              <a:rPr b="1" lang="en-US" sz="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-traduce-</a:t>
            </a:r>
            <a:r>
              <a:rPr b="1" lang="en-US" sz="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 bytecode, genera archivo.class )</a:t>
            </a:r>
            <a:br>
              <a:rPr b="1" lang="en-US" sz="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b="1" lang="en-US" sz="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3) Máquina virtual lo lee interpreta o transforma a código máquina según lo que se quiera hacer</a:t>
            </a:r>
            <a:br>
              <a:rPr b="1" lang="en-US" sz="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b="1" lang="en-US" sz="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4) </a:t>
            </a:r>
            <a:r>
              <a:rPr b="1" lang="en-US" sz="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 ejecuta</a:t>
            </a:r>
            <a:br>
              <a:rPr b="1" lang="en-US" sz="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sz="800"/>
          </a:p>
        </p:txBody>
      </p:sp>
      <p:sp>
        <p:nvSpPr>
          <p:cNvPr id="216" name="Google Shape;216;p9"/>
          <p:cNvSpPr/>
          <p:nvPr/>
        </p:nvSpPr>
        <p:spPr>
          <a:xfrm>
            <a:off x="813946" y="1563793"/>
            <a:ext cx="2212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Compilación nativa</a:t>
            </a:r>
            <a:endParaRPr/>
          </a:p>
        </p:txBody>
      </p:sp>
      <p:sp>
        <p:nvSpPr>
          <p:cNvPr id="217" name="Google Shape;217;p9"/>
          <p:cNvSpPr/>
          <p:nvPr/>
        </p:nvSpPr>
        <p:spPr>
          <a:xfrm>
            <a:off x="3465706" y="1563793"/>
            <a:ext cx="2212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Interpretación</a:t>
            </a:r>
            <a:endParaRPr/>
          </a:p>
        </p:txBody>
      </p:sp>
      <p:sp>
        <p:nvSpPr>
          <p:cNvPr id="218" name="Google Shape;218;p9"/>
          <p:cNvSpPr/>
          <p:nvPr/>
        </p:nvSpPr>
        <p:spPr>
          <a:xfrm>
            <a:off x="6170325" y="1542325"/>
            <a:ext cx="2634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Código intermedio </a:t>
            </a:r>
            <a:r>
              <a:rPr b="1" lang="en-US" sz="1050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+ máquina virtual</a:t>
            </a:r>
            <a:endParaRPr/>
          </a:p>
        </p:txBody>
      </p:sp>
      <p:sp>
        <p:nvSpPr>
          <p:cNvPr id="219" name="Google Shape;219;p9"/>
          <p:cNvSpPr/>
          <p:nvPr/>
        </p:nvSpPr>
        <p:spPr>
          <a:xfrm>
            <a:off x="502920" y="566928"/>
            <a:ext cx="5760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b="1" lang="en-US" sz="10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Modelo de ejecución</a:t>
            </a:r>
            <a:endParaRPr b="0" i="0" sz="2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0" name="Google Shape;220;p9"/>
          <p:cNvSpPr/>
          <p:nvPr/>
        </p:nvSpPr>
        <p:spPr>
          <a:xfrm>
            <a:off x="57947" y="685869"/>
            <a:ext cx="310800" cy="310800"/>
          </a:xfrm>
          <a:prstGeom prst="ellipse">
            <a:avLst/>
          </a:prstGeom>
          <a:solidFill>
            <a:srgbClr val="E6945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/>
          </a:p>
        </p:txBody>
      </p:sp>
      <p:sp>
        <p:nvSpPr>
          <p:cNvPr id="221" name="Google Shape;221;p9"/>
          <p:cNvSpPr/>
          <p:nvPr/>
        </p:nvSpPr>
        <p:spPr>
          <a:xfrm>
            <a:off x="2068950" y="727275"/>
            <a:ext cx="3657900" cy="2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E6945A"/>
                </a:solidFill>
                <a:latin typeface="Poppins"/>
                <a:ea typeface="Poppins"/>
                <a:cs typeface="Poppins"/>
                <a:sym typeface="Poppins"/>
              </a:rPr>
              <a:t>¿Qué ocurre desde el código fuente hasta su ejecución?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h2a66104a94aeaf98_0_100"/>
          <p:cNvSpPr/>
          <p:nvPr/>
        </p:nvSpPr>
        <p:spPr>
          <a:xfrm>
            <a:off x="502920" y="347472"/>
            <a:ext cx="5029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449"/>
              </a:buClr>
              <a:buSzPts val="1050"/>
              <a:buFont typeface="Poppins Medium"/>
              <a:buNone/>
            </a:pPr>
            <a:r>
              <a:rPr b="0" i="0" lang="en-US" sz="1050" u="none" cap="none" strike="noStrike">
                <a:solidFill>
                  <a:srgbClr val="4A544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UT1 · EL DESARROLLO DE SOFTWARE Y SUS FASES</a:t>
            </a:r>
            <a:endParaRPr b="0" i="0" sz="105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7" name="Google Shape;227;h2a66104a94aeaf98_0_100"/>
          <p:cNvSpPr/>
          <p:nvPr/>
        </p:nvSpPr>
        <p:spPr>
          <a:xfrm>
            <a:off x="502920" y="566928"/>
            <a:ext cx="5760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b="1" lang="en-US" sz="10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Paradigma</a:t>
            </a:r>
            <a:endParaRPr b="1" sz="105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8" name="Google Shape;228;h2a66104a94aeaf98_0_100"/>
          <p:cNvSpPr/>
          <p:nvPr/>
        </p:nvSpPr>
        <p:spPr>
          <a:xfrm flipH="1">
            <a:off x="394875" y="950825"/>
            <a:ext cx="8562000" cy="3924600"/>
          </a:xfrm>
          <a:prstGeom prst="roundRect">
            <a:avLst>
              <a:gd fmla="val 2254" name="adj"/>
            </a:avLst>
          </a:prstGeom>
          <a:solidFill>
            <a:srgbClr val="FBF8F5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h2a66104a94aeaf98_0_100"/>
          <p:cNvSpPr/>
          <p:nvPr/>
        </p:nvSpPr>
        <p:spPr>
          <a:xfrm>
            <a:off x="1281150" y="1059575"/>
            <a:ext cx="6816000" cy="717900"/>
          </a:xfrm>
          <a:prstGeom prst="roundRect">
            <a:avLst>
              <a:gd fmla="val 12000" name="adj"/>
            </a:avLst>
          </a:prstGeom>
          <a:solidFill>
            <a:srgbClr val="F3F3F3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h2a66104a94aeaf98_0_100"/>
          <p:cNvSpPr/>
          <p:nvPr/>
        </p:nvSpPr>
        <p:spPr>
          <a:xfrm>
            <a:off x="57947" y="685869"/>
            <a:ext cx="310800" cy="310800"/>
          </a:xfrm>
          <a:prstGeom prst="ellipse">
            <a:avLst/>
          </a:prstGeom>
          <a:solidFill>
            <a:srgbClr val="E6945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/>
          </a:p>
        </p:txBody>
      </p:sp>
      <p:sp>
        <p:nvSpPr>
          <p:cNvPr id="231" name="Google Shape;231;h2a66104a94aeaf98_0_100"/>
          <p:cNvSpPr/>
          <p:nvPr/>
        </p:nvSpPr>
        <p:spPr>
          <a:xfrm>
            <a:off x="2068950" y="727275"/>
            <a:ext cx="42429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b="1" lang="en-US" sz="800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rPr>
              <a:t>¿Cómo se estructura y expresa la solución?</a:t>
            </a:r>
            <a:endParaRPr>
              <a:solidFill>
                <a:schemeClr val="dk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chemeClr val="accent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2" name="Google Shape;232;h2a66104a94aeaf98_0_100"/>
          <p:cNvSpPr/>
          <p:nvPr/>
        </p:nvSpPr>
        <p:spPr>
          <a:xfrm>
            <a:off x="1442600" y="1092698"/>
            <a:ext cx="6315600" cy="7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2"/>
                </a:solidFill>
              </a:rPr>
              <a:t>Un </a:t>
            </a:r>
            <a:r>
              <a:rPr b="1" lang="en-US" sz="1100">
                <a:solidFill>
                  <a:schemeClr val="dk2"/>
                </a:solidFill>
              </a:rPr>
              <a:t>paradigma de programación</a:t>
            </a:r>
            <a:r>
              <a:rPr lang="en-US" sz="1100">
                <a:solidFill>
                  <a:schemeClr val="dk2"/>
                </a:solidFill>
              </a:rPr>
              <a:t> es una forma de organizar y plantear el código para resolver un problema. No indica qué hace el programa ni cómo llega hasta la CPU, sino </a:t>
            </a:r>
            <a:r>
              <a:rPr b="1" lang="en-US" sz="1100">
                <a:solidFill>
                  <a:schemeClr val="dk2"/>
                </a:solidFill>
              </a:rPr>
              <a:t>cómo expresa el programador la solución</a:t>
            </a:r>
            <a:r>
              <a:rPr lang="en-US" sz="1100">
                <a:solidFill>
                  <a:schemeClr val="dk2"/>
                </a:solidFill>
              </a:rPr>
              <a:t>. </a:t>
            </a:r>
            <a:endParaRPr sz="1000">
              <a:solidFill>
                <a:srgbClr val="6B726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3" name="Google Shape;233;h2a66104a94aeaf98_0_100"/>
          <p:cNvSpPr/>
          <p:nvPr/>
        </p:nvSpPr>
        <p:spPr>
          <a:xfrm>
            <a:off x="584600" y="1861150"/>
            <a:ext cx="2496600" cy="2811900"/>
          </a:xfrm>
          <a:prstGeom prst="roundRect">
            <a:avLst>
              <a:gd fmla="val 12000" name="adj"/>
            </a:avLst>
          </a:prstGeom>
          <a:solidFill>
            <a:srgbClr val="F7F3EE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h2a66104a94aeaf98_0_100"/>
          <p:cNvSpPr/>
          <p:nvPr/>
        </p:nvSpPr>
        <p:spPr>
          <a:xfrm>
            <a:off x="658675" y="2198750"/>
            <a:ext cx="2295000" cy="23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2"/>
                </a:solidFill>
              </a:rPr>
              <a:t>En la programación </a:t>
            </a:r>
            <a:r>
              <a:rPr b="1" lang="en-US" sz="1100">
                <a:solidFill>
                  <a:schemeClr val="dk2"/>
                </a:solidFill>
              </a:rPr>
              <a:t>imperativa</a:t>
            </a:r>
            <a:r>
              <a:rPr lang="en-US" sz="1100">
                <a:solidFill>
                  <a:schemeClr val="dk2"/>
                </a:solidFill>
              </a:rPr>
              <a:t> describimos una secuencia de instrucciones que modifican el estado del programa: asignaciones, condiciones, bucles y llamadas a funciones. </a:t>
            </a:r>
            <a:endParaRPr sz="1100">
              <a:solidFill>
                <a:schemeClr val="dk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2"/>
                </a:solidFill>
              </a:rPr>
              <a:t>«Haz esto, después esto y después esto». 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235" name="Google Shape;235;h2a66104a94aeaf98_0_100"/>
          <p:cNvSpPr/>
          <p:nvPr/>
        </p:nvSpPr>
        <p:spPr>
          <a:xfrm>
            <a:off x="712871" y="1953771"/>
            <a:ext cx="2212800" cy="2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Imperativo / estructurado </a:t>
            </a:r>
            <a:endParaRPr/>
          </a:p>
        </p:txBody>
      </p:sp>
      <p:sp>
        <p:nvSpPr>
          <p:cNvPr id="236" name="Google Shape;236;h2a66104a94aeaf98_0_100"/>
          <p:cNvSpPr/>
          <p:nvPr/>
        </p:nvSpPr>
        <p:spPr>
          <a:xfrm>
            <a:off x="3213294" y="1861150"/>
            <a:ext cx="2496600" cy="2811900"/>
          </a:xfrm>
          <a:prstGeom prst="roundRect">
            <a:avLst>
              <a:gd fmla="val 12000" name="adj"/>
            </a:avLst>
          </a:prstGeom>
          <a:solidFill>
            <a:srgbClr val="F7F3EE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h2a66104a94aeaf98_0_100"/>
          <p:cNvSpPr/>
          <p:nvPr/>
        </p:nvSpPr>
        <p:spPr>
          <a:xfrm>
            <a:off x="3258250" y="2198750"/>
            <a:ext cx="2399100" cy="23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2"/>
                </a:solidFill>
              </a:rPr>
              <a:t>En la programación </a:t>
            </a:r>
            <a:r>
              <a:rPr b="1" lang="en-US" sz="1100">
                <a:solidFill>
                  <a:schemeClr val="dk2"/>
                </a:solidFill>
              </a:rPr>
              <a:t>orientada a objetos</a:t>
            </a:r>
            <a:r>
              <a:rPr lang="en-US" sz="1100">
                <a:solidFill>
                  <a:schemeClr val="dk2"/>
                </a:solidFill>
              </a:rPr>
              <a:t> organizamos el programa alrededor de objetos que representan elementos del problema y agrupan </a:t>
            </a:r>
            <a:r>
              <a:rPr b="1" lang="en-US" sz="1100">
                <a:solidFill>
                  <a:schemeClr val="dk2"/>
                </a:solidFill>
              </a:rPr>
              <a:t>datos y comportamiento</a:t>
            </a:r>
            <a:r>
              <a:rPr lang="en-US" sz="1100">
                <a:solidFill>
                  <a:schemeClr val="dk2"/>
                </a:solidFill>
              </a:rPr>
              <a:t>. Los objetos se crean normalmente a partir de clases y colaboran entre ellos para realizar las tareas de la aplicación. </a:t>
            </a:r>
            <a:endParaRPr sz="1100">
              <a:solidFill>
                <a:schemeClr val="dk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2"/>
                </a:solidFill>
              </a:rPr>
              <a:t>Java se utiliza habitualmente con programación orientada a objetos</a:t>
            </a:r>
            <a:r>
              <a:rPr lang="en-US" sz="1100">
                <a:solidFill>
                  <a:schemeClr val="dk2"/>
                </a:solidFill>
              </a:rPr>
              <a:t>, aunque también permite utilizar otros estilos. 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238" name="Google Shape;238;h2a66104a94aeaf98_0_100"/>
          <p:cNvSpPr/>
          <p:nvPr/>
        </p:nvSpPr>
        <p:spPr>
          <a:xfrm>
            <a:off x="3312446" y="1953771"/>
            <a:ext cx="2212800" cy="2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Orientado a objetos </a:t>
            </a:r>
            <a:endParaRPr/>
          </a:p>
        </p:txBody>
      </p:sp>
      <p:sp>
        <p:nvSpPr>
          <p:cNvPr id="239" name="Google Shape;239;h2a66104a94aeaf98_0_100"/>
          <p:cNvSpPr/>
          <p:nvPr/>
        </p:nvSpPr>
        <p:spPr>
          <a:xfrm>
            <a:off x="5969519" y="1861150"/>
            <a:ext cx="2496600" cy="2811900"/>
          </a:xfrm>
          <a:prstGeom prst="roundRect">
            <a:avLst>
              <a:gd fmla="val 12000" name="adj"/>
            </a:avLst>
          </a:prstGeom>
          <a:solidFill>
            <a:srgbClr val="F7F3EE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h2a66104a94aeaf98_0_100"/>
          <p:cNvSpPr/>
          <p:nvPr/>
        </p:nvSpPr>
        <p:spPr>
          <a:xfrm>
            <a:off x="6014475" y="2198750"/>
            <a:ext cx="2399100" cy="23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2"/>
                </a:solidFill>
              </a:rPr>
              <a:t>En la programación </a:t>
            </a:r>
            <a:r>
              <a:rPr b="1" lang="en-US" sz="1100">
                <a:solidFill>
                  <a:schemeClr val="dk2"/>
                </a:solidFill>
              </a:rPr>
              <a:t>funcional</a:t>
            </a:r>
            <a:r>
              <a:rPr lang="en-US" sz="1100">
                <a:solidFill>
                  <a:schemeClr val="dk2"/>
                </a:solidFill>
              </a:rPr>
              <a:t> la solución se expresa principalmente mediante transformaciones de datos. Se intenta evitar modificar continuamente el estado y se favorece obtener nuevos valores a partir de otros. </a:t>
            </a:r>
            <a:endParaRPr sz="1000">
              <a:solidFill>
                <a:srgbClr val="6B726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1" name="Google Shape;241;h2a66104a94aeaf98_0_100"/>
          <p:cNvSpPr/>
          <p:nvPr/>
        </p:nvSpPr>
        <p:spPr>
          <a:xfrm>
            <a:off x="6068671" y="1953771"/>
            <a:ext cx="2212800" cy="2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Funcional 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h2a66104a94aeaf98_0_130"/>
          <p:cNvSpPr/>
          <p:nvPr/>
        </p:nvSpPr>
        <p:spPr>
          <a:xfrm>
            <a:off x="502920" y="347472"/>
            <a:ext cx="5029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449"/>
              </a:buClr>
              <a:buSzPts val="1050"/>
              <a:buFont typeface="Poppins Medium"/>
              <a:buNone/>
            </a:pPr>
            <a:r>
              <a:rPr b="0" i="0" lang="en-US" sz="1050" u="none" cap="none" strike="noStrike">
                <a:solidFill>
                  <a:srgbClr val="4A544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UT1 · EL DESARROLLO DE SOFTWARE Y SUS FASES</a:t>
            </a:r>
            <a:endParaRPr b="0" i="0" sz="105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7" name="Google Shape;247;h2a66104a94aeaf98_0_130"/>
          <p:cNvSpPr/>
          <p:nvPr/>
        </p:nvSpPr>
        <p:spPr>
          <a:xfrm>
            <a:off x="502920" y="566928"/>
            <a:ext cx="5760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b="1" lang="en-US" sz="10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Paradigma</a:t>
            </a:r>
            <a:endParaRPr b="1" sz="105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8" name="Google Shape;248;h2a66104a94aeaf98_0_130"/>
          <p:cNvSpPr/>
          <p:nvPr/>
        </p:nvSpPr>
        <p:spPr>
          <a:xfrm flipH="1">
            <a:off x="394875" y="950825"/>
            <a:ext cx="8562000" cy="3924600"/>
          </a:xfrm>
          <a:prstGeom prst="roundRect">
            <a:avLst>
              <a:gd fmla="val 2254" name="adj"/>
            </a:avLst>
          </a:prstGeom>
          <a:solidFill>
            <a:srgbClr val="FBF8F5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h2a66104a94aeaf98_0_130"/>
          <p:cNvSpPr/>
          <p:nvPr/>
        </p:nvSpPr>
        <p:spPr>
          <a:xfrm>
            <a:off x="1281150" y="1059575"/>
            <a:ext cx="6816000" cy="274200"/>
          </a:xfrm>
          <a:prstGeom prst="roundRect">
            <a:avLst>
              <a:gd fmla="val 12000" name="adj"/>
            </a:avLst>
          </a:prstGeom>
          <a:solidFill>
            <a:srgbClr val="F3F3F3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h2a66104a94aeaf98_0_130"/>
          <p:cNvSpPr/>
          <p:nvPr/>
        </p:nvSpPr>
        <p:spPr>
          <a:xfrm>
            <a:off x="57947" y="685869"/>
            <a:ext cx="310800" cy="310800"/>
          </a:xfrm>
          <a:prstGeom prst="ellipse">
            <a:avLst/>
          </a:prstGeom>
          <a:solidFill>
            <a:srgbClr val="E6945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/>
          </a:p>
        </p:txBody>
      </p:sp>
      <p:sp>
        <p:nvSpPr>
          <p:cNvPr id="251" name="Google Shape;251;h2a66104a94aeaf98_0_130"/>
          <p:cNvSpPr/>
          <p:nvPr/>
        </p:nvSpPr>
        <p:spPr>
          <a:xfrm>
            <a:off x="2068950" y="727275"/>
            <a:ext cx="42429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rPr>
              <a:t>¿Cómo se estructura y expresa la solución?</a:t>
            </a:r>
            <a:endParaRPr>
              <a:solidFill>
                <a:schemeClr val="dk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chemeClr val="accent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2" name="Google Shape;252;h2a66104a94aeaf98_0_130"/>
          <p:cNvSpPr/>
          <p:nvPr/>
        </p:nvSpPr>
        <p:spPr>
          <a:xfrm>
            <a:off x="1442600" y="1075234"/>
            <a:ext cx="6315600" cy="3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2"/>
                </a:solidFill>
              </a:rPr>
              <a:t>Ejemplo: </a:t>
            </a:r>
            <a:r>
              <a:rPr b="1" lang="en-US" sz="1100">
                <a:solidFill>
                  <a:schemeClr val="dk2"/>
                </a:solidFill>
              </a:rPr>
              <a:t>un cliente compra una camiseta en una tienda</a:t>
            </a:r>
            <a:r>
              <a:rPr lang="en-US" sz="1100">
                <a:solidFill>
                  <a:schemeClr val="dk2"/>
                </a:solidFill>
              </a:rPr>
              <a:t>. </a:t>
            </a:r>
            <a:endParaRPr sz="1000">
              <a:solidFill>
                <a:srgbClr val="6B726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3" name="Google Shape;253;h2a66104a94aeaf98_0_130"/>
          <p:cNvSpPr/>
          <p:nvPr/>
        </p:nvSpPr>
        <p:spPr>
          <a:xfrm>
            <a:off x="554250" y="1441375"/>
            <a:ext cx="2496600" cy="3327900"/>
          </a:xfrm>
          <a:prstGeom prst="roundRect">
            <a:avLst>
              <a:gd fmla="val 12000" name="adj"/>
            </a:avLst>
          </a:prstGeom>
          <a:solidFill>
            <a:srgbClr val="F7F3EE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h2a66104a94aeaf98_0_130"/>
          <p:cNvSpPr/>
          <p:nvPr/>
        </p:nvSpPr>
        <p:spPr>
          <a:xfrm>
            <a:off x="623275" y="1836775"/>
            <a:ext cx="2295000" cy="27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2"/>
                </a:solidFill>
              </a:rPr>
              <a:t>¿Qué pasos hay que realizar y en qué orden? </a:t>
            </a:r>
            <a:endParaRPr sz="1100">
              <a:solidFill>
                <a:schemeClr val="dk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2"/>
                </a:solidFill>
              </a:rPr>
              <a:t>1. Leer el precio de la camiseta. </a:t>
            </a:r>
            <a:br>
              <a:rPr lang="en-US" sz="1100">
                <a:solidFill>
                  <a:schemeClr val="dk2"/>
                </a:solidFill>
              </a:rPr>
            </a:br>
            <a:r>
              <a:rPr lang="en-US" sz="1100">
                <a:solidFill>
                  <a:schemeClr val="dk2"/>
                </a:solidFill>
              </a:rPr>
              <a:t>2. Comprobar si tiene descuento. </a:t>
            </a:r>
            <a:br>
              <a:rPr lang="en-US" sz="1100">
                <a:solidFill>
                  <a:schemeClr val="dk2"/>
                </a:solidFill>
              </a:rPr>
            </a:br>
            <a:r>
              <a:rPr lang="en-US" sz="1100">
                <a:solidFill>
                  <a:schemeClr val="dk2"/>
                </a:solidFill>
              </a:rPr>
              <a:t>3. Aplicar el descuento. </a:t>
            </a:r>
            <a:br>
              <a:rPr lang="en-US" sz="1100">
                <a:solidFill>
                  <a:schemeClr val="dk2"/>
                </a:solidFill>
              </a:rPr>
            </a:br>
            <a:r>
              <a:rPr lang="en-US" sz="1100">
                <a:solidFill>
                  <a:schemeClr val="dk2"/>
                </a:solidFill>
              </a:rPr>
              <a:t>4. Añadir el IVA. </a:t>
            </a:r>
            <a:br>
              <a:rPr lang="en-US" sz="1100">
                <a:solidFill>
                  <a:schemeClr val="dk2"/>
                </a:solidFill>
              </a:rPr>
            </a:br>
            <a:r>
              <a:rPr lang="en-US" sz="1100">
                <a:solidFill>
                  <a:schemeClr val="dk2"/>
                </a:solidFill>
              </a:rPr>
              <a:t>5. Cobrar al cliente. </a:t>
            </a:r>
            <a:br>
              <a:rPr lang="en-US" sz="1100">
                <a:solidFill>
                  <a:schemeClr val="dk2"/>
                </a:solidFill>
              </a:rPr>
            </a:br>
            <a:r>
              <a:rPr lang="en-US" sz="1100">
                <a:solidFill>
                  <a:schemeClr val="dk2"/>
                </a:solidFill>
              </a:rPr>
              <a:t>6. Mostrar el precio final. 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255" name="Google Shape;255;h2a66104a94aeaf98_0_130"/>
          <p:cNvSpPr/>
          <p:nvPr/>
        </p:nvSpPr>
        <p:spPr>
          <a:xfrm>
            <a:off x="682521" y="1550992"/>
            <a:ext cx="2212800" cy="2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Imperativo / estructurado </a:t>
            </a:r>
            <a:endParaRPr/>
          </a:p>
        </p:txBody>
      </p:sp>
      <p:sp>
        <p:nvSpPr>
          <p:cNvPr id="256" name="Google Shape;256;h2a66104a94aeaf98_0_130"/>
          <p:cNvSpPr/>
          <p:nvPr/>
        </p:nvSpPr>
        <p:spPr>
          <a:xfrm>
            <a:off x="3182946" y="1441375"/>
            <a:ext cx="2496600" cy="3327900"/>
          </a:xfrm>
          <a:prstGeom prst="roundRect">
            <a:avLst>
              <a:gd fmla="val 12000" name="adj"/>
            </a:avLst>
          </a:prstGeom>
          <a:solidFill>
            <a:srgbClr val="F7F3EE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h2a66104a94aeaf98_0_130"/>
          <p:cNvSpPr/>
          <p:nvPr/>
        </p:nvSpPr>
        <p:spPr>
          <a:xfrm>
            <a:off x="3282098" y="1550992"/>
            <a:ext cx="2212800" cy="2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Orientado a objetos </a:t>
            </a:r>
            <a:endParaRPr/>
          </a:p>
        </p:txBody>
      </p:sp>
      <p:sp>
        <p:nvSpPr>
          <p:cNvPr id="258" name="Google Shape;258;h2a66104a94aeaf98_0_130"/>
          <p:cNvSpPr/>
          <p:nvPr/>
        </p:nvSpPr>
        <p:spPr>
          <a:xfrm>
            <a:off x="5939173" y="1441375"/>
            <a:ext cx="2496600" cy="3327900"/>
          </a:xfrm>
          <a:prstGeom prst="roundRect">
            <a:avLst>
              <a:gd fmla="val 12000" name="adj"/>
            </a:avLst>
          </a:prstGeom>
          <a:solidFill>
            <a:srgbClr val="F7F3EE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h2a66104a94aeaf98_0_130"/>
          <p:cNvSpPr/>
          <p:nvPr/>
        </p:nvSpPr>
        <p:spPr>
          <a:xfrm>
            <a:off x="5984129" y="1840924"/>
            <a:ext cx="2399100" cy="27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6B726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0" name="Google Shape;260;h2a66104a94aeaf98_0_130"/>
          <p:cNvSpPr/>
          <p:nvPr/>
        </p:nvSpPr>
        <p:spPr>
          <a:xfrm>
            <a:off x="6038325" y="1550992"/>
            <a:ext cx="2212800" cy="2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Funcional </a:t>
            </a:r>
            <a:endParaRPr/>
          </a:p>
        </p:txBody>
      </p:sp>
      <p:sp>
        <p:nvSpPr>
          <p:cNvPr id="261" name="Google Shape;261;h2a66104a94aeaf98_0_130"/>
          <p:cNvSpPr/>
          <p:nvPr/>
        </p:nvSpPr>
        <p:spPr>
          <a:xfrm>
            <a:off x="3241000" y="1868076"/>
            <a:ext cx="2295000" cy="25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2"/>
                </a:solidFill>
              </a:rPr>
              <a:t>¿Qué elementos intervienen y qué responsabilidad tiene cada uno? </a:t>
            </a:r>
            <a:endParaRPr sz="1100">
              <a:solidFill>
                <a:schemeClr val="dk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2"/>
                </a:solidFill>
              </a:rPr>
              <a:t>Cliente </a:t>
            </a:r>
            <a:br>
              <a:rPr lang="en-US" sz="1100">
                <a:solidFill>
                  <a:schemeClr val="dk2"/>
                </a:solidFill>
              </a:rPr>
            </a:br>
            <a:r>
              <a:rPr lang="en-US" sz="1100">
                <a:solidFill>
                  <a:schemeClr val="dk2"/>
                </a:solidFill>
              </a:rPr>
              <a:t>- realiza la compra </a:t>
            </a:r>
            <a:br>
              <a:rPr lang="en-US" sz="1100">
                <a:solidFill>
                  <a:schemeClr val="dk2"/>
                </a:solidFill>
              </a:rPr>
            </a:br>
            <a:br>
              <a:rPr lang="en-US" sz="1100">
                <a:solidFill>
                  <a:schemeClr val="dk2"/>
                </a:solidFill>
              </a:rPr>
            </a:br>
            <a:r>
              <a:rPr lang="en-US" sz="1100">
                <a:solidFill>
                  <a:schemeClr val="dk2"/>
                </a:solidFill>
              </a:rPr>
              <a:t>Producto </a:t>
            </a:r>
            <a:br>
              <a:rPr lang="en-US" sz="1100">
                <a:solidFill>
                  <a:schemeClr val="dk2"/>
                </a:solidFill>
              </a:rPr>
            </a:br>
            <a:r>
              <a:rPr lang="en-US" sz="1100">
                <a:solidFill>
                  <a:schemeClr val="dk2"/>
                </a:solidFill>
              </a:rPr>
              <a:t>- tiene un precio </a:t>
            </a:r>
            <a:br>
              <a:rPr lang="en-US" sz="1100">
                <a:solidFill>
                  <a:schemeClr val="dk2"/>
                </a:solidFill>
              </a:rPr>
            </a:br>
            <a:r>
              <a:rPr lang="en-US" sz="1100">
                <a:solidFill>
                  <a:schemeClr val="dk2"/>
                </a:solidFill>
              </a:rPr>
              <a:t>- puede tener descuento </a:t>
            </a:r>
            <a:br>
              <a:rPr lang="en-US" sz="1100">
                <a:solidFill>
                  <a:schemeClr val="dk2"/>
                </a:solidFill>
              </a:rPr>
            </a:br>
            <a:br>
              <a:rPr lang="en-US" sz="1100">
                <a:solidFill>
                  <a:schemeClr val="dk2"/>
                </a:solidFill>
              </a:rPr>
            </a:br>
            <a:r>
              <a:rPr lang="en-US" sz="1100">
                <a:solidFill>
                  <a:schemeClr val="dk2"/>
                </a:solidFill>
              </a:rPr>
              <a:t>Compra </a:t>
            </a:r>
            <a:br>
              <a:rPr lang="en-US" sz="1100">
                <a:solidFill>
                  <a:schemeClr val="dk2"/>
                </a:solidFill>
              </a:rPr>
            </a:br>
            <a:r>
              <a:rPr lang="en-US" sz="1100">
                <a:solidFill>
                  <a:schemeClr val="dk2"/>
                </a:solidFill>
              </a:rPr>
              <a:t>- contiene los productos </a:t>
            </a:r>
            <a:br>
              <a:rPr lang="en-US" sz="1100">
                <a:solidFill>
                  <a:schemeClr val="dk2"/>
                </a:solidFill>
              </a:rPr>
            </a:br>
            <a:r>
              <a:rPr lang="en-US" sz="1100">
                <a:solidFill>
                  <a:schemeClr val="dk2"/>
                </a:solidFill>
              </a:rPr>
              <a:t>- calcula el total Caja </a:t>
            </a:r>
            <a:br>
              <a:rPr lang="en-US" sz="1100">
                <a:solidFill>
                  <a:schemeClr val="dk2"/>
                </a:solidFill>
              </a:rPr>
            </a:br>
            <a:r>
              <a:rPr lang="en-US" sz="1100">
                <a:solidFill>
                  <a:schemeClr val="dk2"/>
                </a:solidFill>
              </a:rPr>
              <a:t>- cobra la compra 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262" name="Google Shape;262;h2a66104a94aeaf98_0_130"/>
          <p:cNvSpPr/>
          <p:nvPr/>
        </p:nvSpPr>
        <p:spPr>
          <a:xfrm>
            <a:off x="5997225" y="1777726"/>
            <a:ext cx="2295000" cy="25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2"/>
                </a:solidFill>
              </a:rPr>
              <a:t>¿Cómo transformamos unos datos iniciales hasta obtener el resultado? </a:t>
            </a:r>
            <a:endParaRPr sz="1100">
              <a:solidFill>
                <a:schemeClr val="dk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2"/>
                </a:solidFill>
              </a:rPr>
              <a:t>Precio original </a:t>
            </a:r>
            <a:br>
              <a:rPr lang="en-US" sz="1100">
                <a:solidFill>
                  <a:schemeClr val="dk2"/>
                </a:solidFill>
              </a:rPr>
            </a:br>
            <a:r>
              <a:rPr lang="en-US" sz="1100">
                <a:solidFill>
                  <a:schemeClr val="dk2"/>
                </a:solidFill>
              </a:rPr>
              <a:t>↓ </a:t>
            </a:r>
            <a:br>
              <a:rPr lang="en-US" sz="1100">
                <a:solidFill>
                  <a:schemeClr val="dk2"/>
                </a:solidFill>
              </a:rPr>
            </a:br>
            <a:r>
              <a:rPr lang="en-US" sz="1100">
                <a:solidFill>
                  <a:schemeClr val="dk2"/>
                </a:solidFill>
              </a:rPr>
              <a:t>Aplicar descuento </a:t>
            </a:r>
            <a:br>
              <a:rPr lang="en-US" sz="1100">
                <a:solidFill>
                  <a:schemeClr val="dk2"/>
                </a:solidFill>
              </a:rPr>
            </a:br>
            <a:r>
              <a:rPr lang="en-US" sz="1100">
                <a:solidFill>
                  <a:schemeClr val="dk2"/>
                </a:solidFill>
              </a:rPr>
              <a:t>↓ </a:t>
            </a:r>
            <a:br>
              <a:rPr lang="en-US" sz="1100">
                <a:solidFill>
                  <a:schemeClr val="dk2"/>
                </a:solidFill>
              </a:rPr>
            </a:br>
            <a:r>
              <a:rPr lang="en-US" sz="1100">
                <a:solidFill>
                  <a:schemeClr val="dk2"/>
                </a:solidFill>
              </a:rPr>
              <a:t>Precio con descuento </a:t>
            </a:r>
            <a:br>
              <a:rPr lang="en-US" sz="1100">
                <a:solidFill>
                  <a:schemeClr val="dk2"/>
                </a:solidFill>
              </a:rPr>
            </a:br>
            <a:r>
              <a:rPr lang="en-US" sz="1100">
                <a:solidFill>
                  <a:schemeClr val="dk2"/>
                </a:solidFill>
              </a:rPr>
              <a:t>↓ </a:t>
            </a:r>
            <a:br>
              <a:rPr lang="en-US" sz="1100">
                <a:solidFill>
                  <a:schemeClr val="dk2"/>
                </a:solidFill>
              </a:rPr>
            </a:br>
            <a:r>
              <a:rPr lang="en-US" sz="1100">
                <a:solidFill>
                  <a:schemeClr val="dk2"/>
                </a:solidFill>
              </a:rPr>
              <a:t>Añadir IVA </a:t>
            </a:r>
            <a:br>
              <a:rPr lang="en-US" sz="1100">
                <a:solidFill>
                  <a:schemeClr val="dk2"/>
                </a:solidFill>
              </a:rPr>
            </a:br>
            <a:r>
              <a:rPr lang="en-US" sz="1100">
                <a:solidFill>
                  <a:schemeClr val="dk2"/>
                </a:solidFill>
              </a:rPr>
              <a:t>↓ </a:t>
            </a:r>
            <a:br>
              <a:rPr lang="en-US" sz="1100">
                <a:solidFill>
                  <a:schemeClr val="dk2"/>
                </a:solidFill>
              </a:rPr>
            </a:br>
            <a:r>
              <a:rPr lang="en-US" sz="1100">
                <a:solidFill>
                  <a:schemeClr val="dk2"/>
                </a:solidFill>
              </a:rPr>
              <a:t>Precio final </a:t>
            </a:r>
            <a:endParaRPr sz="1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h2a66104a94aeaf98_0_183"/>
          <p:cNvSpPr/>
          <p:nvPr/>
        </p:nvSpPr>
        <p:spPr>
          <a:xfrm>
            <a:off x="502920" y="347472"/>
            <a:ext cx="5029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449"/>
              </a:buClr>
              <a:buSzPts val="1050"/>
              <a:buFont typeface="Poppins Medium"/>
              <a:buNone/>
            </a:pPr>
            <a:r>
              <a:rPr b="0" i="0" lang="en-US" sz="1050" u="none" cap="none" strike="noStrike">
                <a:solidFill>
                  <a:srgbClr val="4A544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UT1 · EL DESARROLLO DE SOFTWARE Y SUS FASES</a:t>
            </a:r>
            <a:endParaRPr b="0" i="0" sz="105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8" name="Google Shape;268;h2a66104a94aeaf98_0_183"/>
          <p:cNvSpPr/>
          <p:nvPr/>
        </p:nvSpPr>
        <p:spPr>
          <a:xfrm>
            <a:off x="502920" y="566928"/>
            <a:ext cx="5760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b="1" lang="en-US" sz="10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CONCLUSIÓN</a:t>
            </a:r>
            <a:endParaRPr b="1" sz="105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9" name="Google Shape;269;h2a66104a94aeaf98_0_183"/>
          <p:cNvSpPr/>
          <p:nvPr/>
        </p:nvSpPr>
        <p:spPr>
          <a:xfrm flipH="1">
            <a:off x="394875" y="950825"/>
            <a:ext cx="8562000" cy="3924600"/>
          </a:xfrm>
          <a:prstGeom prst="roundRect">
            <a:avLst>
              <a:gd fmla="val 2254" name="adj"/>
            </a:avLst>
          </a:prstGeom>
          <a:solidFill>
            <a:srgbClr val="FBF8F5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h2a66104a94aeaf98_0_183"/>
          <p:cNvSpPr/>
          <p:nvPr/>
        </p:nvSpPr>
        <p:spPr>
          <a:xfrm>
            <a:off x="1267875" y="1567801"/>
            <a:ext cx="6816000" cy="2549100"/>
          </a:xfrm>
          <a:prstGeom prst="roundRect">
            <a:avLst>
              <a:gd fmla="val 12000" name="adj"/>
            </a:avLst>
          </a:prstGeom>
          <a:solidFill>
            <a:srgbClr val="F3F3F3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h2a66104a94aeaf98_0_183"/>
          <p:cNvSpPr/>
          <p:nvPr/>
        </p:nvSpPr>
        <p:spPr>
          <a:xfrm>
            <a:off x="1429325" y="1680255"/>
            <a:ext cx="6315600" cy="24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 u="sng">
                <a:solidFill>
                  <a:schemeClr val="dk2"/>
                </a:solidFill>
              </a:rPr>
              <a:t>Java</a:t>
            </a:r>
            <a:r>
              <a:rPr lang="en-US" sz="2400" u="sng">
                <a:solidFill>
                  <a:schemeClr val="dk2"/>
                </a:solidFill>
              </a:rPr>
              <a:t> :</a:t>
            </a:r>
            <a:br>
              <a:rPr lang="en-US" sz="2400">
                <a:solidFill>
                  <a:schemeClr val="dk2"/>
                </a:solidFill>
              </a:rPr>
            </a:br>
            <a:r>
              <a:rPr lang="en-US" sz="2400">
                <a:solidFill>
                  <a:schemeClr val="dk2"/>
                </a:solidFill>
              </a:rPr>
              <a:t>alto nivel </a:t>
            </a:r>
            <a:br>
              <a:rPr lang="en-US" sz="2400">
                <a:solidFill>
                  <a:schemeClr val="dk2"/>
                </a:solidFill>
              </a:rPr>
            </a:br>
            <a:r>
              <a:rPr lang="en-US" sz="2400">
                <a:solidFill>
                  <a:schemeClr val="dk2"/>
                </a:solidFill>
              </a:rPr>
              <a:t>+ </a:t>
            </a:r>
            <a:br>
              <a:rPr lang="en-US" sz="2400">
                <a:solidFill>
                  <a:schemeClr val="dk2"/>
                </a:solidFill>
              </a:rPr>
            </a:br>
            <a:r>
              <a:rPr lang="en-US" sz="2400">
                <a:solidFill>
                  <a:schemeClr val="dk2"/>
                </a:solidFill>
              </a:rPr>
              <a:t>código intermedio/JVM </a:t>
            </a:r>
            <a:br>
              <a:rPr lang="en-US" sz="2400">
                <a:solidFill>
                  <a:schemeClr val="dk2"/>
                </a:solidFill>
              </a:rPr>
            </a:br>
            <a:r>
              <a:rPr lang="en-US" sz="2400">
                <a:solidFill>
                  <a:schemeClr val="dk2"/>
                </a:solidFill>
              </a:rPr>
              <a:t>+ </a:t>
            </a:r>
            <a:br>
              <a:rPr lang="en-US" sz="2400">
                <a:solidFill>
                  <a:schemeClr val="dk2"/>
                </a:solidFill>
              </a:rPr>
            </a:br>
            <a:r>
              <a:rPr lang="en-US" sz="2400">
                <a:solidFill>
                  <a:schemeClr val="dk2"/>
                </a:solidFill>
              </a:rPr>
              <a:t>principalmente orientado a objetos. </a:t>
            </a:r>
            <a:endParaRPr sz="2400">
              <a:solidFill>
                <a:srgbClr val="6B726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1"/>
          <p:cNvSpPr/>
          <p:nvPr/>
        </p:nvSpPr>
        <p:spPr>
          <a:xfrm>
            <a:off x="502920" y="34747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449"/>
              </a:buClr>
              <a:buSzPts val="1050"/>
              <a:buFont typeface="Poppins Medium"/>
              <a:buNone/>
            </a:pPr>
            <a:r>
              <a:rPr b="0" i="0" lang="en-US" sz="1050" u="none" cap="none" strike="noStrike">
                <a:solidFill>
                  <a:srgbClr val="4A544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UT1 · EL DESARROLLO DE SOFTWARE Y SUS FASES</a:t>
            </a:r>
            <a:endParaRPr b="0" i="0" sz="105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7" name="Google Shape;277;p11"/>
          <p:cNvSpPr/>
          <p:nvPr/>
        </p:nvSpPr>
        <p:spPr>
          <a:xfrm>
            <a:off x="7223760" y="594360"/>
            <a:ext cx="1417320" cy="365760"/>
          </a:xfrm>
          <a:prstGeom prst="roundRect">
            <a:avLst>
              <a:gd fmla="val 15000" name="adj"/>
            </a:avLst>
          </a:prstGeom>
          <a:solidFill>
            <a:srgbClr val="F7F3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11"/>
          <p:cNvSpPr/>
          <p:nvPr/>
        </p:nvSpPr>
        <p:spPr>
          <a:xfrm>
            <a:off x="7223760" y="594360"/>
            <a:ext cx="1417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A1D"/>
              </a:buClr>
              <a:buSzPts val="1000"/>
              <a:buFont typeface="Poppins Medium"/>
              <a:buNone/>
            </a:pPr>
            <a:r>
              <a:rPr b="0" i="0" lang="en-US" sz="1000" u="none" cap="none" strike="noStrike">
                <a:solidFill>
                  <a:srgbClr val="152A1D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CONCEPTO</a:t>
            </a:r>
            <a:endParaRPr b="0" i="0" sz="1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9" name="Google Shape;279;p11"/>
          <p:cNvSpPr/>
          <p:nvPr/>
        </p:nvSpPr>
        <p:spPr>
          <a:xfrm>
            <a:off x="502920" y="566928"/>
            <a:ext cx="5760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A1D"/>
              </a:buClr>
              <a:buSzPts val="2500"/>
              <a:buFont typeface="Poppins SemiBold"/>
              <a:buNone/>
            </a:pPr>
            <a:r>
              <a:rPr b="1" i="0" lang="en-US" sz="1900" u="none" cap="none" strike="noStrike">
                <a:solidFill>
                  <a:srgbClr val="152A1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 qué se programa hoy y para qué</a:t>
            </a:r>
            <a:endParaRPr b="0" i="0" sz="2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0" name="Google Shape;280;p11"/>
          <p:cNvSpPr/>
          <p:nvPr/>
        </p:nvSpPr>
        <p:spPr>
          <a:xfrm>
            <a:off x="502950" y="1719025"/>
            <a:ext cx="8138100" cy="3043500"/>
          </a:xfrm>
          <a:prstGeom prst="roundRect">
            <a:avLst>
              <a:gd fmla="val 2254" name="adj"/>
            </a:avLst>
          </a:prstGeom>
          <a:solidFill>
            <a:srgbClr val="FBF8F5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11"/>
          <p:cNvSpPr/>
          <p:nvPr/>
        </p:nvSpPr>
        <p:spPr>
          <a:xfrm>
            <a:off x="685825" y="1828753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El lenguaje se elige según el problema, el entorno y los requisitos. Ninguno es mejor para todo.</a:t>
            </a:r>
            <a:endParaRPr/>
          </a:p>
        </p:txBody>
      </p:sp>
      <p:sp>
        <p:nvSpPr>
          <p:cNvPr id="282" name="Google Shape;282;p11"/>
          <p:cNvSpPr/>
          <p:nvPr/>
        </p:nvSpPr>
        <p:spPr>
          <a:xfrm>
            <a:off x="685825" y="2221944"/>
            <a:ext cx="2469000" cy="1143000"/>
          </a:xfrm>
          <a:prstGeom prst="roundRect">
            <a:avLst>
              <a:gd fmla="val 12000" name="adj"/>
            </a:avLst>
          </a:prstGeom>
          <a:solidFill>
            <a:srgbClr val="F7F3EE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11"/>
          <p:cNvSpPr/>
          <p:nvPr/>
        </p:nvSpPr>
        <p:spPr>
          <a:xfrm>
            <a:off x="795553" y="2295097"/>
            <a:ext cx="2249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Java y Kotlin</a:t>
            </a:r>
            <a:endParaRPr/>
          </a:p>
        </p:txBody>
      </p:sp>
      <p:sp>
        <p:nvSpPr>
          <p:cNvPr id="284" name="Google Shape;284;p11"/>
          <p:cNvSpPr/>
          <p:nvPr/>
        </p:nvSpPr>
        <p:spPr>
          <a:xfrm>
            <a:off x="795553" y="2605993"/>
            <a:ext cx="22494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Aplicaciones backend y empresariales. En Android se usa especialmente Kotlin, aunque Java también está presente.</a:t>
            </a:r>
            <a:endParaRPr/>
          </a:p>
        </p:txBody>
      </p:sp>
      <p:sp>
        <p:nvSpPr>
          <p:cNvPr id="285" name="Google Shape;285;p11"/>
          <p:cNvSpPr/>
          <p:nvPr/>
        </p:nvSpPr>
        <p:spPr>
          <a:xfrm>
            <a:off x="3337585" y="2221944"/>
            <a:ext cx="2469000" cy="1143000"/>
          </a:xfrm>
          <a:prstGeom prst="roundRect">
            <a:avLst>
              <a:gd fmla="val 12000" name="adj"/>
            </a:avLst>
          </a:prstGeom>
          <a:solidFill>
            <a:srgbClr val="F7F3EE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11"/>
          <p:cNvSpPr/>
          <p:nvPr/>
        </p:nvSpPr>
        <p:spPr>
          <a:xfrm>
            <a:off x="3447313" y="2295097"/>
            <a:ext cx="2249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C#</a:t>
            </a:r>
            <a:endParaRPr/>
          </a:p>
        </p:txBody>
      </p:sp>
      <p:sp>
        <p:nvSpPr>
          <p:cNvPr id="287" name="Google Shape;287;p11"/>
          <p:cNvSpPr/>
          <p:nvPr/>
        </p:nvSpPr>
        <p:spPr>
          <a:xfrm>
            <a:off x="3447313" y="2605993"/>
            <a:ext cx="22494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Aplicaciones y servicios sobre .NET, escritorio y videojuegos con Unity.</a:t>
            </a:r>
            <a:endParaRPr/>
          </a:p>
        </p:txBody>
      </p:sp>
      <p:sp>
        <p:nvSpPr>
          <p:cNvPr id="288" name="Google Shape;288;p11"/>
          <p:cNvSpPr/>
          <p:nvPr/>
        </p:nvSpPr>
        <p:spPr>
          <a:xfrm>
            <a:off x="5989345" y="2221944"/>
            <a:ext cx="2469000" cy="1143000"/>
          </a:xfrm>
          <a:prstGeom prst="roundRect">
            <a:avLst>
              <a:gd fmla="val 12000" name="adj"/>
            </a:avLst>
          </a:prstGeom>
          <a:solidFill>
            <a:srgbClr val="F7F3EE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11"/>
          <p:cNvSpPr/>
          <p:nvPr/>
        </p:nvSpPr>
        <p:spPr>
          <a:xfrm>
            <a:off x="6099073" y="2295097"/>
            <a:ext cx="2249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Python</a:t>
            </a:r>
            <a:endParaRPr/>
          </a:p>
        </p:txBody>
      </p:sp>
      <p:sp>
        <p:nvSpPr>
          <p:cNvPr id="290" name="Google Shape;290;p11"/>
          <p:cNvSpPr/>
          <p:nvPr/>
        </p:nvSpPr>
        <p:spPr>
          <a:xfrm>
            <a:off x="6099073" y="2605993"/>
            <a:ext cx="22494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Automatización, datos, inteligencia artificial, scripting y backend.</a:t>
            </a:r>
            <a:endParaRPr/>
          </a:p>
        </p:txBody>
      </p:sp>
      <p:sp>
        <p:nvSpPr>
          <p:cNvPr id="291" name="Google Shape;291;p11"/>
          <p:cNvSpPr/>
          <p:nvPr/>
        </p:nvSpPr>
        <p:spPr>
          <a:xfrm>
            <a:off x="685825" y="3502104"/>
            <a:ext cx="2469000" cy="1143000"/>
          </a:xfrm>
          <a:prstGeom prst="roundRect">
            <a:avLst>
              <a:gd fmla="val 12000" name="adj"/>
            </a:avLst>
          </a:prstGeom>
          <a:solidFill>
            <a:srgbClr val="F7F3EE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11"/>
          <p:cNvSpPr/>
          <p:nvPr/>
        </p:nvSpPr>
        <p:spPr>
          <a:xfrm>
            <a:off x="795553" y="3575257"/>
            <a:ext cx="2249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JavaScript</a:t>
            </a:r>
            <a:endParaRPr/>
          </a:p>
        </p:txBody>
      </p:sp>
      <p:sp>
        <p:nvSpPr>
          <p:cNvPr id="293" name="Google Shape;293;p11"/>
          <p:cNvSpPr/>
          <p:nvPr/>
        </p:nvSpPr>
        <p:spPr>
          <a:xfrm>
            <a:off x="795553" y="3886152"/>
            <a:ext cx="22494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Aplicaciones web en el navegador y también servidores mediante runtimes como Node.js.</a:t>
            </a:r>
            <a:endParaRPr/>
          </a:p>
        </p:txBody>
      </p:sp>
      <p:sp>
        <p:nvSpPr>
          <p:cNvPr id="294" name="Google Shape;294;p11"/>
          <p:cNvSpPr/>
          <p:nvPr/>
        </p:nvSpPr>
        <p:spPr>
          <a:xfrm>
            <a:off x="3337585" y="3502104"/>
            <a:ext cx="2469000" cy="1143000"/>
          </a:xfrm>
          <a:prstGeom prst="roundRect">
            <a:avLst>
              <a:gd fmla="val 12000" name="adj"/>
            </a:avLst>
          </a:prstGeom>
          <a:solidFill>
            <a:srgbClr val="F7F3EE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11"/>
          <p:cNvSpPr/>
          <p:nvPr/>
        </p:nvSpPr>
        <p:spPr>
          <a:xfrm>
            <a:off x="3447313" y="3575257"/>
            <a:ext cx="2249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C y C++</a:t>
            </a:r>
            <a:endParaRPr/>
          </a:p>
        </p:txBody>
      </p:sp>
      <p:sp>
        <p:nvSpPr>
          <p:cNvPr id="296" name="Google Shape;296;p11"/>
          <p:cNvSpPr/>
          <p:nvPr/>
        </p:nvSpPr>
        <p:spPr>
          <a:xfrm>
            <a:off x="3447313" y="3886152"/>
            <a:ext cx="22494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Sistemas, software de alto rendimiento, motores, dispositivos y programación cercana al hardware.</a:t>
            </a:r>
            <a:endParaRPr/>
          </a:p>
        </p:txBody>
      </p:sp>
      <p:sp>
        <p:nvSpPr>
          <p:cNvPr id="297" name="Google Shape;297;p11"/>
          <p:cNvSpPr/>
          <p:nvPr/>
        </p:nvSpPr>
        <p:spPr>
          <a:xfrm>
            <a:off x="5989345" y="3502104"/>
            <a:ext cx="2469000" cy="1143000"/>
          </a:xfrm>
          <a:prstGeom prst="roundRect">
            <a:avLst>
              <a:gd fmla="val 12000" name="adj"/>
            </a:avLst>
          </a:prstGeom>
          <a:solidFill>
            <a:srgbClr val="F7F3EE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11"/>
          <p:cNvSpPr/>
          <p:nvPr/>
        </p:nvSpPr>
        <p:spPr>
          <a:xfrm>
            <a:off x="6099073" y="3575257"/>
            <a:ext cx="2249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SQL</a:t>
            </a:r>
            <a:endParaRPr/>
          </a:p>
        </p:txBody>
      </p:sp>
      <p:sp>
        <p:nvSpPr>
          <p:cNvPr id="299" name="Google Shape;299;p11"/>
          <p:cNvSpPr/>
          <p:nvPr/>
        </p:nvSpPr>
        <p:spPr>
          <a:xfrm>
            <a:off x="6099073" y="3886152"/>
            <a:ext cx="22494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Lenguaje declarativo para consultar y modificar datos en bases de datos. No es de propósito general.</a:t>
            </a:r>
            <a:endParaRPr/>
          </a:p>
        </p:txBody>
      </p:sp>
      <p:sp>
        <p:nvSpPr>
          <p:cNvPr id="300" name="Google Shape;300;p11"/>
          <p:cNvSpPr/>
          <p:nvPr/>
        </p:nvSpPr>
        <p:spPr>
          <a:xfrm>
            <a:off x="1165850" y="1124625"/>
            <a:ext cx="6286500" cy="429900"/>
          </a:xfrm>
          <a:prstGeom prst="roundRect">
            <a:avLst>
              <a:gd fmla="val 12000" name="adj"/>
            </a:avLst>
          </a:prstGeom>
          <a:solidFill>
            <a:srgbClr val="F3F3F3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11"/>
          <p:cNvSpPr/>
          <p:nvPr/>
        </p:nvSpPr>
        <p:spPr>
          <a:xfrm>
            <a:off x="1196200" y="1175950"/>
            <a:ext cx="6782100" cy="3405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Frontend = lo que el usuario final de una app o web ve y utiliza (botones, huecos para escribir…)</a:t>
            </a:r>
            <a:br>
              <a:rPr lang="en-US" sz="1000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1000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Backend = la lógica y los datos que trabajan detrás (variables, funciones…)</a:t>
            </a:r>
            <a:endParaRPr sz="1000">
              <a:solidFill>
                <a:srgbClr val="6B726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2"/>
          <p:cNvSpPr/>
          <p:nvPr/>
        </p:nvSpPr>
        <p:spPr>
          <a:xfrm>
            <a:off x="209570" y="59197"/>
            <a:ext cx="5029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449"/>
              </a:buClr>
              <a:buSzPts val="1050"/>
              <a:buFont typeface="Poppins Medium"/>
              <a:buNone/>
            </a:pPr>
            <a:r>
              <a:rPr b="0" i="0" lang="en-US" sz="1050" u="none" cap="none" strike="noStrike">
                <a:solidFill>
                  <a:srgbClr val="4A544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UT1 · EL DESARROLLO DE SOFTWARE Y SUS FASES</a:t>
            </a:r>
            <a:endParaRPr b="0" i="0" sz="105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7" name="Google Shape;307;p12"/>
          <p:cNvSpPr/>
          <p:nvPr/>
        </p:nvSpPr>
        <p:spPr>
          <a:xfrm>
            <a:off x="209570" y="306085"/>
            <a:ext cx="1188600" cy="365700"/>
          </a:xfrm>
          <a:prstGeom prst="roundRect">
            <a:avLst>
              <a:gd fmla="val 15000" name="adj"/>
            </a:avLst>
          </a:prstGeom>
          <a:solidFill>
            <a:srgbClr val="E694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12"/>
          <p:cNvSpPr/>
          <p:nvPr/>
        </p:nvSpPr>
        <p:spPr>
          <a:xfrm>
            <a:off x="209570" y="306085"/>
            <a:ext cx="1188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A1D"/>
              </a:buClr>
              <a:buSzPts val="1000"/>
              <a:buFont typeface="Poppins Medium"/>
              <a:buNone/>
            </a:pPr>
            <a:r>
              <a:rPr b="0" i="0" lang="en-US" sz="1000" u="none" cap="none" strike="noStrike">
                <a:solidFill>
                  <a:srgbClr val="152A1D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EJEMPLO</a:t>
            </a:r>
            <a:endParaRPr b="0" i="0" sz="1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9" name="Google Shape;309;p12"/>
          <p:cNvSpPr/>
          <p:nvPr/>
        </p:nvSpPr>
        <p:spPr>
          <a:xfrm>
            <a:off x="209570" y="733155"/>
            <a:ext cx="7772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A1D"/>
              </a:buClr>
              <a:buSzPts val="2200"/>
              <a:buFont typeface="Poppins SemiBold"/>
              <a:buNone/>
            </a:pPr>
            <a:r>
              <a:rPr b="1" i="0" lang="en-US" sz="1700" u="none" cap="none" strike="noStrike">
                <a:solidFill>
                  <a:srgbClr val="152A1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Ejemplo resuelto: cuatro lenguajes en la rejilla</a:t>
            </a:r>
            <a:endParaRPr b="0" i="0" sz="2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10" name="Google Shape;310;p12"/>
          <p:cNvSpPr/>
          <p:nvPr/>
        </p:nvSpPr>
        <p:spPr>
          <a:xfrm>
            <a:off x="480200" y="1341363"/>
            <a:ext cx="8138100" cy="2812200"/>
          </a:xfrm>
          <a:prstGeom prst="roundRect">
            <a:avLst>
              <a:gd fmla="val 2759" name="adj"/>
            </a:avLst>
          </a:prstGeom>
          <a:solidFill>
            <a:srgbClr val="FBF8F5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12"/>
          <p:cNvSpPr/>
          <p:nvPr/>
        </p:nvSpPr>
        <p:spPr>
          <a:xfrm>
            <a:off x="8182440" y="168830"/>
            <a:ext cx="640200" cy="640200"/>
          </a:xfrm>
          <a:prstGeom prst="ellipse">
            <a:avLst/>
          </a:prstGeom>
          <a:solidFill>
            <a:srgbClr val="E694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icons/clipboard_navy.png" id="312" name="Google Shape;31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48861" y="335251"/>
            <a:ext cx="307238" cy="307238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12"/>
          <p:cNvSpPr/>
          <p:nvPr/>
        </p:nvSpPr>
        <p:spPr>
          <a:xfrm>
            <a:off x="663075" y="1382926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De cada lenguaje se lee su ficha y se responden las tres preguntas. Los tres ejes responden a preguntas distintas.</a:t>
            </a:r>
            <a:endParaRPr/>
          </a:p>
        </p:txBody>
      </p:sp>
      <p:sp>
        <p:nvSpPr>
          <p:cNvPr id="314" name="Google Shape;314;p12"/>
          <p:cNvSpPr/>
          <p:nvPr/>
        </p:nvSpPr>
        <p:spPr>
          <a:xfrm>
            <a:off x="663075" y="1712110"/>
            <a:ext cx="3108900" cy="329100"/>
          </a:xfrm>
          <a:prstGeom prst="roundRect">
            <a:avLst>
              <a:gd fmla="val 10000" name="adj"/>
            </a:avLst>
          </a:prstGeom>
          <a:solidFill>
            <a:srgbClr val="2C4436"/>
          </a:solidFill>
          <a:ln>
            <a:noFill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Lenguaje y ficha</a:t>
            </a:r>
            <a:endParaRPr/>
          </a:p>
        </p:txBody>
      </p:sp>
      <p:sp>
        <p:nvSpPr>
          <p:cNvPr id="315" name="Google Shape;315;p12"/>
          <p:cNvSpPr/>
          <p:nvPr/>
        </p:nvSpPr>
        <p:spPr>
          <a:xfrm>
            <a:off x="3772035" y="1712110"/>
            <a:ext cx="914400" cy="329100"/>
          </a:xfrm>
          <a:prstGeom prst="roundRect">
            <a:avLst>
              <a:gd fmla="val 10000" name="adj"/>
            </a:avLst>
          </a:prstGeom>
          <a:solidFill>
            <a:srgbClr val="2C4436"/>
          </a:solidFill>
          <a:ln>
            <a:noFill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Nivel</a:t>
            </a:r>
            <a:endParaRPr/>
          </a:p>
        </p:txBody>
      </p:sp>
      <p:sp>
        <p:nvSpPr>
          <p:cNvPr id="316" name="Google Shape;316;p12"/>
          <p:cNvSpPr/>
          <p:nvPr/>
        </p:nvSpPr>
        <p:spPr>
          <a:xfrm>
            <a:off x="4686435" y="1712110"/>
            <a:ext cx="1828800" cy="329100"/>
          </a:xfrm>
          <a:prstGeom prst="roundRect">
            <a:avLst>
              <a:gd fmla="val 10000" name="adj"/>
            </a:avLst>
          </a:prstGeom>
          <a:solidFill>
            <a:srgbClr val="2C4436"/>
          </a:solidFill>
          <a:ln>
            <a:noFill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Modelo de ejecución</a:t>
            </a:r>
            <a:endParaRPr/>
          </a:p>
        </p:txBody>
      </p:sp>
      <p:sp>
        <p:nvSpPr>
          <p:cNvPr id="317" name="Google Shape;317;p12"/>
          <p:cNvSpPr/>
          <p:nvPr/>
        </p:nvSpPr>
        <p:spPr>
          <a:xfrm>
            <a:off x="6515235" y="1712110"/>
            <a:ext cx="1920300" cy="329100"/>
          </a:xfrm>
          <a:prstGeom prst="roundRect">
            <a:avLst>
              <a:gd fmla="val 10000" name="adj"/>
            </a:avLst>
          </a:prstGeom>
          <a:solidFill>
            <a:srgbClr val="2C4436"/>
          </a:solidFill>
          <a:ln>
            <a:noFill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Paradigma predominante</a:t>
            </a:r>
            <a:endParaRPr/>
          </a:p>
        </p:txBody>
      </p:sp>
      <p:sp>
        <p:nvSpPr>
          <p:cNvPr id="318" name="Google Shape;318;p12"/>
          <p:cNvSpPr/>
          <p:nvPr/>
        </p:nvSpPr>
        <p:spPr>
          <a:xfrm>
            <a:off x="663075" y="2087014"/>
            <a:ext cx="3108900" cy="475500"/>
          </a:xfrm>
          <a:prstGeom prst="roundRect">
            <a:avLst>
              <a:gd fmla="val 5000" name="adj"/>
            </a:avLst>
          </a:prstGeom>
          <a:solidFill>
            <a:srgbClr val="F7F3EE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Kotlin/JVM · se compila a bytecode que ejecuta la máquina virtual de Java; se programa sobre todo con clases y objetos</a:t>
            </a:r>
            <a:endParaRPr/>
          </a:p>
        </p:txBody>
      </p:sp>
      <p:sp>
        <p:nvSpPr>
          <p:cNvPr id="319" name="Google Shape;319;p12"/>
          <p:cNvSpPr/>
          <p:nvPr/>
        </p:nvSpPr>
        <p:spPr>
          <a:xfrm>
            <a:off x="3772035" y="2087014"/>
            <a:ext cx="914400" cy="475500"/>
          </a:xfrm>
          <a:prstGeom prst="roundRect">
            <a:avLst>
              <a:gd fmla="val 5000" name="adj"/>
            </a:avLst>
          </a:prstGeom>
          <a:solidFill>
            <a:srgbClr val="F3E6DA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Alto</a:t>
            </a:r>
            <a:endParaRPr/>
          </a:p>
        </p:txBody>
      </p:sp>
      <p:sp>
        <p:nvSpPr>
          <p:cNvPr id="320" name="Google Shape;320;p12"/>
          <p:cNvSpPr/>
          <p:nvPr/>
        </p:nvSpPr>
        <p:spPr>
          <a:xfrm>
            <a:off x="4686435" y="2087014"/>
            <a:ext cx="1828800" cy="475500"/>
          </a:xfrm>
          <a:prstGeom prst="roundRect">
            <a:avLst>
              <a:gd fmla="val 5000" name="adj"/>
            </a:avLst>
          </a:prstGeom>
          <a:solidFill>
            <a:srgbClr val="F3E6DA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Código intermedio / JVM</a:t>
            </a:r>
            <a:endParaRPr/>
          </a:p>
        </p:txBody>
      </p:sp>
      <p:sp>
        <p:nvSpPr>
          <p:cNvPr id="321" name="Google Shape;321;p12"/>
          <p:cNvSpPr/>
          <p:nvPr/>
        </p:nvSpPr>
        <p:spPr>
          <a:xfrm>
            <a:off x="6515235" y="2087014"/>
            <a:ext cx="1920300" cy="475500"/>
          </a:xfrm>
          <a:prstGeom prst="roundRect">
            <a:avLst>
              <a:gd fmla="val 5000" name="adj"/>
            </a:avLst>
          </a:prstGeom>
          <a:solidFill>
            <a:srgbClr val="F3E6DA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Orientado a objetos (multiparadigma)</a:t>
            </a:r>
            <a:endParaRPr/>
          </a:p>
        </p:txBody>
      </p:sp>
      <p:sp>
        <p:nvSpPr>
          <p:cNvPr id="322" name="Google Shape;322;p12"/>
          <p:cNvSpPr/>
          <p:nvPr/>
        </p:nvSpPr>
        <p:spPr>
          <a:xfrm>
            <a:off x="663075" y="2599078"/>
            <a:ext cx="3108900" cy="475500"/>
          </a:xfrm>
          <a:prstGeom prst="roundRect">
            <a:avLst>
              <a:gd fmla="val 5000" name="adj"/>
            </a:avLst>
          </a:prstGeom>
          <a:solidFill>
            <a:srgbClr val="F7F3EE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Bash · el intérprete de la consola ejecuta el guion: órdenes una detrás de otra</a:t>
            </a:r>
            <a:endParaRPr/>
          </a:p>
        </p:txBody>
      </p:sp>
      <p:sp>
        <p:nvSpPr>
          <p:cNvPr id="323" name="Google Shape;323;p12"/>
          <p:cNvSpPr/>
          <p:nvPr/>
        </p:nvSpPr>
        <p:spPr>
          <a:xfrm>
            <a:off x="3772035" y="2599078"/>
            <a:ext cx="914400" cy="475500"/>
          </a:xfrm>
          <a:prstGeom prst="roundRect">
            <a:avLst>
              <a:gd fmla="val 5000" name="adj"/>
            </a:avLst>
          </a:prstGeom>
          <a:solidFill>
            <a:srgbClr val="F3E6DA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Alto</a:t>
            </a:r>
            <a:endParaRPr/>
          </a:p>
        </p:txBody>
      </p:sp>
      <p:sp>
        <p:nvSpPr>
          <p:cNvPr id="324" name="Google Shape;324;p12"/>
          <p:cNvSpPr/>
          <p:nvPr/>
        </p:nvSpPr>
        <p:spPr>
          <a:xfrm>
            <a:off x="4686435" y="2599078"/>
            <a:ext cx="1828800" cy="475500"/>
          </a:xfrm>
          <a:prstGeom prst="roundRect">
            <a:avLst>
              <a:gd fmla="val 5000" name="adj"/>
            </a:avLst>
          </a:prstGeom>
          <a:solidFill>
            <a:srgbClr val="F3E6DA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Interpretación</a:t>
            </a:r>
            <a:endParaRPr/>
          </a:p>
        </p:txBody>
      </p:sp>
      <p:sp>
        <p:nvSpPr>
          <p:cNvPr id="325" name="Google Shape;325;p12"/>
          <p:cNvSpPr/>
          <p:nvPr/>
        </p:nvSpPr>
        <p:spPr>
          <a:xfrm>
            <a:off x="6515235" y="2599078"/>
            <a:ext cx="1920300" cy="475500"/>
          </a:xfrm>
          <a:prstGeom prst="roundRect">
            <a:avLst>
              <a:gd fmla="val 5000" name="adj"/>
            </a:avLst>
          </a:prstGeom>
          <a:solidFill>
            <a:srgbClr val="F3E6DA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Imperativo / estructurado</a:t>
            </a:r>
            <a:endParaRPr/>
          </a:p>
        </p:txBody>
      </p:sp>
      <p:sp>
        <p:nvSpPr>
          <p:cNvPr id="326" name="Google Shape;326;p12"/>
          <p:cNvSpPr/>
          <p:nvPr/>
        </p:nvSpPr>
        <p:spPr>
          <a:xfrm>
            <a:off x="663075" y="3111142"/>
            <a:ext cx="3108900" cy="475500"/>
          </a:xfrm>
          <a:prstGeom prst="roundRect">
            <a:avLst>
              <a:gd fmla="val 5000" name="adj"/>
            </a:avLst>
          </a:prstGeom>
          <a:solidFill>
            <a:srgbClr val="F7F3EE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Ensamblador ARM · instrucciones muy próximas a las del procesador de un móvil</a:t>
            </a:r>
            <a:endParaRPr/>
          </a:p>
        </p:txBody>
      </p:sp>
      <p:sp>
        <p:nvSpPr>
          <p:cNvPr id="327" name="Google Shape;327;p12"/>
          <p:cNvSpPr/>
          <p:nvPr/>
        </p:nvSpPr>
        <p:spPr>
          <a:xfrm>
            <a:off x="3772035" y="3111142"/>
            <a:ext cx="914400" cy="475500"/>
          </a:xfrm>
          <a:prstGeom prst="roundRect">
            <a:avLst>
              <a:gd fmla="val 5000" name="adj"/>
            </a:avLst>
          </a:prstGeom>
          <a:solidFill>
            <a:srgbClr val="F3E6DA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Bajo</a:t>
            </a:r>
            <a:endParaRPr/>
          </a:p>
        </p:txBody>
      </p:sp>
      <p:sp>
        <p:nvSpPr>
          <p:cNvPr id="328" name="Google Shape;328;p12"/>
          <p:cNvSpPr/>
          <p:nvPr/>
        </p:nvSpPr>
        <p:spPr>
          <a:xfrm>
            <a:off x="4686435" y="3111142"/>
            <a:ext cx="1828800" cy="475500"/>
          </a:xfrm>
          <a:prstGeom prst="roundRect">
            <a:avLst>
              <a:gd fmla="val 5000" name="adj"/>
            </a:avLst>
          </a:prstGeom>
          <a:solidFill>
            <a:srgbClr val="F3E6DA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Ensamblado a código máquina</a:t>
            </a:r>
            <a:endParaRPr/>
          </a:p>
        </p:txBody>
      </p:sp>
      <p:sp>
        <p:nvSpPr>
          <p:cNvPr id="329" name="Google Shape;329;p12"/>
          <p:cNvSpPr/>
          <p:nvPr/>
        </p:nvSpPr>
        <p:spPr>
          <a:xfrm>
            <a:off x="6515235" y="3111142"/>
            <a:ext cx="1920300" cy="475500"/>
          </a:xfrm>
          <a:prstGeom prst="roundRect">
            <a:avLst>
              <a:gd fmla="val 5000" name="adj"/>
            </a:avLst>
          </a:prstGeom>
          <a:solidFill>
            <a:srgbClr val="F3E6DA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Imperativo de bajo nivel</a:t>
            </a:r>
            <a:endParaRPr/>
          </a:p>
        </p:txBody>
      </p:sp>
      <p:sp>
        <p:nvSpPr>
          <p:cNvPr id="330" name="Google Shape;330;p12"/>
          <p:cNvSpPr/>
          <p:nvPr/>
        </p:nvSpPr>
        <p:spPr>
          <a:xfrm>
            <a:off x="663075" y="3623206"/>
            <a:ext cx="3108900" cy="475500"/>
          </a:xfrm>
          <a:prstGeom prst="roundRect">
            <a:avLst>
              <a:gd fmla="val 5000" name="adj"/>
            </a:avLst>
          </a:prstGeom>
          <a:solidFill>
            <a:srgbClr val="F7F3EE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Haskell con GHC · se compila a código nativo; todo son funciones que transforman valores</a:t>
            </a:r>
            <a:endParaRPr/>
          </a:p>
        </p:txBody>
      </p:sp>
      <p:sp>
        <p:nvSpPr>
          <p:cNvPr id="331" name="Google Shape;331;p12"/>
          <p:cNvSpPr/>
          <p:nvPr/>
        </p:nvSpPr>
        <p:spPr>
          <a:xfrm>
            <a:off x="3772035" y="3623206"/>
            <a:ext cx="914400" cy="475500"/>
          </a:xfrm>
          <a:prstGeom prst="roundRect">
            <a:avLst>
              <a:gd fmla="val 5000" name="adj"/>
            </a:avLst>
          </a:prstGeom>
          <a:solidFill>
            <a:srgbClr val="F3E6DA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Alto</a:t>
            </a:r>
            <a:endParaRPr/>
          </a:p>
        </p:txBody>
      </p:sp>
      <p:sp>
        <p:nvSpPr>
          <p:cNvPr id="332" name="Google Shape;332;p12"/>
          <p:cNvSpPr/>
          <p:nvPr/>
        </p:nvSpPr>
        <p:spPr>
          <a:xfrm>
            <a:off x="4686435" y="3623206"/>
            <a:ext cx="1828800" cy="475500"/>
          </a:xfrm>
          <a:prstGeom prst="roundRect">
            <a:avLst>
              <a:gd fmla="val 5000" name="adj"/>
            </a:avLst>
          </a:prstGeom>
          <a:solidFill>
            <a:srgbClr val="F3E6DA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Compilación nativa (en este ejemplo)</a:t>
            </a:r>
            <a:endParaRPr/>
          </a:p>
        </p:txBody>
      </p:sp>
      <p:sp>
        <p:nvSpPr>
          <p:cNvPr id="333" name="Google Shape;333;p12"/>
          <p:cNvSpPr/>
          <p:nvPr/>
        </p:nvSpPr>
        <p:spPr>
          <a:xfrm>
            <a:off x="6515235" y="3623206"/>
            <a:ext cx="1920300" cy="475500"/>
          </a:xfrm>
          <a:prstGeom prst="roundRect">
            <a:avLst>
              <a:gd fmla="val 5000" name="adj"/>
            </a:avLst>
          </a:prstGeom>
          <a:solidFill>
            <a:srgbClr val="F3E6DA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Funcional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3EE"/>
        </a:solidFill>
      </p:bgPr>
    </p:bg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3"/>
          <p:cNvSpPr/>
          <p:nvPr/>
        </p:nvSpPr>
        <p:spPr>
          <a:xfrm>
            <a:off x="502920" y="34747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449"/>
              </a:buClr>
              <a:buSzPts val="1050"/>
              <a:buFont typeface="Poppins Medium"/>
              <a:buNone/>
            </a:pPr>
            <a:r>
              <a:rPr b="0" i="0" lang="en-US" sz="1050" u="none" cap="none" strike="noStrike">
                <a:solidFill>
                  <a:srgbClr val="4A544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UT1 · EL DESARROLLO DE SOFTWARE Y SUS FASES</a:t>
            </a:r>
            <a:endParaRPr b="0" i="0" sz="105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39" name="Google Shape;339;p13"/>
          <p:cNvSpPr/>
          <p:nvPr/>
        </p:nvSpPr>
        <p:spPr>
          <a:xfrm>
            <a:off x="502920" y="594360"/>
            <a:ext cx="566928" cy="566928"/>
          </a:xfrm>
          <a:prstGeom prst="ellipse">
            <a:avLst/>
          </a:prstGeom>
          <a:solidFill>
            <a:srgbClr val="E694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icons/edit_navy.png" id="340" name="Google Shape;34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321" y="741761"/>
            <a:ext cx="272125" cy="272125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13"/>
          <p:cNvSpPr/>
          <p:nvPr/>
        </p:nvSpPr>
        <p:spPr>
          <a:xfrm>
            <a:off x="1234440" y="594360"/>
            <a:ext cx="3657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A1D"/>
              </a:buClr>
              <a:buSzPts val="2100"/>
              <a:buFont typeface="Poppins SemiBold"/>
              <a:buNone/>
            </a:pPr>
            <a:r>
              <a:rPr b="1" i="0" lang="en-US" sz="2100" u="none" cap="none" strike="noStrike">
                <a:solidFill>
                  <a:srgbClr val="152A1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Clasifica los lenguajes</a:t>
            </a:r>
            <a:endParaRPr b="0" i="0" sz="21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42" name="Google Shape;342;p13"/>
          <p:cNvSpPr/>
          <p:nvPr/>
        </p:nvSpPr>
        <p:spPr>
          <a:xfrm>
            <a:off x="7040880" y="667512"/>
            <a:ext cx="1600200" cy="384048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13"/>
          <p:cNvSpPr/>
          <p:nvPr/>
        </p:nvSpPr>
        <p:spPr>
          <a:xfrm>
            <a:off x="7104888" y="722376"/>
            <a:ext cx="274320" cy="274320"/>
          </a:xfrm>
          <a:prstGeom prst="ellipse">
            <a:avLst/>
          </a:prstGeom>
          <a:solidFill>
            <a:srgbClr val="E694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icons/clock_navy.png" id="344" name="Google Shape;344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76211" y="793699"/>
            <a:ext cx="131674" cy="131674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13"/>
          <p:cNvSpPr/>
          <p:nvPr/>
        </p:nvSpPr>
        <p:spPr>
          <a:xfrm>
            <a:off x="7452360" y="667512"/>
            <a:ext cx="1143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A1D"/>
              </a:buClr>
              <a:buSzPts val="1100"/>
              <a:buFont typeface="Poppins Medium"/>
              <a:buNone/>
            </a:pPr>
            <a:r>
              <a:rPr b="0" i="0" lang="en-US" sz="1100" u="none" cap="none" strike="noStrike">
                <a:solidFill>
                  <a:srgbClr val="152A1D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15 minutos</a:t>
            </a:r>
            <a:endParaRPr b="0" i="0" sz="11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46" name="Google Shape;346;p13"/>
          <p:cNvSpPr/>
          <p:nvPr/>
        </p:nvSpPr>
        <p:spPr>
          <a:xfrm>
            <a:off x="502920" y="1417320"/>
            <a:ext cx="8138160" cy="3200400"/>
          </a:xfrm>
          <a:prstGeom prst="roundRect">
            <a:avLst>
              <a:gd fmla="val 2286" name="adj"/>
            </a:avLst>
          </a:prstGeom>
          <a:solidFill>
            <a:srgbClr val="FFFFFF"/>
          </a:solidFill>
          <a:ln>
            <a:noFill/>
          </a:ln>
          <a:effectLst>
            <a:outerShdw blurRad="127000" rotWithShape="0" algn="bl" dir="5400000" dist="38100">
              <a:srgbClr val="0A150F">
                <a:alpha val="1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13"/>
          <p:cNvSpPr/>
          <p:nvPr/>
        </p:nvSpPr>
        <p:spPr>
          <a:xfrm>
            <a:off x="822960" y="1645920"/>
            <a:ext cx="329184" cy="329184"/>
          </a:xfrm>
          <a:prstGeom prst="ellipse">
            <a:avLst/>
          </a:prstGeom>
          <a:solidFill>
            <a:srgbClr val="E694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13"/>
          <p:cNvSpPr/>
          <p:nvPr/>
        </p:nvSpPr>
        <p:spPr>
          <a:xfrm>
            <a:off x="822960" y="1645920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A1D"/>
              </a:buClr>
              <a:buSzPts val="1200"/>
              <a:buFont typeface="Poppins SemiBold"/>
              <a:buNone/>
            </a:pPr>
            <a:r>
              <a:rPr b="0" i="0" lang="en-US" sz="1200" u="none" cap="none" strike="noStrike">
                <a:solidFill>
                  <a:srgbClr val="152A1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49" name="Google Shape;349;p13"/>
          <p:cNvSpPr/>
          <p:nvPr/>
        </p:nvSpPr>
        <p:spPr>
          <a:xfrm>
            <a:off x="1307592" y="1600200"/>
            <a:ext cx="6949440" cy="7086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7269"/>
              </a:buClr>
              <a:buSzPts val="1300"/>
              <a:buFont typeface="Poppins Light"/>
              <a:buNone/>
            </a:pPr>
            <a:r>
              <a:rPr b="0" i="1" lang="en-US" sz="1100" u="none" cap="none" strike="noStrike">
                <a:solidFill>
                  <a:srgbClr val="6B7269"/>
                </a:solidFill>
                <a:latin typeface="Poppins Light"/>
                <a:ea typeface="Poppins Light"/>
                <a:cs typeface="Poppins Light"/>
                <a:sym typeface="Poppins Light"/>
              </a:rPr>
              <a:t>Lees la ficha de cada lenguaje y localizas las pistas necesarias.</a:t>
            </a:r>
            <a:endParaRPr b="0" i="0" sz="13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0" name="Google Shape;350;p13"/>
          <p:cNvSpPr/>
          <p:nvPr/>
        </p:nvSpPr>
        <p:spPr>
          <a:xfrm>
            <a:off x="822960" y="2354580"/>
            <a:ext cx="329184" cy="329184"/>
          </a:xfrm>
          <a:prstGeom prst="ellipse">
            <a:avLst/>
          </a:prstGeom>
          <a:solidFill>
            <a:srgbClr val="E694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13"/>
          <p:cNvSpPr/>
          <p:nvPr/>
        </p:nvSpPr>
        <p:spPr>
          <a:xfrm>
            <a:off x="822960" y="2354580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A1D"/>
              </a:buClr>
              <a:buSzPts val="1200"/>
              <a:buFont typeface="Poppins SemiBold"/>
              <a:buNone/>
            </a:pPr>
            <a:r>
              <a:rPr b="0" i="0" lang="en-US" sz="1200" u="none" cap="none" strike="noStrike">
                <a:solidFill>
                  <a:srgbClr val="152A1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2" name="Google Shape;352;p13"/>
          <p:cNvSpPr/>
          <p:nvPr/>
        </p:nvSpPr>
        <p:spPr>
          <a:xfrm>
            <a:off x="1307592" y="2308860"/>
            <a:ext cx="6949440" cy="7086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7269"/>
              </a:buClr>
              <a:buSzPts val="1300"/>
              <a:buFont typeface="Poppins Light"/>
              <a:buNone/>
            </a:pPr>
            <a:r>
              <a:rPr b="0" i="1" lang="en-US" sz="1100" u="none" cap="none" strike="noStrike">
                <a:solidFill>
                  <a:srgbClr val="6B7269"/>
                </a:solidFill>
                <a:latin typeface="Poppins Light"/>
                <a:ea typeface="Poppins Light"/>
                <a:cs typeface="Poppins Light"/>
                <a:sym typeface="Poppins Light"/>
              </a:rPr>
              <a:t>Describes cada uno según los tres ejes: nivel de abstracción, modelo de ejecución y paradigma predominante.</a:t>
            </a:r>
            <a:endParaRPr b="0" i="0" sz="13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3" name="Google Shape;353;p13"/>
          <p:cNvSpPr/>
          <p:nvPr/>
        </p:nvSpPr>
        <p:spPr>
          <a:xfrm>
            <a:off x="822960" y="3063240"/>
            <a:ext cx="329184" cy="329184"/>
          </a:xfrm>
          <a:prstGeom prst="ellipse">
            <a:avLst/>
          </a:prstGeom>
          <a:solidFill>
            <a:srgbClr val="E694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13"/>
          <p:cNvSpPr/>
          <p:nvPr/>
        </p:nvSpPr>
        <p:spPr>
          <a:xfrm>
            <a:off x="822960" y="3063240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A1D"/>
              </a:buClr>
              <a:buSzPts val="1200"/>
              <a:buFont typeface="Poppins SemiBold"/>
              <a:buNone/>
            </a:pPr>
            <a:r>
              <a:rPr b="0" i="0" lang="en-US" sz="1200" u="none" cap="none" strike="noStrike">
                <a:solidFill>
                  <a:srgbClr val="152A1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5" name="Google Shape;355;p13"/>
          <p:cNvSpPr/>
          <p:nvPr/>
        </p:nvSpPr>
        <p:spPr>
          <a:xfrm>
            <a:off x="1307592" y="3017520"/>
            <a:ext cx="6949440" cy="7086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7269"/>
              </a:buClr>
              <a:buSzPts val="1300"/>
              <a:buFont typeface="Poppins Light"/>
              <a:buNone/>
            </a:pPr>
            <a:r>
              <a:rPr b="0" i="1" lang="en-US" sz="1100" u="none" cap="none" strike="noStrike">
                <a:solidFill>
                  <a:srgbClr val="6B7269"/>
                </a:solidFill>
                <a:latin typeface="Poppins Light"/>
                <a:ea typeface="Poppins Light"/>
                <a:cs typeface="Poppins Light"/>
                <a:sym typeface="Poppins Light"/>
              </a:rPr>
              <a:t>Eliges una opción para una aplicación multiplataforma y justificas la decisión con al menos dos criterios.</a:t>
            </a:r>
            <a:endParaRPr b="0" i="0" sz="13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6" name="Google Shape;356;p13"/>
          <p:cNvSpPr/>
          <p:nvPr/>
        </p:nvSpPr>
        <p:spPr>
          <a:xfrm>
            <a:off x="4983480" y="667512"/>
            <a:ext cx="1965960" cy="384048"/>
          </a:xfrm>
          <a:prstGeom prst="roundRect">
            <a:avLst>
              <a:gd fmla="val 50000" name="adj"/>
            </a:avLst>
          </a:prstGeom>
          <a:solidFill>
            <a:srgbClr val="2C4436"/>
          </a:solidFill>
          <a:ln>
            <a:noFill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NO CUENTA PARA NOTA</a:t>
            </a:r>
            <a:endParaRPr/>
          </a:p>
        </p:txBody>
      </p:sp>
      <p:sp>
        <p:nvSpPr>
          <p:cNvPr id="357" name="Google Shape;357;p13"/>
          <p:cNvSpPr/>
          <p:nvPr/>
        </p:nvSpPr>
        <p:spPr>
          <a:xfrm>
            <a:off x="822960" y="3771900"/>
            <a:ext cx="329184" cy="329184"/>
          </a:xfrm>
          <a:prstGeom prst="ellipse">
            <a:avLst/>
          </a:prstGeom>
          <a:solidFill>
            <a:srgbClr val="E6945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endParaRPr/>
          </a:p>
        </p:txBody>
      </p:sp>
      <p:sp>
        <p:nvSpPr>
          <p:cNvPr id="358" name="Google Shape;358;p13"/>
          <p:cNvSpPr/>
          <p:nvPr/>
        </p:nvSpPr>
        <p:spPr>
          <a:xfrm>
            <a:off x="1307592" y="3726180"/>
            <a:ext cx="6949440" cy="7086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B7269"/>
                </a:solidFill>
                <a:latin typeface="Poppins Light"/>
                <a:ea typeface="Poppins Light"/>
                <a:cs typeface="Poppins Light"/>
                <a:sym typeface="Poppins Light"/>
              </a:rPr>
              <a:t>Puede haber más de una respuesta válida si está bien justificada.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2A1D"/>
        </a:solid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4"/>
          <p:cNvSpPr/>
          <p:nvPr/>
        </p:nvSpPr>
        <p:spPr>
          <a:xfrm>
            <a:off x="-1005840" y="2468880"/>
            <a:ext cx="3291840" cy="3291840"/>
          </a:xfrm>
          <a:prstGeom prst="ellipse">
            <a:avLst/>
          </a:prstGeom>
          <a:solidFill>
            <a:srgbClr val="FFFFFF">
              <a:alpha val="1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14"/>
          <p:cNvSpPr/>
          <p:nvPr/>
        </p:nvSpPr>
        <p:spPr>
          <a:xfrm>
            <a:off x="376733" y="2863901"/>
            <a:ext cx="2468880" cy="2468880"/>
          </a:xfrm>
          <a:prstGeom prst="ellipse">
            <a:avLst/>
          </a:prstGeom>
          <a:solidFill>
            <a:srgbClr val="E6945A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14"/>
          <p:cNvSpPr/>
          <p:nvPr/>
        </p:nvSpPr>
        <p:spPr>
          <a:xfrm>
            <a:off x="4663440" y="502920"/>
            <a:ext cx="3977640" cy="4206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4436"/>
              </a:buClr>
              <a:buSzPts val="22000"/>
              <a:buFont typeface="Poppins SemiBold"/>
              <a:buNone/>
            </a:pPr>
            <a:r>
              <a:rPr b="1" i="0" lang="en-US" sz="22000" u="none" cap="none" strike="noStrike">
                <a:solidFill>
                  <a:srgbClr val="2C443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03</a:t>
            </a:r>
            <a:endParaRPr b="0" i="0" sz="22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6" name="Google Shape;366;p14"/>
          <p:cNvSpPr/>
          <p:nvPr/>
        </p:nvSpPr>
        <p:spPr>
          <a:xfrm>
            <a:off x="502920" y="196596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945A"/>
              </a:buClr>
              <a:buSzPts val="1300"/>
              <a:buFont typeface="Poppins Medium"/>
              <a:buNone/>
            </a:pPr>
            <a:r>
              <a:rPr b="0" i="0" lang="en-US" sz="1300" u="none" cap="none" strike="noStrike">
                <a:solidFill>
                  <a:srgbClr val="E6945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UNIDAD 1</a:t>
            </a:r>
            <a:endParaRPr b="0" i="0" sz="13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7" name="Google Shape;367;p14"/>
          <p:cNvSpPr/>
          <p:nvPr/>
        </p:nvSpPr>
        <p:spPr>
          <a:xfrm>
            <a:off x="502920" y="2286000"/>
            <a:ext cx="512064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Poppins SemiBold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Las fases del</a:t>
            </a:r>
            <a:endParaRPr b="0" i="0" sz="3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Poppins SemiBold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desarrollo de software</a:t>
            </a:r>
            <a:endParaRPr b="0" i="0" sz="3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5"/>
          <p:cNvSpPr/>
          <p:nvPr/>
        </p:nvSpPr>
        <p:spPr>
          <a:xfrm>
            <a:off x="502920" y="34747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449"/>
              </a:buClr>
              <a:buSzPts val="1050"/>
              <a:buFont typeface="Poppins Medium"/>
              <a:buNone/>
            </a:pPr>
            <a:r>
              <a:rPr b="0" i="0" lang="en-US" sz="1050" u="none" cap="none" strike="noStrike">
                <a:solidFill>
                  <a:srgbClr val="4A544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UT1 · EL DESARROLLO DE SOFTWARE Y SUS FASES</a:t>
            </a:r>
            <a:endParaRPr b="0" i="0" sz="105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73" name="Google Shape;373;p15"/>
          <p:cNvSpPr/>
          <p:nvPr/>
        </p:nvSpPr>
        <p:spPr>
          <a:xfrm>
            <a:off x="7223760" y="594360"/>
            <a:ext cx="1417320" cy="365760"/>
          </a:xfrm>
          <a:prstGeom prst="roundRect">
            <a:avLst>
              <a:gd fmla="val 15000" name="adj"/>
            </a:avLst>
          </a:prstGeom>
          <a:solidFill>
            <a:srgbClr val="F7F3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15"/>
          <p:cNvSpPr/>
          <p:nvPr/>
        </p:nvSpPr>
        <p:spPr>
          <a:xfrm>
            <a:off x="7223760" y="594360"/>
            <a:ext cx="1417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A1D"/>
              </a:buClr>
              <a:buSzPts val="1000"/>
              <a:buFont typeface="Poppins Medium"/>
              <a:buNone/>
            </a:pPr>
            <a:r>
              <a:rPr b="0" i="0" lang="en-US" sz="1000" u="none" cap="none" strike="noStrike">
                <a:solidFill>
                  <a:srgbClr val="152A1D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CONCEPTO</a:t>
            </a:r>
            <a:endParaRPr b="0" i="0" sz="1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75" name="Google Shape;375;p15"/>
          <p:cNvSpPr/>
          <p:nvPr/>
        </p:nvSpPr>
        <p:spPr>
          <a:xfrm>
            <a:off x="502920" y="566928"/>
            <a:ext cx="5760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A1D"/>
              </a:buClr>
              <a:buSzPts val="2500"/>
              <a:buFont typeface="Poppins SemiBold"/>
              <a:buNone/>
            </a:pPr>
            <a:r>
              <a:rPr b="1" i="0" lang="en-US" sz="2500" u="none" cap="none" strike="noStrike">
                <a:solidFill>
                  <a:srgbClr val="152A1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Siete fases, no solo programar</a:t>
            </a:r>
            <a:endParaRPr b="0" i="0" sz="2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76" name="Google Shape;376;p15"/>
          <p:cNvSpPr/>
          <p:nvPr/>
        </p:nvSpPr>
        <p:spPr>
          <a:xfrm>
            <a:off x="502920" y="1371600"/>
            <a:ext cx="8138160" cy="3246120"/>
          </a:xfrm>
          <a:prstGeom prst="roundRect">
            <a:avLst>
              <a:gd fmla="val 2254" name="adj"/>
            </a:avLst>
          </a:prstGeom>
          <a:solidFill>
            <a:srgbClr val="FBF8F5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15"/>
          <p:cNvSpPr/>
          <p:nvPr/>
        </p:nvSpPr>
        <p:spPr>
          <a:xfrm>
            <a:off x="685800" y="1463040"/>
            <a:ext cx="7772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Desarrollar software no consiste solo en programar. Desde que aparece una necesidad hasta que el sistema se mantiene y evoluciona intervienen varias fases.</a:t>
            </a:r>
            <a:endParaRPr/>
          </a:p>
        </p:txBody>
      </p:sp>
      <p:sp>
        <p:nvSpPr>
          <p:cNvPr id="378" name="Google Shape;378;p15"/>
          <p:cNvSpPr/>
          <p:nvPr/>
        </p:nvSpPr>
        <p:spPr>
          <a:xfrm>
            <a:off x="685800" y="1938528"/>
            <a:ext cx="1161288" cy="822960"/>
          </a:xfrm>
          <a:prstGeom prst="roundRect">
            <a:avLst>
              <a:gd fmla="val 12000" name="adj"/>
            </a:avLst>
          </a:prstGeom>
          <a:solidFill>
            <a:srgbClr val="F7F3EE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15"/>
          <p:cNvSpPr/>
          <p:nvPr/>
        </p:nvSpPr>
        <p:spPr>
          <a:xfrm>
            <a:off x="777240" y="2029968"/>
            <a:ext cx="274320" cy="274320"/>
          </a:xfrm>
          <a:prstGeom prst="ellipse">
            <a:avLst/>
          </a:prstGeom>
          <a:solidFill>
            <a:srgbClr val="E6945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/>
          </a:p>
        </p:txBody>
      </p:sp>
      <p:sp>
        <p:nvSpPr>
          <p:cNvPr id="380" name="Google Shape;380;p15"/>
          <p:cNvSpPr/>
          <p:nvPr/>
        </p:nvSpPr>
        <p:spPr>
          <a:xfrm>
            <a:off x="722376" y="2340864"/>
            <a:ext cx="1088136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Análisis</a:t>
            </a:r>
            <a:endParaRPr/>
          </a:p>
        </p:txBody>
      </p:sp>
      <p:cxnSp>
        <p:nvCxnSpPr>
          <p:cNvPr id="381" name="Google Shape;381;p15"/>
          <p:cNvCxnSpPr/>
          <p:nvPr/>
        </p:nvCxnSpPr>
        <p:spPr>
          <a:xfrm>
            <a:off x="1847088" y="2350008"/>
            <a:ext cx="160934" cy="0"/>
          </a:xfrm>
          <a:prstGeom prst="straightConnector1">
            <a:avLst/>
          </a:prstGeom>
          <a:noFill/>
          <a:ln cap="flat" cmpd="sng" w="19050">
            <a:solidFill>
              <a:srgbClr val="E6945A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82" name="Google Shape;382;p15"/>
          <p:cNvSpPr/>
          <p:nvPr/>
        </p:nvSpPr>
        <p:spPr>
          <a:xfrm>
            <a:off x="2008022" y="1938528"/>
            <a:ext cx="1161288" cy="822960"/>
          </a:xfrm>
          <a:prstGeom prst="roundRect">
            <a:avLst>
              <a:gd fmla="val 12000" name="adj"/>
            </a:avLst>
          </a:prstGeom>
          <a:solidFill>
            <a:srgbClr val="F7F3EE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15"/>
          <p:cNvSpPr/>
          <p:nvPr/>
        </p:nvSpPr>
        <p:spPr>
          <a:xfrm>
            <a:off x="2099462" y="2029968"/>
            <a:ext cx="274320" cy="274320"/>
          </a:xfrm>
          <a:prstGeom prst="ellipse">
            <a:avLst/>
          </a:prstGeom>
          <a:solidFill>
            <a:srgbClr val="E6945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/>
          </a:p>
        </p:txBody>
      </p:sp>
      <p:sp>
        <p:nvSpPr>
          <p:cNvPr id="384" name="Google Shape;384;p15"/>
          <p:cNvSpPr/>
          <p:nvPr/>
        </p:nvSpPr>
        <p:spPr>
          <a:xfrm>
            <a:off x="2044598" y="2340864"/>
            <a:ext cx="1088136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Diseño</a:t>
            </a:r>
            <a:endParaRPr/>
          </a:p>
        </p:txBody>
      </p:sp>
      <p:cxnSp>
        <p:nvCxnSpPr>
          <p:cNvPr id="385" name="Google Shape;385;p15"/>
          <p:cNvCxnSpPr/>
          <p:nvPr/>
        </p:nvCxnSpPr>
        <p:spPr>
          <a:xfrm>
            <a:off x="3169310" y="2350008"/>
            <a:ext cx="160934" cy="0"/>
          </a:xfrm>
          <a:prstGeom prst="straightConnector1">
            <a:avLst/>
          </a:prstGeom>
          <a:noFill/>
          <a:ln cap="flat" cmpd="sng" w="19050">
            <a:solidFill>
              <a:srgbClr val="E6945A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86" name="Google Shape;386;p15"/>
          <p:cNvSpPr/>
          <p:nvPr/>
        </p:nvSpPr>
        <p:spPr>
          <a:xfrm>
            <a:off x="3330244" y="1938528"/>
            <a:ext cx="1161288" cy="822960"/>
          </a:xfrm>
          <a:prstGeom prst="roundRect">
            <a:avLst>
              <a:gd fmla="val 12000" name="adj"/>
            </a:avLst>
          </a:prstGeom>
          <a:solidFill>
            <a:srgbClr val="F3E6DA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15"/>
          <p:cNvSpPr/>
          <p:nvPr/>
        </p:nvSpPr>
        <p:spPr>
          <a:xfrm>
            <a:off x="3421684" y="2029968"/>
            <a:ext cx="274320" cy="274320"/>
          </a:xfrm>
          <a:prstGeom prst="ellipse">
            <a:avLst/>
          </a:prstGeom>
          <a:solidFill>
            <a:srgbClr val="E6945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/>
          </a:p>
        </p:txBody>
      </p:sp>
      <p:sp>
        <p:nvSpPr>
          <p:cNvPr id="388" name="Google Shape;388;p15"/>
          <p:cNvSpPr/>
          <p:nvPr/>
        </p:nvSpPr>
        <p:spPr>
          <a:xfrm>
            <a:off x="3366820" y="2340864"/>
            <a:ext cx="1088136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Codificación</a:t>
            </a:r>
            <a:endParaRPr/>
          </a:p>
        </p:txBody>
      </p:sp>
      <p:cxnSp>
        <p:nvCxnSpPr>
          <p:cNvPr id="389" name="Google Shape;389;p15"/>
          <p:cNvCxnSpPr/>
          <p:nvPr/>
        </p:nvCxnSpPr>
        <p:spPr>
          <a:xfrm>
            <a:off x="4491532" y="2350008"/>
            <a:ext cx="160935" cy="0"/>
          </a:xfrm>
          <a:prstGeom prst="straightConnector1">
            <a:avLst/>
          </a:prstGeom>
          <a:noFill/>
          <a:ln cap="flat" cmpd="sng" w="19050">
            <a:solidFill>
              <a:srgbClr val="E6945A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90" name="Google Shape;390;p15"/>
          <p:cNvSpPr/>
          <p:nvPr/>
        </p:nvSpPr>
        <p:spPr>
          <a:xfrm>
            <a:off x="4652467" y="1938528"/>
            <a:ext cx="1161288" cy="822960"/>
          </a:xfrm>
          <a:prstGeom prst="roundRect">
            <a:avLst>
              <a:gd fmla="val 12000" name="adj"/>
            </a:avLst>
          </a:prstGeom>
          <a:solidFill>
            <a:srgbClr val="F7F3EE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15"/>
          <p:cNvSpPr/>
          <p:nvPr/>
        </p:nvSpPr>
        <p:spPr>
          <a:xfrm>
            <a:off x="4743907" y="2029968"/>
            <a:ext cx="274320" cy="274320"/>
          </a:xfrm>
          <a:prstGeom prst="ellipse">
            <a:avLst/>
          </a:prstGeom>
          <a:solidFill>
            <a:srgbClr val="E6945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endParaRPr/>
          </a:p>
        </p:txBody>
      </p:sp>
      <p:sp>
        <p:nvSpPr>
          <p:cNvPr id="392" name="Google Shape;392;p15"/>
          <p:cNvSpPr/>
          <p:nvPr/>
        </p:nvSpPr>
        <p:spPr>
          <a:xfrm>
            <a:off x="4689043" y="2340864"/>
            <a:ext cx="1088136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Pruebas</a:t>
            </a:r>
            <a:endParaRPr/>
          </a:p>
        </p:txBody>
      </p:sp>
      <p:cxnSp>
        <p:nvCxnSpPr>
          <p:cNvPr id="393" name="Google Shape;393;p15"/>
          <p:cNvCxnSpPr/>
          <p:nvPr/>
        </p:nvCxnSpPr>
        <p:spPr>
          <a:xfrm>
            <a:off x="5813755" y="2350008"/>
            <a:ext cx="160934" cy="0"/>
          </a:xfrm>
          <a:prstGeom prst="straightConnector1">
            <a:avLst/>
          </a:prstGeom>
          <a:noFill/>
          <a:ln cap="flat" cmpd="sng" w="19050">
            <a:solidFill>
              <a:srgbClr val="E6945A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94" name="Google Shape;394;p15"/>
          <p:cNvSpPr/>
          <p:nvPr/>
        </p:nvSpPr>
        <p:spPr>
          <a:xfrm>
            <a:off x="5974689" y="1938528"/>
            <a:ext cx="1161288" cy="822960"/>
          </a:xfrm>
          <a:prstGeom prst="roundRect">
            <a:avLst>
              <a:gd fmla="val 12000" name="adj"/>
            </a:avLst>
          </a:prstGeom>
          <a:solidFill>
            <a:srgbClr val="F7F3EE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15"/>
          <p:cNvSpPr/>
          <p:nvPr/>
        </p:nvSpPr>
        <p:spPr>
          <a:xfrm>
            <a:off x="6066129" y="2029968"/>
            <a:ext cx="274320" cy="274320"/>
          </a:xfrm>
          <a:prstGeom prst="ellipse">
            <a:avLst/>
          </a:prstGeom>
          <a:solidFill>
            <a:srgbClr val="E6945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5</a:t>
            </a:r>
            <a:endParaRPr/>
          </a:p>
        </p:txBody>
      </p:sp>
      <p:sp>
        <p:nvSpPr>
          <p:cNvPr id="396" name="Google Shape;396;p15"/>
          <p:cNvSpPr/>
          <p:nvPr/>
        </p:nvSpPr>
        <p:spPr>
          <a:xfrm>
            <a:off x="6011265" y="2340864"/>
            <a:ext cx="1088136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Documentación</a:t>
            </a:r>
            <a:endParaRPr/>
          </a:p>
        </p:txBody>
      </p:sp>
      <p:cxnSp>
        <p:nvCxnSpPr>
          <p:cNvPr id="397" name="Google Shape;397;p15"/>
          <p:cNvCxnSpPr/>
          <p:nvPr/>
        </p:nvCxnSpPr>
        <p:spPr>
          <a:xfrm>
            <a:off x="7135977" y="2350008"/>
            <a:ext cx="160935" cy="0"/>
          </a:xfrm>
          <a:prstGeom prst="straightConnector1">
            <a:avLst/>
          </a:prstGeom>
          <a:noFill/>
          <a:ln cap="flat" cmpd="sng" w="19050">
            <a:solidFill>
              <a:srgbClr val="E6945A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98" name="Google Shape;398;p15"/>
          <p:cNvSpPr/>
          <p:nvPr/>
        </p:nvSpPr>
        <p:spPr>
          <a:xfrm>
            <a:off x="7296912" y="1938528"/>
            <a:ext cx="1161288" cy="822960"/>
          </a:xfrm>
          <a:prstGeom prst="roundRect">
            <a:avLst>
              <a:gd fmla="val 12000" name="adj"/>
            </a:avLst>
          </a:prstGeom>
          <a:solidFill>
            <a:srgbClr val="F7F3EE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15"/>
          <p:cNvSpPr/>
          <p:nvPr/>
        </p:nvSpPr>
        <p:spPr>
          <a:xfrm>
            <a:off x="7388352" y="2029968"/>
            <a:ext cx="274320" cy="274320"/>
          </a:xfrm>
          <a:prstGeom prst="ellipse">
            <a:avLst/>
          </a:prstGeom>
          <a:solidFill>
            <a:srgbClr val="E6945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6</a:t>
            </a:r>
            <a:endParaRPr/>
          </a:p>
        </p:txBody>
      </p:sp>
      <p:sp>
        <p:nvSpPr>
          <p:cNvPr id="400" name="Google Shape;400;p15"/>
          <p:cNvSpPr/>
          <p:nvPr/>
        </p:nvSpPr>
        <p:spPr>
          <a:xfrm>
            <a:off x="7333488" y="2340864"/>
            <a:ext cx="1088136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Explotación</a:t>
            </a:r>
            <a:endParaRPr/>
          </a:p>
        </p:txBody>
      </p:sp>
      <p:sp>
        <p:nvSpPr>
          <p:cNvPr id="401" name="Google Shape;401;p15"/>
          <p:cNvSpPr/>
          <p:nvPr/>
        </p:nvSpPr>
        <p:spPr>
          <a:xfrm>
            <a:off x="2651760" y="3127248"/>
            <a:ext cx="3840480" cy="713232"/>
          </a:xfrm>
          <a:prstGeom prst="roundRect">
            <a:avLst>
              <a:gd fmla="val 12000" name="adj"/>
            </a:avLst>
          </a:prstGeom>
          <a:solidFill>
            <a:srgbClr val="F3E6DA"/>
          </a:solidFill>
          <a:ln cap="flat" cmpd="sng" w="12700">
            <a:solidFill>
              <a:srgbClr val="E694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15"/>
          <p:cNvSpPr/>
          <p:nvPr/>
        </p:nvSpPr>
        <p:spPr>
          <a:xfrm>
            <a:off x="2743200" y="3218688"/>
            <a:ext cx="274320" cy="274320"/>
          </a:xfrm>
          <a:prstGeom prst="ellipse">
            <a:avLst/>
          </a:prstGeom>
          <a:solidFill>
            <a:srgbClr val="E6945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7</a:t>
            </a:r>
            <a:endParaRPr/>
          </a:p>
        </p:txBody>
      </p:sp>
      <p:sp>
        <p:nvSpPr>
          <p:cNvPr id="403" name="Google Shape;403;p15"/>
          <p:cNvSpPr/>
          <p:nvPr/>
        </p:nvSpPr>
        <p:spPr>
          <a:xfrm>
            <a:off x="3108960" y="320040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Mantenimiento</a:t>
            </a:r>
            <a:endParaRPr/>
          </a:p>
        </p:txBody>
      </p:sp>
      <p:sp>
        <p:nvSpPr>
          <p:cNvPr id="404" name="Google Shape;404;p15"/>
          <p:cNvSpPr/>
          <p:nvPr/>
        </p:nvSpPr>
        <p:spPr>
          <a:xfrm>
            <a:off x="3108960" y="3474720"/>
            <a:ext cx="3291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Corregir, adaptar y evolucionar. Puede provocar un nuevo análisis.</a:t>
            </a:r>
            <a:endParaRPr/>
          </a:p>
        </p:txBody>
      </p:sp>
      <p:cxnSp>
        <p:nvCxnSpPr>
          <p:cNvPr id="405" name="Google Shape;405;p15"/>
          <p:cNvCxnSpPr/>
          <p:nvPr/>
        </p:nvCxnSpPr>
        <p:spPr>
          <a:xfrm>
            <a:off x="7877556" y="2761488"/>
            <a:ext cx="0" cy="722376"/>
          </a:xfrm>
          <a:prstGeom prst="straightConnector1">
            <a:avLst/>
          </a:prstGeom>
          <a:noFill/>
          <a:ln cap="flat" cmpd="sng" w="19050">
            <a:solidFill>
              <a:srgbClr val="E6945A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406" name="Google Shape;406;p15"/>
          <p:cNvCxnSpPr/>
          <p:nvPr/>
        </p:nvCxnSpPr>
        <p:spPr>
          <a:xfrm rot="10800000">
            <a:off x="6492240" y="3483864"/>
            <a:ext cx="1385316" cy="0"/>
          </a:xfrm>
          <a:prstGeom prst="straightConnector1">
            <a:avLst/>
          </a:prstGeom>
          <a:noFill/>
          <a:ln cap="flat" cmpd="sng" w="19050">
            <a:solidFill>
              <a:srgbClr val="E6945A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407" name="Google Shape;407;p15"/>
          <p:cNvCxnSpPr/>
          <p:nvPr/>
        </p:nvCxnSpPr>
        <p:spPr>
          <a:xfrm rot="10800000">
            <a:off x="1266444" y="3483864"/>
            <a:ext cx="1385316" cy="0"/>
          </a:xfrm>
          <a:prstGeom prst="straightConnector1">
            <a:avLst/>
          </a:prstGeom>
          <a:noFill/>
          <a:ln cap="flat" cmpd="sng" w="19050">
            <a:solidFill>
              <a:srgbClr val="E6945A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408" name="Google Shape;408;p15"/>
          <p:cNvCxnSpPr/>
          <p:nvPr/>
        </p:nvCxnSpPr>
        <p:spPr>
          <a:xfrm rot="10800000">
            <a:off x="1266444" y="2761488"/>
            <a:ext cx="0" cy="722376"/>
          </a:xfrm>
          <a:prstGeom prst="straightConnector1">
            <a:avLst/>
          </a:prstGeom>
          <a:noFill/>
          <a:ln cap="flat" cmpd="sng" w="19050">
            <a:solidFill>
              <a:srgbClr val="E6945A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409" name="Google Shape;409;p15"/>
          <p:cNvSpPr/>
          <p:nvPr/>
        </p:nvSpPr>
        <p:spPr>
          <a:xfrm>
            <a:off x="685800" y="3950208"/>
            <a:ext cx="7772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E6945A"/>
                </a:solidFill>
                <a:latin typeface="Poppins"/>
                <a:ea typeface="Poppins"/>
                <a:cs typeface="Poppins"/>
                <a:sym typeface="Poppins"/>
              </a:rPr>
              <a:t>Este esquema sirve para estudiar las fases. En proyectos reales pueden solaparse y repetirse.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6"/>
          <p:cNvSpPr/>
          <p:nvPr/>
        </p:nvSpPr>
        <p:spPr>
          <a:xfrm>
            <a:off x="502920" y="34747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449"/>
              </a:buClr>
              <a:buSzPts val="1050"/>
              <a:buFont typeface="Poppins Medium"/>
              <a:buNone/>
            </a:pPr>
            <a:r>
              <a:rPr b="0" i="0" lang="en-US" sz="1050" u="none" cap="none" strike="noStrike">
                <a:solidFill>
                  <a:srgbClr val="4A544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UT1 · EL DESARROLLO DE SOFTWARE Y SUS FASES</a:t>
            </a:r>
            <a:endParaRPr b="0" i="0" sz="105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15" name="Google Shape;415;p16"/>
          <p:cNvSpPr/>
          <p:nvPr/>
        </p:nvSpPr>
        <p:spPr>
          <a:xfrm>
            <a:off x="7223760" y="594360"/>
            <a:ext cx="1417320" cy="365760"/>
          </a:xfrm>
          <a:prstGeom prst="roundRect">
            <a:avLst>
              <a:gd fmla="val 15000" name="adj"/>
            </a:avLst>
          </a:prstGeom>
          <a:solidFill>
            <a:srgbClr val="F7F3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16"/>
          <p:cNvSpPr/>
          <p:nvPr/>
        </p:nvSpPr>
        <p:spPr>
          <a:xfrm>
            <a:off x="7223760" y="594360"/>
            <a:ext cx="1417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A1D"/>
              </a:buClr>
              <a:buSzPts val="1000"/>
              <a:buFont typeface="Poppins Medium"/>
              <a:buNone/>
            </a:pPr>
            <a:r>
              <a:rPr b="0" i="0" lang="en-US" sz="1000" u="none" cap="none" strike="noStrike">
                <a:solidFill>
                  <a:srgbClr val="152A1D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CONCEPTO</a:t>
            </a:r>
            <a:endParaRPr b="0" i="0" sz="1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17" name="Google Shape;417;p16"/>
          <p:cNvSpPr/>
          <p:nvPr/>
        </p:nvSpPr>
        <p:spPr>
          <a:xfrm>
            <a:off x="502920" y="566928"/>
            <a:ext cx="5760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A1D"/>
              </a:buClr>
              <a:buSzPts val="2500"/>
              <a:buFont typeface="Poppins SemiBold"/>
              <a:buNone/>
            </a:pPr>
            <a:r>
              <a:rPr b="1" i="0" lang="en-US" sz="1600" u="none" cap="none" strike="noStrike">
                <a:solidFill>
                  <a:srgbClr val="152A1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Qué se hace en cada fase y su resultado habitual</a:t>
            </a:r>
            <a:endParaRPr b="0" i="0" sz="2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18" name="Google Shape;418;p16"/>
          <p:cNvSpPr/>
          <p:nvPr/>
        </p:nvSpPr>
        <p:spPr>
          <a:xfrm>
            <a:off x="502920" y="1371600"/>
            <a:ext cx="8138160" cy="3246120"/>
          </a:xfrm>
          <a:prstGeom prst="roundRect">
            <a:avLst>
              <a:gd fmla="val 2254" name="adj"/>
            </a:avLst>
          </a:prstGeom>
          <a:solidFill>
            <a:srgbClr val="FBF8F5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16"/>
          <p:cNvSpPr/>
          <p:nvPr/>
        </p:nvSpPr>
        <p:spPr>
          <a:xfrm>
            <a:off x="685800" y="1481328"/>
            <a:ext cx="3794760" cy="676656"/>
          </a:xfrm>
          <a:prstGeom prst="roundRect">
            <a:avLst>
              <a:gd fmla="val 12000" name="adj"/>
            </a:avLst>
          </a:prstGeom>
          <a:solidFill>
            <a:srgbClr val="F7F3EE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16"/>
          <p:cNvSpPr/>
          <p:nvPr/>
        </p:nvSpPr>
        <p:spPr>
          <a:xfrm>
            <a:off x="795528" y="1527048"/>
            <a:ext cx="1325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1 · Análisis</a:t>
            </a:r>
            <a:endParaRPr/>
          </a:p>
        </p:txBody>
      </p:sp>
      <p:sp>
        <p:nvSpPr>
          <p:cNvPr id="421" name="Google Shape;421;p16"/>
          <p:cNvSpPr/>
          <p:nvPr/>
        </p:nvSpPr>
        <p:spPr>
          <a:xfrm>
            <a:off x="2057400" y="1527048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Entender qué problema hay que resolver.</a:t>
            </a:r>
            <a:endParaRPr/>
          </a:p>
        </p:txBody>
      </p:sp>
      <p:sp>
        <p:nvSpPr>
          <p:cNvPr id="422" name="Google Shape;422;p16"/>
          <p:cNvSpPr/>
          <p:nvPr/>
        </p:nvSpPr>
        <p:spPr>
          <a:xfrm>
            <a:off x="795528" y="1828800"/>
            <a:ext cx="36118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E6945A"/>
                </a:solidFill>
                <a:latin typeface="Poppins"/>
                <a:ea typeface="Poppins"/>
                <a:cs typeface="Poppins"/>
                <a:sym typeface="Poppins"/>
              </a:rPr>
              <a:t>Resultado: requisitos</a:t>
            </a:r>
            <a:endParaRPr/>
          </a:p>
        </p:txBody>
      </p:sp>
      <p:sp>
        <p:nvSpPr>
          <p:cNvPr id="423" name="Google Shape;423;p16"/>
          <p:cNvSpPr/>
          <p:nvPr/>
        </p:nvSpPr>
        <p:spPr>
          <a:xfrm>
            <a:off x="4663440" y="1481328"/>
            <a:ext cx="3794760" cy="676656"/>
          </a:xfrm>
          <a:prstGeom prst="roundRect">
            <a:avLst>
              <a:gd fmla="val 12000" name="adj"/>
            </a:avLst>
          </a:prstGeom>
          <a:solidFill>
            <a:srgbClr val="F7F3EE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16"/>
          <p:cNvSpPr/>
          <p:nvPr/>
        </p:nvSpPr>
        <p:spPr>
          <a:xfrm>
            <a:off x="4773168" y="1527048"/>
            <a:ext cx="1325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2 · Diseño</a:t>
            </a:r>
            <a:endParaRPr/>
          </a:p>
        </p:txBody>
      </p:sp>
      <p:sp>
        <p:nvSpPr>
          <p:cNvPr id="425" name="Google Shape;425;p16"/>
          <p:cNvSpPr/>
          <p:nvPr/>
        </p:nvSpPr>
        <p:spPr>
          <a:xfrm>
            <a:off x="6035040" y="1527048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Decidir cómo se organizará la solución.</a:t>
            </a:r>
            <a:endParaRPr/>
          </a:p>
        </p:txBody>
      </p:sp>
      <p:sp>
        <p:nvSpPr>
          <p:cNvPr id="426" name="Google Shape;426;p16"/>
          <p:cNvSpPr/>
          <p:nvPr/>
        </p:nvSpPr>
        <p:spPr>
          <a:xfrm>
            <a:off x="4773168" y="1828800"/>
            <a:ext cx="36118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E6945A"/>
                </a:solidFill>
                <a:latin typeface="Poppins"/>
                <a:ea typeface="Poppins"/>
                <a:cs typeface="Poppins"/>
                <a:sym typeface="Poppins"/>
              </a:rPr>
              <a:t>Resultado: arquitectura, modelos, clases, datos, interfaces</a:t>
            </a:r>
            <a:endParaRPr/>
          </a:p>
        </p:txBody>
      </p:sp>
      <p:sp>
        <p:nvSpPr>
          <p:cNvPr id="427" name="Google Shape;427;p16"/>
          <p:cNvSpPr/>
          <p:nvPr/>
        </p:nvSpPr>
        <p:spPr>
          <a:xfrm>
            <a:off x="685800" y="2249424"/>
            <a:ext cx="3794760" cy="676656"/>
          </a:xfrm>
          <a:prstGeom prst="roundRect">
            <a:avLst>
              <a:gd fmla="val 12000" name="adj"/>
            </a:avLst>
          </a:prstGeom>
          <a:solidFill>
            <a:srgbClr val="F7F3EE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16"/>
          <p:cNvSpPr/>
          <p:nvPr/>
        </p:nvSpPr>
        <p:spPr>
          <a:xfrm>
            <a:off x="795528" y="2295144"/>
            <a:ext cx="1325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3 · Codificación</a:t>
            </a:r>
            <a:endParaRPr/>
          </a:p>
        </p:txBody>
      </p:sp>
      <p:sp>
        <p:nvSpPr>
          <p:cNvPr id="429" name="Google Shape;429;p16"/>
          <p:cNvSpPr/>
          <p:nvPr/>
        </p:nvSpPr>
        <p:spPr>
          <a:xfrm>
            <a:off x="2057400" y="2295144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Escribir y construir el programa.</a:t>
            </a:r>
            <a:endParaRPr/>
          </a:p>
        </p:txBody>
      </p:sp>
      <p:sp>
        <p:nvSpPr>
          <p:cNvPr id="430" name="Google Shape;430;p16"/>
          <p:cNvSpPr/>
          <p:nvPr/>
        </p:nvSpPr>
        <p:spPr>
          <a:xfrm>
            <a:off x="795528" y="2596896"/>
            <a:ext cx="36118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E6945A"/>
                </a:solidFill>
                <a:latin typeface="Poppins"/>
                <a:ea typeface="Poppins"/>
                <a:cs typeface="Poppins"/>
                <a:sym typeface="Poppins"/>
              </a:rPr>
              <a:t>Resultado: código fuente y artefactos generados (.java → .class / .jar)</a:t>
            </a:r>
            <a:endParaRPr/>
          </a:p>
        </p:txBody>
      </p:sp>
      <p:sp>
        <p:nvSpPr>
          <p:cNvPr id="431" name="Google Shape;431;p16"/>
          <p:cNvSpPr/>
          <p:nvPr/>
        </p:nvSpPr>
        <p:spPr>
          <a:xfrm>
            <a:off x="4663440" y="2249424"/>
            <a:ext cx="3794760" cy="676656"/>
          </a:xfrm>
          <a:prstGeom prst="roundRect">
            <a:avLst>
              <a:gd fmla="val 12000" name="adj"/>
            </a:avLst>
          </a:prstGeom>
          <a:solidFill>
            <a:srgbClr val="F7F3EE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16"/>
          <p:cNvSpPr/>
          <p:nvPr/>
        </p:nvSpPr>
        <p:spPr>
          <a:xfrm>
            <a:off x="4773168" y="2295144"/>
            <a:ext cx="1325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4 · Pruebas</a:t>
            </a:r>
            <a:endParaRPr/>
          </a:p>
        </p:txBody>
      </p:sp>
      <p:sp>
        <p:nvSpPr>
          <p:cNvPr id="433" name="Google Shape;433;p16"/>
          <p:cNvSpPr/>
          <p:nvPr/>
        </p:nvSpPr>
        <p:spPr>
          <a:xfrm>
            <a:off x="6035040" y="2295144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Comprobar que el software cumple lo esperado.</a:t>
            </a:r>
            <a:endParaRPr/>
          </a:p>
        </p:txBody>
      </p:sp>
      <p:sp>
        <p:nvSpPr>
          <p:cNvPr id="434" name="Google Shape;434;p16"/>
          <p:cNvSpPr/>
          <p:nvPr/>
        </p:nvSpPr>
        <p:spPr>
          <a:xfrm>
            <a:off x="4773168" y="2596896"/>
            <a:ext cx="36118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E6945A"/>
                </a:solidFill>
                <a:latin typeface="Poppins"/>
                <a:ea typeface="Poppins"/>
                <a:cs typeface="Poppins"/>
                <a:sym typeface="Poppins"/>
              </a:rPr>
              <a:t>Resultado: casos, resultados e incidencias detectadas</a:t>
            </a:r>
            <a:endParaRPr/>
          </a:p>
        </p:txBody>
      </p:sp>
      <p:sp>
        <p:nvSpPr>
          <p:cNvPr id="435" name="Google Shape;435;p16"/>
          <p:cNvSpPr/>
          <p:nvPr/>
        </p:nvSpPr>
        <p:spPr>
          <a:xfrm>
            <a:off x="685800" y="3017520"/>
            <a:ext cx="3794760" cy="676656"/>
          </a:xfrm>
          <a:prstGeom prst="roundRect">
            <a:avLst>
              <a:gd fmla="val 12000" name="adj"/>
            </a:avLst>
          </a:prstGeom>
          <a:solidFill>
            <a:srgbClr val="F7F3EE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16"/>
          <p:cNvSpPr/>
          <p:nvPr/>
        </p:nvSpPr>
        <p:spPr>
          <a:xfrm>
            <a:off x="795528" y="3063239"/>
            <a:ext cx="1325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5 · Documentación</a:t>
            </a:r>
            <a:endParaRPr/>
          </a:p>
        </p:txBody>
      </p:sp>
      <p:sp>
        <p:nvSpPr>
          <p:cNvPr id="437" name="Google Shape;437;p16"/>
          <p:cNvSpPr/>
          <p:nvPr/>
        </p:nvSpPr>
        <p:spPr>
          <a:xfrm>
            <a:off x="2057400" y="3063239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Explicar el sistema, su código y su uso.</a:t>
            </a:r>
            <a:endParaRPr/>
          </a:p>
        </p:txBody>
      </p:sp>
      <p:sp>
        <p:nvSpPr>
          <p:cNvPr id="438" name="Google Shape;438;p16"/>
          <p:cNvSpPr/>
          <p:nvPr/>
        </p:nvSpPr>
        <p:spPr>
          <a:xfrm>
            <a:off x="795528" y="3364991"/>
            <a:ext cx="36118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E6945A"/>
                </a:solidFill>
                <a:latin typeface="Poppins"/>
                <a:ea typeface="Poppins"/>
                <a:cs typeface="Poppins"/>
                <a:sym typeface="Poppins"/>
              </a:rPr>
              <a:t>Resultado: documentación técnica y de usuario</a:t>
            </a:r>
            <a:endParaRPr/>
          </a:p>
        </p:txBody>
      </p:sp>
      <p:sp>
        <p:nvSpPr>
          <p:cNvPr id="439" name="Google Shape;439;p16"/>
          <p:cNvSpPr/>
          <p:nvPr/>
        </p:nvSpPr>
        <p:spPr>
          <a:xfrm>
            <a:off x="4663440" y="3017520"/>
            <a:ext cx="3794760" cy="676656"/>
          </a:xfrm>
          <a:prstGeom prst="roundRect">
            <a:avLst>
              <a:gd fmla="val 12000" name="adj"/>
            </a:avLst>
          </a:prstGeom>
          <a:solidFill>
            <a:srgbClr val="F7F3EE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16"/>
          <p:cNvSpPr/>
          <p:nvPr/>
        </p:nvSpPr>
        <p:spPr>
          <a:xfrm>
            <a:off x="4773168" y="3063239"/>
            <a:ext cx="1325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6 · Explotación</a:t>
            </a:r>
            <a:endParaRPr/>
          </a:p>
        </p:txBody>
      </p:sp>
      <p:sp>
        <p:nvSpPr>
          <p:cNvPr id="441" name="Google Shape;441;p16"/>
          <p:cNvSpPr/>
          <p:nvPr/>
        </p:nvSpPr>
        <p:spPr>
          <a:xfrm>
            <a:off x="6035040" y="3063239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Preparar y poner el sistema en funcionamiento.</a:t>
            </a:r>
            <a:endParaRPr/>
          </a:p>
        </p:txBody>
      </p:sp>
      <p:sp>
        <p:nvSpPr>
          <p:cNvPr id="442" name="Google Shape;442;p16"/>
          <p:cNvSpPr/>
          <p:nvPr/>
        </p:nvSpPr>
        <p:spPr>
          <a:xfrm>
            <a:off x="4773168" y="3364991"/>
            <a:ext cx="36118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E6945A"/>
                </a:solidFill>
                <a:latin typeface="Poppins"/>
                <a:ea typeface="Poppins"/>
                <a:cs typeface="Poppins"/>
                <a:sym typeface="Poppins"/>
              </a:rPr>
              <a:t>Resultado: aplicación desplegada y configurada</a:t>
            </a:r>
            <a:endParaRPr/>
          </a:p>
        </p:txBody>
      </p:sp>
      <p:sp>
        <p:nvSpPr>
          <p:cNvPr id="443" name="Google Shape;443;p16"/>
          <p:cNvSpPr/>
          <p:nvPr/>
        </p:nvSpPr>
        <p:spPr>
          <a:xfrm>
            <a:off x="2674620" y="3785616"/>
            <a:ext cx="3794760" cy="676656"/>
          </a:xfrm>
          <a:prstGeom prst="roundRect">
            <a:avLst>
              <a:gd fmla="val 12000" name="adj"/>
            </a:avLst>
          </a:prstGeom>
          <a:solidFill>
            <a:srgbClr val="F7F3EE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16"/>
          <p:cNvSpPr/>
          <p:nvPr/>
        </p:nvSpPr>
        <p:spPr>
          <a:xfrm>
            <a:off x="2784348" y="3831336"/>
            <a:ext cx="1325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7 · Mantenimiento</a:t>
            </a:r>
            <a:endParaRPr/>
          </a:p>
        </p:txBody>
      </p:sp>
      <p:sp>
        <p:nvSpPr>
          <p:cNvPr id="445" name="Google Shape;445;p16"/>
          <p:cNvSpPr/>
          <p:nvPr/>
        </p:nvSpPr>
        <p:spPr>
          <a:xfrm>
            <a:off x="4046220" y="3831336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Corregir errores, adaptar y evolucionar.</a:t>
            </a:r>
            <a:endParaRPr/>
          </a:p>
        </p:txBody>
      </p:sp>
      <p:sp>
        <p:nvSpPr>
          <p:cNvPr id="446" name="Google Shape;446;p16"/>
          <p:cNvSpPr/>
          <p:nvPr/>
        </p:nvSpPr>
        <p:spPr>
          <a:xfrm>
            <a:off x="2784348" y="4133088"/>
            <a:ext cx="36118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E6945A"/>
                </a:solidFill>
                <a:latin typeface="Poppins"/>
                <a:ea typeface="Poppins"/>
                <a:cs typeface="Poppins"/>
                <a:sym typeface="Poppins"/>
              </a:rPr>
              <a:t>Resultado: incidencias resueltas y nuevas versiones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17"/>
          <p:cNvSpPr/>
          <p:nvPr/>
        </p:nvSpPr>
        <p:spPr>
          <a:xfrm>
            <a:off x="502920" y="34747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449"/>
              </a:buClr>
              <a:buSzPts val="1050"/>
              <a:buFont typeface="Poppins Medium"/>
              <a:buNone/>
            </a:pPr>
            <a:r>
              <a:rPr b="0" i="0" lang="en-US" sz="1050" u="none" cap="none" strike="noStrike">
                <a:solidFill>
                  <a:srgbClr val="4A544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UT1 · EL DESARROLLO DE SOFTWARE Y SUS FASES</a:t>
            </a:r>
            <a:endParaRPr b="0" i="0" sz="105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52" name="Google Shape;452;p17"/>
          <p:cNvSpPr/>
          <p:nvPr/>
        </p:nvSpPr>
        <p:spPr>
          <a:xfrm>
            <a:off x="7223760" y="594360"/>
            <a:ext cx="1417320" cy="365760"/>
          </a:xfrm>
          <a:prstGeom prst="roundRect">
            <a:avLst>
              <a:gd fmla="val 15000" name="adj"/>
            </a:avLst>
          </a:prstGeom>
          <a:solidFill>
            <a:srgbClr val="F7F3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17"/>
          <p:cNvSpPr/>
          <p:nvPr/>
        </p:nvSpPr>
        <p:spPr>
          <a:xfrm>
            <a:off x="7223760" y="594360"/>
            <a:ext cx="1417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A1D"/>
              </a:buClr>
              <a:buSzPts val="1000"/>
              <a:buFont typeface="Poppins Medium"/>
              <a:buNone/>
            </a:pPr>
            <a:r>
              <a:rPr b="0" i="0" lang="en-US" sz="1000" u="none" cap="none" strike="noStrike">
                <a:solidFill>
                  <a:srgbClr val="152A1D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CONCEPTO</a:t>
            </a:r>
            <a:endParaRPr b="0" i="0" sz="1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54" name="Google Shape;454;p17"/>
          <p:cNvSpPr/>
          <p:nvPr/>
        </p:nvSpPr>
        <p:spPr>
          <a:xfrm>
            <a:off x="502920" y="566928"/>
            <a:ext cx="5760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A1D"/>
              </a:buClr>
              <a:buSzPts val="2500"/>
              <a:buFont typeface="Poppins SemiBold"/>
              <a:buNone/>
            </a:pPr>
            <a:r>
              <a:rPr b="1" i="0" lang="en-US" sz="1900" u="none" cap="none" strike="noStrike">
                <a:solidFill>
                  <a:srgbClr val="152A1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El software continúa tras la entrega</a:t>
            </a:r>
            <a:endParaRPr b="0" i="0" sz="2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55" name="Google Shape;455;p17"/>
          <p:cNvSpPr/>
          <p:nvPr/>
        </p:nvSpPr>
        <p:spPr>
          <a:xfrm>
            <a:off x="502920" y="1371600"/>
            <a:ext cx="8138160" cy="3246120"/>
          </a:xfrm>
          <a:prstGeom prst="roundRect">
            <a:avLst>
              <a:gd fmla="val 2254" name="adj"/>
            </a:avLst>
          </a:prstGeom>
          <a:solidFill>
            <a:srgbClr val="FBF8F5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17"/>
          <p:cNvSpPr/>
          <p:nvPr/>
        </p:nvSpPr>
        <p:spPr>
          <a:xfrm>
            <a:off x="685800" y="1463040"/>
            <a:ext cx="7772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La primera versión no es el final del desarrollo. Una aplicación puede mantenerse y evolucionar durante meses o años después de su puesta en producción.</a:t>
            </a:r>
            <a:endParaRPr/>
          </a:p>
        </p:txBody>
      </p:sp>
      <p:sp>
        <p:nvSpPr>
          <p:cNvPr id="457" name="Google Shape;457;p17"/>
          <p:cNvSpPr/>
          <p:nvPr/>
        </p:nvSpPr>
        <p:spPr>
          <a:xfrm>
            <a:off x="685800" y="1901952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E6945A"/>
                </a:solidFill>
                <a:latin typeface="Poppins"/>
                <a:ea typeface="Poppins"/>
                <a:cs typeface="Poppins"/>
                <a:sym typeface="Poppins"/>
              </a:rPr>
              <a:t>ANTES DE LA PRIMERA ENTREGA</a:t>
            </a:r>
            <a:endParaRPr/>
          </a:p>
        </p:txBody>
      </p:sp>
      <p:sp>
        <p:nvSpPr>
          <p:cNvPr id="458" name="Google Shape;458;p17"/>
          <p:cNvSpPr/>
          <p:nvPr/>
        </p:nvSpPr>
        <p:spPr>
          <a:xfrm>
            <a:off x="685800" y="2176272"/>
            <a:ext cx="1437436" cy="502920"/>
          </a:xfrm>
          <a:prstGeom prst="roundRect">
            <a:avLst>
              <a:gd fmla="val 12000" name="adj"/>
            </a:avLst>
          </a:prstGeom>
          <a:solidFill>
            <a:srgbClr val="F7F3EE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17"/>
          <p:cNvSpPr/>
          <p:nvPr/>
        </p:nvSpPr>
        <p:spPr>
          <a:xfrm>
            <a:off x="722376" y="2231136"/>
            <a:ext cx="1364284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Análisis</a:t>
            </a:r>
            <a:endParaRPr/>
          </a:p>
        </p:txBody>
      </p:sp>
      <p:cxnSp>
        <p:nvCxnSpPr>
          <p:cNvPr id="460" name="Google Shape;460;p17"/>
          <p:cNvCxnSpPr/>
          <p:nvPr/>
        </p:nvCxnSpPr>
        <p:spPr>
          <a:xfrm>
            <a:off x="2123236" y="2427732"/>
            <a:ext cx="146304" cy="0"/>
          </a:xfrm>
          <a:prstGeom prst="straightConnector1">
            <a:avLst/>
          </a:prstGeom>
          <a:noFill/>
          <a:ln cap="flat" cmpd="sng" w="19050">
            <a:solidFill>
              <a:srgbClr val="E6945A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461" name="Google Shape;461;p17"/>
          <p:cNvSpPr/>
          <p:nvPr/>
        </p:nvSpPr>
        <p:spPr>
          <a:xfrm>
            <a:off x="2269540" y="2176272"/>
            <a:ext cx="1437436" cy="502920"/>
          </a:xfrm>
          <a:prstGeom prst="roundRect">
            <a:avLst>
              <a:gd fmla="val 12000" name="adj"/>
            </a:avLst>
          </a:prstGeom>
          <a:solidFill>
            <a:srgbClr val="F7F3EE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17"/>
          <p:cNvSpPr/>
          <p:nvPr/>
        </p:nvSpPr>
        <p:spPr>
          <a:xfrm>
            <a:off x="2306116" y="2231136"/>
            <a:ext cx="1364284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Diseño</a:t>
            </a:r>
            <a:endParaRPr/>
          </a:p>
        </p:txBody>
      </p:sp>
      <p:cxnSp>
        <p:nvCxnSpPr>
          <p:cNvPr id="463" name="Google Shape;463;p17"/>
          <p:cNvCxnSpPr/>
          <p:nvPr/>
        </p:nvCxnSpPr>
        <p:spPr>
          <a:xfrm>
            <a:off x="3706977" y="2427732"/>
            <a:ext cx="146304" cy="0"/>
          </a:xfrm>
          <a:prstGeom prst="straightConnector1">
            <a:avLst/>
          </a:prstGeom>
          <a:noFill/>
          <a:ln cap="flat" cmpd="sng" w="19050">
            <a:solidFill>
              <a:srgbClr val="E6945A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464" name="Google Shape;464;p17"/>
          <p:cNvSpPr/>
          <p:nvPr/>
        </p:nvSpPr>
        <p:spPr>
          <a:xfrm>
            <a:off x="3853281" y="2176272"/>
            <a:ext cx="1437436" cy="502920"/>
          </a:xfrm>
          <a:prstGeom prst="roundRect">
            <a:avLst>
              <a:gd fmla="val 12000" name="adj"/>
            </a:avLst>
          </a:prstGeom>
          <a:solidFill>
            <a:srgbClr val="F7F3EE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17"/>
          <p:cNvSpPr/>
          <p:nvPr/>
        </p:nvSpPr>
        <p:spPr>
          <a:xfrm>
            <a:off x="3889857" y="2231136"/>
            <a:ext cx="1364284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Codificación</a:t>
            </a:r>
            <a:endParaRPr/>
          </a:p>
        </p:txBody>
      </p:sp>
      <p:cxnSp>
        <p:nvCxnSpPr>
          <p:cNvPr id="466" name="Google Shape;466;p17"/>
          <p:cNvCxnSpPr/>
          <p:nvPr/>
        </p:nvCxnSpPr>
        <p:spPr>
          <a:xfrm>
            <a:off x="5290718" y="2427732"/>
            <a:ext cx="146304" cy="0"/>
          </a:xfrm>
          <a:prstGeom prst="straightConnector1">
            <a:avLst/>
          </a:prstGeom>
          <a:noFill/>
          <a:ln cap="flat" cmpd="sng" w="19050">
            <a:solidFill>
              <a:srgbClr val="E6945A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467" name="Google Shape;467;p17"/>
          <p:cNvSpPr/>
          <p:nvPr/>
        </p:nvSpPr>
        <p:spPr>
          <a:xfrm>
            <a:off x="5437022" y="2176272"/>
            <a:ext cx="1437436" cy="502920"/>
          </a:xfrm>
          <a:prstGeom prst="roundRect">
            <a:avLst>
              <a:gd fmla="val 12000" name="adj"/>
            </a:avLst>
          </a:prstGeom>
          <a:solidFill>
            <a:srgbClr val="F7F3EE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17"/>
          <p:cNvSpPr/>
          <p:nvPr/>
        </p:nvSpPr>
        <p:spPr>
          <a:xfrm>
            <a:off x="5473598" y="2231136"/>
            <a:ext cx="1364284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Pruebas</a:t>
            </a:r>
            <a:endParaRPr/>
          </a:p>
        </p:txBody>
      </p:sp>
      <p:cxnSp>
        <p:nvCxnSpPr>
          <p:cNvPr id="469" name="Google Shape;469;p17"/>
          <p:cNvCxnSpPr/>
          <p:nvPr/>
        </p:nvCxnSpPr>
        <p:spPr>
          <a:xfrm>
            <a:off x="6874459" y="2427732"/>
            <a:ext cx="146304" cy="0"/>
          </a:xfrm>
          <a:prstGeom prst="straightConnector1">
            <a:avLst/>
          </a:prstGeom>
          <a:noFill/>
          <a:ln cap="flat" cmpd="sng" w="19050">
            <a:solidFill>
              <a:srgbClr val="E6945A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470" name="Google Shape;470;p17"/>
          <p:cNvSpPr/>
          <p:nvPr/>
        </p:nvSpPr>
        <p:spPr>
          <a:xfrm>
            <a:off x="7020763" y="2176272"/>
            <a:ext cx="1437436" cy="502920"/>
          </a:xfrm>
          <a:prstGeom prst="roundRect">
            <a:avLst>
              <a:gd fmla="val 12000" name="adj"/>
            </a:avLst>
          </a:prstGeom>
          <a:solidFill>
            <a:srgbClr val="F7F3EE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17"/>
          <p:cNvSpPr/>
          <p:nvPr/>
        </p:nvSpPr>
        <p:spPr>
          <a:xfrm>
            <a:off x="7057339" y="2231136"/>
            <a:ext cx="1364284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Puesta en marcha</a:t>
            </a:r>
            <a:endParaRPr/>
          </a:p>
        </p:txBody>
      </p:sp>
      <p:sp>
        <p:nvSpPr>
          <p:cNvPr id="472" name="Google Shape;472;p17"/>
          <p:cNvSpPr/>
          <p:nvPr/>
        </p:nvSpPr>
        <p:spPr>
          <a:xfrm>
            <a:off x="685800" y="2788920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E6945A"/>
                </a:solidFill>
                <a:latin typeface="Poppins"/>
                <a:ea typeface="Poppins"/>
                <a:cs typeface="Poppins"/>
                <a:sym typeface="Poppins"/>
              </a:rPr>
              <a:t>DESPUÉS</a:t>
            </a:r>
            <a:endParaRPr/>
          </a:p>
        </p:txBody>
      </p:sp>
      <p:sp>
        <p:nvSpPr>
          <p:cNvPr id="473" name="Google Shape;473;p17"/>
          <p:cNvSpPr/>
          <p:nvPr/>
        </p:nvSpPr>
        <p:spPr>
          <a:xfrm>
            <a:off x="685800" y="3063240"/>
            <a:ext cx="1833372" cy="502920"/>
          </a:xfrm>
          <a:prstGeom prst="roundRect">
            <a:avLst>
              <a:gd fmla="val 12000" name="adj"/>
            </a:avLst>
          </a:prstGeom>
          <a:solidFill>
            <a:srgbClr val="F3E6DA"/>
          </a:solidFill>
          <a:ln cap="flat" cmpd="sng" w="12700">
            <a:solidFill>
              <a:srgbClr val="E694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17"/>
          <p:cNvSpPr/>
          <p:nvPr/>
        </p:nvSpPr>
        <p:spPr>
          <a:xfrm>
            <a:off x="722376" y="3118104"/>
            <a:ext cx="1760219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Mantenimiento y evolución</a:t>
            </a:r>
            <a:endParaRPr/>
          </a:p>
        </p:txBody>
      </p:sp>
      <p:cxnSp>
        <p:nvCxnSpPr>
          <p:cNvPr id="475" name="Google Shape;475;p17"/>
          <p:cNvCxnSpPr/>
          <p:nvPr/>
        </p:nvCxnSpPr>
        <p:spPr>
          <a:xfrm>
            <a:off x="2519172" y="3314700"/>
            <a:ext cx="146304" cy="0"/>
          </a:xfrm>
          <a:prstGeom prst="straightConnector1">
            <a:avLst/>
          </a:prstGeom>
          <a:noFill/>
          <a:ln cap="flat" cmpd="sng" w="19050">
            <a:solidFill>
              <a:srgbClr val="E6945A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476" name="Google Shape;476;p17"/>
          <p:cNvSpPr/>
          <p:nvPr/>
        </p:nvSpPr>
        <p:spPr>
          <a:xfrm>
            <a:off x="2665476" y="3063240"/>
            <a:ext cx="1833372" cy="502920"/>
          </a:xfrm>
          <a:prstGeom prst="roundRect">
            <a:avLst>
              <a:gd fmla="val 12000" name="adj"/>
            </a:avLst>
          </a:prstGeom>
          <a:solidFill>
            <a:srgbClr val="F7F3EE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17"/>
          <p:cNvSpPr/>
          <p:nvPr/>
        </p:nvSpPr>
        <p:spPr>
          <a:xfrm>
            <a:off x="2702052" y="3118104"/>
            <a:ext cx="1760219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Correcciones</a:t>
            </a:r>
            <a:endParaRPr/>
          </a:p>
        </p:txBody>
      </p:sp>
      <p:cxnSp>
        <p:nvCxnSpPr>
          <p:cNvPr id="478" name="Google Shape;478;p17"/>
          <p:cNvCxnSpPr/>
          <p:nvPr/>
        </p:nvCxnSpPr>
        <p:spPr>
          <a:xfrm>
            <a:off x="4498848" y="3314700"/>
            <a:ext cx="146304" cy="0"/>
          </a:xfrm>
          <a:prstGeom prst="straightConnector1">
            <a:avLst/>
          </a:prstGeom>
          <a:noFill/>
          <a:ln cap="flat" cmpd="sng" w="19050">
            <a:solidFill>
              <a:srgbClr val="E6945A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479" name="Google Shape;479;p17"/>
          <p:cNvSpPr/>
          <p:nvPr/>
        </p:nvSpPr>
        <p:spPr>
          <a:xfrm>
            <a:off x="4645152" y="3063240"/>
            <a:ext cx="1833372" cy="502920"/>
          </a:xfrm>
          <a:prstGeom prst="roundRect">
            <a:avLst>
              <a:gd fmla="val 12000" name="adj"/>
            </a:avLst>
          </a:prstGeom>
          <a:solidFill>
            <a:srgbClr val="F7F3EE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17"/>
          <p:cNvSpPr/>
          <p:nvPr/>
        </p:nvSpPr>
        <p:spPr>
          <a:xfrm>
            <a:off x="4681728" y="3118104"/>
            <a:ext cx="1760219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Cambios</a:t>
            </a:r>
            <a:endParaRPr/>
          </a:p>
        </p:txBody>
      </p:sp>
      <p:cxnSp>
        <p:nvCxnSpPr>
          <p:cNvPr id="481" name="Google Shape;481;p17"/>
          <p:cNvCxnSpPr/>
          <p:nvPr/>
        </p:nvCxnSpPr>
        <p:spPr>
          <a:xfrm>
            <a:off x="6478524" y="3314700"/>
            <a:ext cx="146304" cy="0"/>
          </a:xfrm>
          <a:prstGeom prst="straightConnector1">
            <a:avLst/>
          </a:prstGeom>
          <a:noFill/>
          <a:ln cap="flat" cmpd="sng" w="19050">
            <a:solidFill>
              <a:srgbClr val="E6945A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482" name="Google Shape;482;p17"/>
          <p:cNvSpPr/>
          <p:nvPr/>
        </p:nvSpPr>
        <p:spPr>
          <a:xfrm>
            <a:off x="6624828" y="3063240"/>
            <a:ext cx="1833372" cy="502920"/>
          </a:xfrm>
          <a:prstGeom prst="roundRect">
            <a:avLst>
              <a:gd fmla="val 12000" name="adj"/>
            </a:avLst>
          </a:prstGeom>
          <a:solidFill>
            <a:srgbClr val="F7F3EE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17"/>
          <p:cNvSpPr/>
          <p:nvPr/>
        </p:nvSpPr>
        <p:spPr>
          <a:xfrm>
            <a:off x="6661404" y="3118104"/>
            <a:ext cx="1760219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Nuevas versiones</a:t>
            </a:r>
            <a:endParaRPr/>
          </a:p>
        </p:txBody>
      </p:sp>
      <p:sp>
        <p:nvSpPr>
          <p:cNvPr id="484" name="Google Shape;484;p17"/>
          <p:cNvSpPr/>
          <p:nvPr/>
        </p:nvSpPr>
        <p:spPr>
          <a:xfrm>
            <a:off x="685800" y="370332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La duración exacta de cada fase depende del proyecto; el esquema no representa porcentajes fijos.</a:t>
            </a:r>
            <a:endParaRPr/>
          </a:p>
        </p:txBody>
      </p:sp>
      <p:sp>
        <p:nvSpPr>
          <p:cNvPr id="485" name="Google Shape;485;p17"/>
          <p:cNvSpPr/>
          <p:nvPr/>
        </p:nvSpPr>
        <p:spPr>
          <a:xfrm>
            <a:off x="685800" y="402336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Un buen análisis, diseño, conjunto de pruebas y documentación facilita el mantenimiento y reduce tiempo, coste y riesgo.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18"/>
          <p:cNvSpPr/>
          <p:nvPr/>
        </p:nvSpPr>
        <p:spPr>
          <a:xfrm>
            <a:off x="502920" y="34747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449"/>
              </a:buClr>
              <a:buSzPts val="1050"/>
              <a:buFont typeface="Poppins Medium"/>
              <a:buNone/>
            </a:pPr>
            <a:r>
              <a:rPr b="0" i="0" lang="en-US" sz="1050" u="none" cap="none" strike="noStrike">
                <a:solidFill>
                  <a:srgbClr val="4A544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UT1 · EL DESARROLLO DE SOFTWARE Y SUS FASES</a:t>
            </a:r>
            <a:endParaRPr b="0" i="0" sz="105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91" name="Google Shape;491;p18"/>
          <p:cNvSpPr/>
          <p:nvPr/>
        </p:nvSpPr>
        <p:spPr>
          <a:xfrm>
            <a:off x="7223760" y="594360"/>
            <a:ext cx="1417320" cy="365760"/>
          </a:xfrm>
          <a:prstGeom prst="roundRect">
            <a:avLst>
              <a:gd fmla="val 15000" name="adj"/>
            </a:avLst>
          </a:prstGeom>
          <a:solidFill>
            <a:srgbClr val="F7F3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18"/>
          <p:cNvSpPr/>
          <p:nvPr/>
        </p:nvSpPr>
        <p:spPr>
          <a:xfrm>
            <a:off x="7223760" y="594360"/>
            <a:ext cx="1417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A1D"/>
              </a:buClr>
              <a:buSzPts val="1000"/>
              <a:buFont typeface="Poppins Medium"/>
              <a:buNone/>
            </a:pPr>
            <a:r>
              <a:rPr b="0" i="0" lang="en-US" sz="1000" u="none" cap="none" strike="noStrike">
                <a:solidFill>
                  <a:srgbClr val="152A1D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CONCEPTO</a:t>
            </a:r>
            <a:endParaRPr b="0" i="0" sz="1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93" name="Google Shape;493;p18"/>
          <p:cNvSpPr/>
          <p:nvPr/>
        </p:nvSpPr>
        <p:spPr>
          <a:xfrm>
            <a:off x="502920" y="566928"/>
            <a:ext cx="5760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A1D"/>
              </a:buClr>
              <a:buSzPts val="2500"/>
              <a:buFont typeface="Poppins SemiBold"/>
              <a:buNone/>
            </a:pPr>
            <a:r>
              <a:rPr b="1" i="0" lang="en-US" sz="1900" u="none" cap="none" strike="noStrike">
                <a:solidFill>
                  <a:srgbClr val="152A1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Dónde aparece cada fase este curso</a:t>
            </a:r>
            <a:endParaRPr b="0" i="0" sz="2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94" name="Google Shape;494;p18"/>
          <p:cNvSpPr/>
          <p:nvPr/>
        </p:nvSpPr>
        <p:spPr>
          <a:xfrm>
            <a:off x="502920" y="1371600"/>
            <a:ext cx="8138160" cy="3246120"/>
          </a:xfrm>
          <a:prstGeom prst="roundRect">
            <a:avLst>
              <a:gd fmla="val 2254" name="adj"/>
            </a:avLst>
          </a:prstGeom>
          <a:solidFill>
            <a:srgbClr val="FBF8F5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18"/>
          <p:cNvSpPr/>
          <p:nvPr/>
        </p:nvSpPr>
        <p:spPr>
          <a:xfrm>
            <a:off x="685800" y="1481328"/>
            <a:ext cx="1828800" cy="1417320"/>
          </a:xfrm>
          <a:prstGeom prst="roundRect">
            <a:avLst>
              <a:gd fmla="val 12000" name="adj"/>
            </a:avLst>
          </a:prstGeom>
          <a:solidFill>
            <a:srgbClr val="F7F3EE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18"/>
          <p:cNvSpPr/>
          <p:nvPr/>
        </p:nvSpPr>
        <p:spPr>
          <a:xfrm>
            <a:off x="777240" y="1572768"/>
            <a:ext cx="274320" cy="274320"/>
          </a:xfrm>
          <a:prstGeom prst="ellipse">
            <a:avLst/>
          </a:prstGeom>
          <a:solidFill>
            <a:srgbClr val="E6945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/>
          </a:p>
        </p:txBody>
      </p:sp>
      <p:sp>
        <p:nvSpPr>
          <p:cNvPr id="497" name="Google Shape;497;p18"/>
          <p:cNvSpPr/>
          <p:nvPr/>
        </p:nvSpPr>
        <p:spPr>
          <a:xfrm>
            <a:off x="1097280" y="1572768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Análisis</a:t>
            </a:r>
            <a:endParaRPr/>
          </a:p>
        </p:txBody>
      </p:sp>
      <p:sp>
        <p:nvSpPr>
          <p:cNvPr id="498" name="Google Shape;498;p18"/>
          <p:cNvSpPr/>
          <p:nvPr/>
        </p:nvSpPr>
        <p:spPr>
          <a:xfrm>
            <a:off x="777240" y="1920240"/>
            <a:ext cx="16459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En proyectos y ejercicios: interpretar requisitos y entender qué se pide.</a:t>
            </a:r>
            <a:endParaRPr/>
          </a:p>
        </p:txBody>
      </p:sp>
      <p:sp>
        <p:nvSpPr>
          <p:cNvPr id="499" name="Google Shape;499;p18"/>
          <p:cNvSpPr/>
          <p:nvPr/>
        </p:nvSpPr>
        <p:spPr>
          <a:xfrm>
            <a:off x="2679192" y="1481328"/>
            <a:ext cx="1828800" cy="1417320"/>
          </a:xfrm>
          <a:prstGeom prst="roundRect">
            <a:avLst>
              <a:gd fmla="val 12000" name="adj"/>
            </a:avLst>
          </a:prstGeom>
          <a:solidFill>
            <a:srgbClr val="F7F3EE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18"/>
          <p:cNvSpPr/>
          <p:nvPr/>
        </p:nvSpPr>
        <p:spPr>
          <a:xfrm>
            <a:off x="2770632" y="1572768"/>
            <a:ext cx="274320" cy="274320"/>
          </a:xfrm>
          <a:prstGeom prst="ellipse">
            <a:avLst/>
          </a:prstGeom>
          <a:solidFill>
            <a:srgbClr val="E6945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/>
          </a:p>
        </p:txBody>
      </p:sp>
      <p:sp>
        <p:nvSpPr>
          <p:cNvPr id="501" name="Google Shape;501;p18"/>
          <p:cNvSpPr/>
          <p:nvPr/>
        </p:nvSpPr>
        <p:spPr>
          <a:xfrm>
            <a:off x="3090672" y="1572768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Diseño</a:t>
            </a:r>
            <a:endParaRPr/>
          </a:p>
        </p:txBody>
      </p:sp>
      <p:sp>
        <p:nvSpPr>
          <p:cNvPr id="502" name="Google Shape;502;p18"/>
          <p:cNvSpPr/>
          <p:nvPr/>
        </p:nvSpPr>
        <p:spPr>
          <a:xfrm>
            <a:off x="2770632" y="1920240"/>
            <a:ext cx="16459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Bloques de UML (diagramas de bloques) y diseño previo a la programación.</a:t>
            </a:r>
            <a:endParaRPr/>
          </a:p>
        </p:txBody>
      </p:sp>
      <p:sp>
        <p:nvSpPr>
          <p:cNvPr id="503" name="Google Shape;503;p18"/>
          <p:cNvSpPr/>
          <p:nvPr/>
        </p:nvSpPr>
        <p:spPr>
          <a:xfrm>
            <a:off x="4672584" y="1481328"/>
            <a:ext cx="1828800" cy="1417320"/>
          </a:xfrm>
          <a:prstGeom prst="roundRect">
            <a:avLst>
              <a:gd fmla="val 12000" name="adj"/>
            </a:avLst>
          </a:prstGeom>
          <a:solidFill>
            <a:srgbClr val="F7F3EE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18"/>
          <p:cNvSpPr/>
          <p:nvPr/>
        </p:nvSpPr>
        <p:spPr>
          <a:xfrm>
            <a:off x="4764024" y="1572768"/>
            <a:ext cx="274320" cy="274320"/>
          </a:xfrm>
          <a:prstGeom prst="ellipse">
            <a:avLst/>
          </a:prstGeom>
          <a:solidFill>
            <a:srgbClr val="E6945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/>
          </a:p>
        </p:txBody>
      </p:sp>
      <p:sp>
        <p:nvSpPr>
          <p:cNvPr id="505" name="Google Shape;505;p18"/>
          <p:cNvSpPr/>
          <p:nvPr/>
        </p:nvSpPr>
        <p:spPr>
          <a:xfrm>
            <a:off x="5084064" y="1572768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Codificación</a:t>
            </a:r>
            <a:endParaRPr/>
          </a:p>
        </p:txBody>
      </p:sp>
      <p:sp>
        <p:nvSpPr>
          <p:cNvPr id="506" name="Google Shape;506;p18"/>
          <p:cNvSpPr/>
          <p:nvPr/>
        </p:nvSpPr>
        <p:spPr>
          <a:xfrm>
            <a:off x="4764024" y="1920240"/>
            <a:ext cx="16459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Programación durante el curso y el proceso de construcción del software.</a:t>
            </a:r>
            <a:endParaRPr/>
          </a:p>
        </p:txBody>
      </p:sp>
      <p:sp>
        <p:nvSpPr>
          <p:cNvPr id="507" name="Google Shape;507;p18"/>
          <p:cNvSpPr/>
          <p:nvPr/>
        </p:nvSpPr>
        <p:spPr>
          <a:xfrm>
            <a:off x="6665976" y="1481328"/>
            <a:ext cx="1828800" cy="1417320"/>
          </a:xfrm>
          <a:prstGeom prst="roundRect">
            <a:avLst>
              <a:gd fmla="val 12000" name="adj"/>
            </a:avLst>
          </a:prstGeom>
          <a:solidFill>
            <a:srgbClr val="F7F3EE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18"/>
          <p:cNvSpPr/>
          <p:nvPr/>
        </p:nvSpPr>
        <p:spPr>
          <a:xfrm>
            <a:off x="6757416" y="1572768"/>
            <a:ext cx="274320" cy="274320"/>
          </a:xfrm>
          <a:prstGeom prst="ellipse">
            <a:avLst/>
          </a:prstGeom>
          <a:solidFill>
            <a:srgbClr val="E6945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endParaRPr/>
          </a:p>
        </p:txBody>
      </p:sp>
      <p:sp>
        <p:nvSpPr>
          <p:cNvPr id="509" name="Google Shape;509;p18"/>
          <p:cNvSpPr/>
          <p:nvPr/>
        </p:nvSpPr>
        <p:spPr>
          <a:xfrm>
            <a:off x="7077456" y="1572768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Pruebas</a:t>
            </a:r>
            <a:endParaRPr/>
          </a:p>
        </p:txBody>
      </p:sp>
      <p:sp>
        <p:nvSpPr>
          <p:cNvPr id="510" name="Google Shape;510;p18"/>
          <p:cNvSpPr/>
          <p:nvPr/>
        </p:nvSpPr>
        <p:spPr>
          <a:xfrm>
            <a:off x="6757416" y="1920240"/>
            <a:ext cx="16459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Casos de prueba y pruebas automatizadas.</a:t>
            </a:r>
            <a:endParaRPr/>
          </a:p>
        </p:txBody>
      </p:sp>
      <p:sp>
        <p:nvSpPr>
          <p:cNvPr id="511" name="Google Shape;511;p18"/>
          <p:cNvSpPr/>
          <p:nvPr/>
        </p:nvSpPr>
        <p:spPr>
          <a:xfrm>
            <a:off x="685800" y="3017520"/>
            <a:ext cx="1828800" cy="1417320"/>
          </a:xfrm>
          <a:prstGeom prst="roundRect">
            <a:avLst>
              <a:gd fmla="val 12000" name="adj"/>
            </a:avLst>
          </a:prstGeom>
          <a:solidFill>
            <a:srgbClr val="F7F3EE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18"/>
          <p:cNvSpPr/>
          <p:nvPr/>
        </p:nvSpPr>
        <p:spPr>
          <a:xfrm>
            <a:off x="777240" y="3108960"/>
            <a:ext cx="274320" cy="274320"/>
          </a:xfrm>
          <a:prstGeom prst="ellipse">
            <a:avLst/>
          </a:prstGeom>
          <a:solidFill>
            <a:srgbClr val="E6945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5</a:t>
            </a:r>
            <a:endParaRPr/>
          </a:p>
        </p:txBody>
      </p:sp>
      <p:sp>
        <p:nvSpPr>
          <p:cNvPr id="513" name="Google Shape;513;p18"/>
          <p:cNvSpPr/>
          <p:nvPr/>
        </p:nvSpPr>
        <p:spPr>
          <a:xfrm>
            <a:off x="1097280" y="310896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Documentación</a:t>
            </a:r>
            <a:endParaRPr/>
          </a:p>
        </p:txBody>
      </p:sp>
      <p:sp>
        <p:nvSpPr>
          <p:cNvPr id="514" name="Google Shape;514;p18"/>
          <p:cNvSpPr/>
          <p:nvPr/>
        </p:nvSpPr>
        <p:spPr>
          <a:xfrm>
            <a:off x="777240" y="3456432"/>
            <a:ext cx="16459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Documentación del código y del proyecto.</a:t>
            </a:r>
            <a:endParaRPr/>
          </a:p>
        </p:txBody>
      </p:sp>
      <p:sp>
        <p:nvSpPr>
          <p:cNvPr id="515" name="Google Shape;515;p18"/>
          <p:cNvSpPr/>
          <p:nvPr/>
        </p:nvSpPr>
        <p:spPr>
          <a:xfrm>
            <a:off x="2679192" y="3017520"/>
            <a:ext cx="1828800" cy="1417320"/>
          </a:xfrm>
          <a:prstGeom prst="roundRect">
            <a:avLst>
              <a:gd fmla="val 12000" name="adj"/>
            </a:avLst>
          </a:prstGeom>
          <a:solidFill>
            <a:srgbClr val="F7F3EE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18"/>
          <p:cNvSpPr/>
          <p:nvPr/>
        </p:nvSpPr>
        <p:spPr>
          <a:xfrm>
            <a:off x="2770632" y="3108960"/>
            <a:ext cx="274320" cy="274320"/>
          </a:xfrm>
          <a:prstGeom prst="ellipse">
            <a:avLst/>
          </a:prstGeom>
          <a:solidFill>
            <a:srgbClr val="E6945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6</a:t>
            </a:r>
            <a:endParaRPr/>
          </a:p>
        </p:txBody>
      </p:sp>
      <p:sp>
        <p:nvSpPr>
          <p:cNvPr id="517" name="Google Shape;517;p18"/>
          <p:cNvSpPr/>
          <p:nvPr/>
        </p:nvSpPr>
        <p:spPr>
          <a:xfrm>
            <a:off x="3090672" y="310896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Explotación</a:t>
            </a:r>
            <a:endParaRPr/>
          </a:p>
        </p:txBody>
      </p:sp>
      <p:sp>
        <p:nvSpPr>
          <p:cNvPr id="518" name="Google Shape;518;p18"/>
          <p:cNvSpPr/>
          <p:nvPr/>
        </p:nvSpPr>
        <p:spPr>
          <a:xfrm>
            <a:off x="2770632" y="3456432"/>
            <a:ext cx="16459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Poner en marcha, configurar y ejecutar las aplicaciones de los proyectos.</a:t>
            </a:r>
            <a:endParaRPr/>
          </a:p>
        </p:txBody>
      </p:sp>
      <p:sp>
        <p:nvSpPr>
          <p:cNvPr id="519" name="Google Shape;519;p18"/>
          <p:cNvSpPr/>
          <p:nvPr/>
        </p:nvSpPr>
        <p:spPr>
          <a:xfrm>
            <a:off x="4672584" y="3017520"/>
            <a:ext cx="1828800" cy="1417320"/>
          </a:xfrm>
          <a:prstGeom prst="roundRect">
            <a:avLst>
              <a:gd fmla="val 12000" name="adj"/>
            </a:avLst>
          </a:prstGeom>
          <a:solidFill>
            <a:srgbClr val="F7F3EE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18"/>
          <p:cNvSpPr/>
          <p:nvPr/>
        </p:nvSpPr>
        <p:spPr>
          <a:xfrm>
            <a:off x="4764024" y="3108960"/>
            <a:ext cx="274320" cy="274320"/>
          </a:xfrm>
          <a:prstGeom prst="ellipse">
            <a:avLst/>
          </a:prstGeom>
          <a:solidFill>
            <a:srgbClr val="E6945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7</a:t>
            </a:r>
            <a:endParaRPr/>
          </a:p>
        </p:txBody>
      </p:sp>
      <p:sp>
        <p:nvSpPr>
          <p:cNvPr id="521" name="Google Shape;521;p18"/>
          <p:cNvSpPr/>
          <p:nvPr/>
        </p:nvSpPr>
        <p:spPr>
          <a:xfrm>
            <a:off x="5084064" y="310896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Mantenimiento</a:t>
            </a:r>
            <a:endParaRPr/>
          </a:p>
        </p:txBody>
      </p:sp>
      <p:sp>
        <p:nvSpPr>
          <p:cNvPr id="522" name="Google Shape;522;p18"/>
          <p:cNvSpPr/>
          <p:nvPr/>
        </p:nvSpPr>
        <p:spPr>
          <a:xfrm>
            <a:off x="4764024" y="3456432"/>
            <a:ext cx="16459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Resolver incidencias y modificar aplicaciones ya existentes.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23"/>
          <p:cNvSpPr/>
          <p:nvPr/>
        </p:nvSpPr>
        <p:spPr>
          <a:xfrm>
            <a:off x="502920" y="34747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449"/>
              </a:buClr>
              <a:buSzPts val="1050"/>
              <a:buFont typeface="Poppins Medium"/>
              <a:buNone/>
            </a:pPr>
            <a:r>
              <a:rPr b="0" i="0" lang="en-US" sz="1050" u="none" cap="none" strike="noStrike">
                <a:solidFill>
                  <a:srgbClr val="4A544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UT1 · EL DESARROLLO DE SOFTWARE Y SUS FASES</a:t>
            </a:r>
            <a:endParaRPr b="0" i="0" sz="105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28" name="Google Shape;528;p23"/>
          <p:cNvSpPr/>
          <p:nvPr/>
        </p:nvSpPr>
        <p:spPr>
          <a:xfrm>
            <a:off x="502920" y="594360"/>
            <a:ext cx="1188720" cy="365760"/>
          </a:xfrm>
          <a:prstGeom prst="roundRect">
            <a:avLst>
              <a:gd fmla="val 15000" name="adj"/>
            </a:avLst>
          </a:prstGeom>
          <a:solidFill>
            <a:srgbClr val="E694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23"/>
          <p:cNvSpPr/>
          <p:nvPr/>
        </p:nvSpPr>
        <p:spPr>
          <a:xfrm>
            <a:off x="502920" y="594360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A1D"/>
              </a:buClr>
              <a:buSzPts val="1000"/>
              <a:buFont typeface="Poppins Medium"/>
              <a:buNone/>
            </a:pPr>
            <a:r>
              <a:rPr b="0" i="0" lang="en-US" sz="1000" u="none" cap="none" strike="noStrike">
                <a:solidFill>
                  <a:srgbClr val="152A1D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EJEMPLO</a:t>
            </a:r>
            <a:endParaRPr b="0" i="0" sz="1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30" name="Google Shape;530;p23"/>
          <p:cNvSpPr/>
          <p:nvPr/>
        </p:nvSpPr>
        <p:spPr>
          <a:xfrm>
            <a:off x="502920" y="1097280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A1D"/>
              </a:buClr>
              <a:buSzPts val="2200"/>
              <a:buFont typeface="Poppins SemiBold"/>
              <a:buNone/>
            </a:pPr>
            <a:r>
              <a:rPr b="1" i="0" lang="en-US" sz="1700" u="none" cap="none" strike="noStrike">
                <a:solidFill>
                  <a:srgbClr val="152A1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Ejemplo resuelto: una app de reservas de sala heredada</a:t>
            </a:r>
            <a:endParaRPr b="0" i="0" sz="2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31" name="Google Shape;531;p23"/>
          <p:cNvSpPr/>
          <p:nvPr/>
        </p:nvSpPr>
        <p:spPr>
          <a:xfrm>
            <a:off x="502925" y="1679101"/>
            <a:ext cx="8138100" cy="2938500"/>
          </a:xfrm>
          <a:prstGeom prst="roundRect">
            <a:avLst>
              <a:gd fmla="val 2759" name="adj"/>
            </a:avLst>
          </a:prstGeom>
          <a:solidFill>
            <a:srgbClr val="FBF8F5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23"/>
          <p:cNvSpPr/>
          <p:nvPr/>
        </p:nvSpPr>
        <p:spPr>
          <a:xfrm>
            <a:off x="7924515" y="347480"/>
            <a:ext cx="640200" cy="640200"/>
          </a:xfrm>
          <a:prstGeom prst="ellipse">
            <a:avLst/>
          </a:prstGeom>
          <a:solidFill>
            <a:srgbClr val="E694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icons/clipboard_navy.png" id="533" name="Google Shape;53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90936" y="513901"/>
            <a:ext cx="307238" cy="307238"/>
          </a:xfrm>
          <a:prstGeom prst="rect">
            <a:avLst/>
          </a:prstGeom>
          <a:noFill/>
          <a:ln>
            <a:noFill/>
          </a:ln>
        </p:spPr>
      </p:pic>
      <p:sp>
        <p:nvSpPr>
          <p:cNvPr id="534" name="Google Shape;534;p23"/>
          <p:cNvSpPr/>
          <p:nvPr/>
        </p:nvSpPr>
        <p:spPr>
          <a:xfrm>
            <a:off x="685800" y="1847088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Llega una carpeta con estos ficheros. De cada uno se dice a qué fase corresponde por su función principal.</a:t>
            </a:r>
            <a:endParaRPr/>
          </a:p>
        </p:txBody>
      </p:sp>
      <p:sp>
        <p:nvSpPr>
          <p:cNvPr id="535" name="Google Shape;535;p23"/>
          <p:cNvSpPr/>
          <p:nvPr/>
        </p:nvSpPr>
        <p:spPr>
          <a:xfrm>
            <a:off x="685800" y="2176272"/>
            <a:ext cx="3794760" cy="457200"/>
          </a:xfrm>
          <a:prstGeom prst="roundRect">
            <a:avLst>
              <a:gd fmla="val 12000" name="adj"/>
            </a:avLst>
          </a:prstGeom>
          <a:solidFill>
            <a:srgbClr val="F7F3EE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23"/>
          <p:cNvSpPr/>
          <p:nvPr/>
        </p:nvSpPr>
        <p:spPr>
          <a:xfrm>
            <a:off x="795528" y="2212848"/>
            <a:ext cx="1737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lo_que_pide_recepcion.txt</a:t>
            </a:r>
            <a:endParaRPr/>
          </a:p>
        </p:txBody>
      </p:sp>
      <p:sp>
        <p:nvSpPr>
          <p:cNvPr id="537" name="Google Shape;537;p23"/>
          <p:cNvSpPr/>
          <p:nvPr/>
        </p:nvSpPr>
        <p:spPr>
          <a:xfrm>
            <a:off x="2514600" y="2212848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E6945A"/>
                </a:solidFill>
                <a:latin typeface="Poppins"/>
                <a:ea typeface="Poppins"/>
                <a:cs typeface="Poppins"/>
                <a:sym typeface="Poppins"/>
              </a:rPr>
              <a:t>Análisis: requisitos y necesidades</a:t>
            </a:r>
            <a:endParaRPr/>
          </a:p>
        </p:txBody>
      </p:sp>
      <p:sp>
        <p:nvSpPr>
          <p:cNvPr id="538" name="Google Shape;538;p23"/>
          <p:cNvSpPr/>
          <p:nvPr/>
        </p:nvSpPr>
        <p:spPr>
          <a:xfrm>
            <a:off x="4663440" y="2176272"/>
            <a:ext cx="3794760" cy="457200"/>
          </a:xfrm>
          <a:prstGeom prst="roundRect">
            <a:avLst>
              <a:gd fmla="val 12000" name="adj"/>
            </a:avLst>
          </a:prstGeom>
          <a:solidFill>
            <a:srgbClr val="F7F3EE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23"/>
          <p:cNvSpPr/>
          <p:nvPr/>
        </p:nvSpPr>
        <p:spPr>
          <a:xfrm>
            <a:off x="4773168" y="2212848"/>
            <a:ext cx="1737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esquema_salas.png</a:t>
            </a:r>
            <a:endParaRPr/>
          </a:p>
        </p:txBody>
      </p:sp>
      <p:sp>
        <p:nvSpPr>
          <p:cNvPr id="540" name="Google Shape;540;p23"/>
          <p:cNvSpPr/>
          <p:nvPr/>
        </p:nvSpPr>
        <p:spPr>
          <a:xfrm>
            <a:off x="6492240" y="2212848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E6945A"/>
                </a:solidFill>
                <a:latin typeface="Poppins"/>
                <a:ea typeface="Poppins"/>
                <a:cs typeface="Poppins"/>
                <a:sym typeface="Poppins"/>
              </a:rPr>
              <a:t>Diseño: modelo de la solución</a:t>
            </a:r>
            <a:endParaRPr/>
          </a:p>
        </p:txBody>
      </p:sp>
      <p:sp>
        <p:nvSpPr>
          <p:cNvPr id="541" name="Google Shape;541;p23"/>
          <p:cNvSpPr/>
          <p:nvPr/>
        </p:nvSpPr>
        <p:spPr>
          <a:xfrm>
            <a:off x="685800" y="2706624"/>
            <a:ext cx="3794760" cy="457200"/>
          </a:xfrm>
          <a:prstGeom prst="roundRect">
            <a:avLst>
              <a:gd fmla="val 12000" name="adj"/>
            </a:avLst>
          </a:prstGeom>
          <a:solidFill>
            <a:srgbClr val="F7F3EE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23"/>
          <p:cNvSpPr/>
          <p:nvPr/>
        </p:nvSpPr>
        <p:spPr>
          <a:xfrm>
            <a:off x="795528" y="2743200"/>
            <a:ext cx="1737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Reserva.java · Sala.java</a:t>
            </a:r>
            <a:endParaRPr/>
          </a:p>
        </p:txBody>
      </p:sp>
      <p:sp>
        <p:nvSpPr>
          <p:cNvPr id="543" name="Google Shape;543;p23"/>
          <p:cNvSpPr/>
          <p:nvPr/>
        </p:nvSpPr>
        <p:spPr>
          <a:xfrm>
            <a:off x="2514600" y="2743200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E6945A"/>
                </a:solidFill>
                <a:latin typeface="Poppins"/>
                <a:ea typeface="Poppins"/>
                <a:cs typeface="Poppins"/>
                <a:sym typeface="Poppins"/>
              </a:rPr>
              <a:t>Codificación: código fuente</a:t>
            </a:r>
            <a:endParaRPr/>
          </a:p>
        </p:txBody>
      </p:sp>
      <p:sp>
        <p:nvSpPr>
          <p:cNvPr id="544" name="Google Shape;544;p23"/>
          <p:cNvSpPr/>
          <p:nvPr/>
        </p:nvSpPr>
        <p:spPr>
          <a:xfrm>
            <a:off x="4663440" y="2706624"/>
            <a:ext cx="3794760" cy="457200"/>
          </a:xfrm>
          <a:prstGeom prst="roundRect">
            <a:avLst>
              <a:gd fmla="val 12000" name="adj"/>
            </a:avLst>
          </a:prstGeom>
          <a:solidFill>
            <a:srgbClr val="F7F3EE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23"/>
          <p:cNvSpPr/>
          <p:nvPr/>
        </p:nvSpPr>
        <p:spPr>
          <a:xfrm>
            <a:off x="4773168" y="2743200"/>
            <a:ext cx="1737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casos_probados.xlsx</a:t>
            </a:r>
            <a:endParaRPr/>
          </a:p>
        </p:txBody>
      </p:sp>
      <p:sp>
        <p:nvSpPr>
          <p:cNvPr id="546" name="Google Shape;546;p23"/>
          <p:cNvSpPr/>
          <p:nvPr/>
        </p:nvSpPr>
        <p:spPr>
          <a:xfrm>
            <a:off x="6492240" y="2743200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E6945A"/>
                </a:solidFill>
                <a:latin typeface="Poppins"/>
                <a:ea typeface="Poppins"/>
                <a:cs typeface="Poppins"/>
                <a:sym typeface="Poppins"/>
              </a:rPr>
              <a:t>Pruebas: casos ejecutados y resultados</a:t>
            </a:r>
            <a:endParaRPr/>
          </a:p>
        </p:txBody>
      </p:sp>
      <p:sp>
        <p:nvSpPr>
          <p:cNvPr id="547" name="Google Shape;547;p23"/>
          <p:cNvSpPr/>
          <p:nvPr/>
        </p:nvSpPr>
        <p:spPr>
          <a:xfrm>
            <a:off x="685800" y="3236976"/>
            <a:ext cx="3794760" cy="457200"/>
          </a:xfrm>
          <a:prstGeom prst="roundRect">
            <a:avLst>
              <a:gd fmla="val 12000" name="adj"/>
            </a:avLst>
          </a:prstGeom>
          <a:solidFill>
            <a:srgbClr val="F7F3EE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23"/>
          <p:cNvSpPr/>
          <p:nvPr/>
        </p:nvSpPr>
        <p:spPr>
          <a:xfrm>
            <a:off x="795528" y="3273552"/>
            <a:ext cx="1737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manual_recepcion.pdf</a:t>
            </a:r>
            <a:endParaRPr/>
          </a:p>
        </p:txBody>
      </p:sp>
      <p:sp>
        <p:nvSpPr>
          <p:cNvPr id="549" name="Google Shape;549;p23"/>
          <p:cNvSpPr/>
          <p:nvPr/>
        </p:nvSpPr>
        <p:spPr>
          <a:xfrm>
            <a:off x="2514600" y="3273552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E6945A"/>
                </a:solidFill>
                <a:latin typeface="Poppins"/>
                <a:ea typeface="Poppins"/>
                <a:cs typeface="Poppins"/>
                <a:sym typeface="Poppins"/>
              </a:rPr>
              <a:t>Documentación: instrucciones de uso</a:t>
            </a:r>
            <a:endParaRPr/>
          </a:p>
        </p:txBody>
      </p:sp>
      <p:sp>
        <p:nvSpPr>
          <p:cNvPr id="550" name="Google Shape;550;p23"/>
          <p:cNvSpPr/>
          <p:nvPr/>
        </p:nvSpPr>
        <p:spPr>
          <a:xfrm>
            <a:off x="4663440" y="3236976"/>
            <a:ext cx="3794760" cy="457200"/>
          </a:xfrm>
          <a:prstGeom prst="roundRect">
            <a:avLst>
              <a:gd fmla="val 12000" name="adj"/>
            </a:avLst>
          </a:prstGeom>
          <a:solidFill>
            <a:srgbClr val="F7F3EE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23"/>
          <p:cNvSpPr/>
          <p:nvPr/>
        </p:nvSpPr>
        <p:spPr>
          <a:xfrm>
            <a:off x="4773168" y="3273552"/>
            <a:ext cx="1737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instalar_en_recepcion.bat</a:t>
            </a:r>
            <a:endParaRPr/>
          </a:p>
        </p:txBody>
      </p:sp>
      <p:sp>
        <p:nvSpPr>
          <p:cNvPr id="552" name="Google Shape;552;p23"/>
          <p:cNvSpPr/>
          <p:nvPr/>
        </p:nvSpPr>
        <p:spPr>
          <a:xfrm>
            <a:off x="6492240" y="3273552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E6945A"/>
                </a:solidFill>
                <a:latin typeface="Poppins"/>
                <a:ea typeface="Poppins"/>
                <a:cs typeface="Poppins"/>
                <a:sym typeface="Poppins"/>
              </a:rPr>
              <a:t>Explotación: instalación o puesta en marcha</a:t>
            </a:r>
            <a:endParaRPr/>
          </a:p>
        </p:txBody>
      </p:sp>
      <p:sp>
        <p:nvSpPr>
          <p:cNvPr id="553" name="Google Shape;553;p23"/>
          <p:cNvSpPr/>
          <p:nvPr/>
        </p:nvSpPr>
        <p:spPr>
          <a:xfrm>
            <a:off x="2674620" y="3767327"/>
            <a:ext cx="3794760" cy="457200"/>
          </a:xfrm>
          <a:prstGeom prst="roundRect">
            <a:avLst>
              <a:gd fmla="val 12000" name="adj"/>
            </a:avLst>
          </a:prstGeom>
          <a:solidFill>
            <a:srgbClr val="F7F3EE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23"/>
          <p:cNvSpPr/>
          <p:nvPr/>
        </p:nvSpPr>
        <p:spPr>
          <a:xfrm>
            <a:off x="2784348" y="3803903"/>
            <a:ext cx="1737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quejas_de_los_usuarios.txt</a:t>
            </a:r>
            <a:endParaRPr/>
          </a:p>
        </p:txBody>
      </p:sp>
      <p:sp>
        <p:nvSpPr>
          <p:cNvPr id="555" name="Google Shape;555;p23"/>
          <p:cNvSpPr/>
          <p:nvPr/>
        </p:nvSpPr>
        <p:spPr>
          <a:xfrm>
            <a:off x="4503420" y="3803903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E6945A"/>
                </a:solidFill>
                <a:latin typeface="Poppins"/>
                <a:ea typeface="Poppins"/>
                <a:cs typeface="Poppins"/>
                <a:sym typeface="Poppins"/>
              </a:rPr>
              <a:t>Mantenimiento: incidencias y peticiones de cambio</a:t>
            </a:r>
            <a:endParaRPr/>
          </a:p>
        </p:txBody>
      </p:sp>
      <p:sp>
        <p:nvSpPr>
          <p:cNvPr id="556" name="Google Shape;556;p23"/>
          <p:cNvSpPr/>
          <p:nvPr/>
        </p:nvSpPr>
        <p:spPr>
          <a:xfrm>
            <a:off x="685800" y="4315968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En un proyecto real, un mismo documento puede actualizarse durante varias fases; aquí lo asociamos a su función principal.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2A1D"/>
        </a:solidFill>
      </p:bgPr>
    </p:bg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19"/>
          <p:cNvSpPr/>
          <p:nvPr/>
        </p:nvSpPr>
        <p:spPr>
          <a:xfrm>
            <a:off x="-1005840" y="2468880"/>
            <a:ext cx="3291840" cy="3291840"/>
          </a:xfrm>
          <a:prstGeom prst="ellipse">
            <a:avLst/>
          </a:prstGeom>
          <a:solidFill>
            <a:srgbClr val="FFFFFF">
              <a:alpha val="1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19"/>
          <p:cNvSpPr/>
          <p:nvPr/>
        </p:nvSpPr>
        <p:spPr>
          <a:xfrm>
            <a:off x="376733" y="2863901"/>
            <a:ext cx="2468880" cy="2468880"/>
          </a:xfrm>
          <a:prstGeom prst="ellipse">
            <a:avLst/>
          </a:prstGeom>
          <a:solidFill>
            <a:srgbClr val="E6945A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19"/>
          <p:cNvSpPr/>
          <p:nvPr/>
        </p:nvSpPr>
        <p:spPr>
          <a:xfrm>
            <a:off x="4663440" y="502920"/>
            <a:ext cx="3977640" cy="4206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4436"/>
              </a:buClr>
              <a:buSzPts val="22000"/>
              <a:buFont typeface="Poppins SemiBold"/>
              <a:buNone/>
            </a:pPr>
            <a:r>
              <a:rPr b="1" i="0" lang="en-US" sz="22000" u="none" cap="none" strike="noStrike">
                <a:solidFill>
                  <a:srgbClr val="2C443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04</a:t>
            </a:r>
            <a:endParaRPr b="0" i="0" sz="22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64" name="Google Shape;564;p19"/>
          <p:cNvSpPr/>
          <p:nvPr/>
        </p:nvSpPr>
        <p:spPr>
          <a:xfrm>
            <a:off x="502920" y="196596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945A"/>
              </a:buClr>
              <a:buSzPts val="1300"/>
              <a:buFont typeface="Poppins Medium"/>
              <a:buNone/>
            </a:pPr>
            <a:r>
              <a:rPr b="0" i="0" lang="en-US" sz="1300" u="none" cap="none" strike="noStrike">
                <a:solidFill>
                  <a:srgbClr val="E6945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DENTRO DE LA CODIFICACIÓN</a:t>
            </a:r>
            <a:endParaRPr b="0" i="0" sz="13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65" name="Google Shape;565;p19"/>
          <p:cNvSpPr/>
          <p:nvPr/>
        </p:nvSpPr>
        <p:spPr>
          <a:xfrm>
            <a:off x="502920" y="2286000"/>
            <a:ext cx="512064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Poppins SemiBold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Del código fuente</a:t>
            </a:r>
            <a:endParaRPr b="0" i="0" sz="3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Poppins SemiBold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 la ejecución</a:t>
            </a:r>
            <a:endParaRPr b="0" i="0" sz="3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20"/>
          <p:cNvSpPr/>
          <p:nvPr/>
        </p:nvSpPr>
        <p:spPr>
          <a:xfrm>
            <a:off x="502920" y="34747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449"/>
              </a:buClr>
              <a:buSzPts val="1050"/>
              <a:buFont typeface="Poppins Medium"/>
              <a:buNone/>
            </a:pPr>
            <a:r>
              <a:rPr b="0" i="0" lang="en-US" sz="1050" u="none" cap="none" strike="noStrike">
                <a:solidFill>
                  <a:srgbClr val="4A544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UT1 · EL DESARROLLO DE SOFTWARE Y SUS FASES</a:t>
            </a:r>
            <a:endParaRPr b="0" i="0" sz="105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71" name="Google Shape;571;p20"/>
          <p:cNvSpPr/>
          <p:nvPr/>
        </p:nvSpPr>
        <p:spPr>
          <a:xfrm>
            <a:off x="7223760" y="594360"/>
            <a:ext cx="1417320" cy="365760"/>
          </a:xfrm>
          <a:prstGeom prst="roundRect">
            <a:avLst>
              <a:gd fmla="val 15000" name="adj"/>
            </a:avLst>
          </a:prstGeom>
          <a:solidFill>
            <a:srgbClr val="F7F3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20"/>
          <p:cNvSpPr/>
          <p:nvPr/>
        </p:nvSpPr>
        <p:spPr>
          <a:xfrm>
            <a:off x="7223760" y="594360"/>
            <a:ext cx="1417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A1D"/>
              </a:buClr>
              <a:buSzPts val="1000"/>
              <a:buFont typeface="Poppins Medium"/>
              <a:buNone/>
            </a:pPr>
            <a:r>
              <a:rPr b="0" i="0" lang="en-US" sz="1000" u="none" cap="none" strike="noStrike">
                <a:solidFill>
                  <a:srgbClr val="152A1D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CONCEPTO</a:t>
            </a:r>
            <a:endParaRPr b="0" i="0" sz="1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73" name="Google Shape;573;p20"/>
          <p:cNvSpPr/>
          <p:nvPr/>
        </p:nvSpPr>
        <p:spPr>
          <a:xfrm>
            <a:off x="502920" y="566928"/>
            <a:ext cx="5760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A1D"/>
              </a:buClr>
              <a:buSzPts val="2500"/>
              <a:buFont typeface="Poppins SemiBold"/>
              <a:buNone/>
            </a:pPr>
            <a:r>
              <a:rPr b="1" i="0" lang="en-US" sz="1600" u="none" cap="none" strike="noStrike">
                <a:solidFill>
                  <a:srgbClr val="152A1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Compilación nativa: compilador y enlazador</a:t>
            </a:r>
            <a:endParaRPr b="0" i="0" sz="2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74" name="Google Shape;574;p20"/>
          <p:cNvSpPr/>
          <p:nvPr/>
        </p:nvSpPr>
        <p:spPr>
          <a:xfrm>
            <a:off x="502950" y="1184475"/>
            <a:ext cx="8138100" cy="3336900"/>
          </a:xfrm>
          <a:prstGeom prst="roundRect">
            <a:avLst>
              <a:gd fmla="val 2254" name="adj"/>
            </a:avLst>
          </a:prstGeom>
          <a:solidFill>
            <a:srgbClr val="FBF8F5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p20"/>
          <p:cNvSpPr/>
          <p:nvPr/>
        </p:nvSpPr>
        <p:spPr>
          <a:xfrm>
            <a:off x="685825" y="283574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En una compilación nativa como la de C, el código fuente pasa por varias herramientas antes de obtener el ejecutable.</a:t>
            </a:r>
            <a:endParaRPr/>
          </a:p>
        </p:txBody>
      </p:sp>
      <p:sp>
        <p:nvSpPr>
          <p:cNvPr id="576" name="Google Shape;576;p20"/>
          <p:cNvSpPr/>
          <p:nvPr/>
        </p:nvSpPr>
        <p:spPr>
          <a:xfrm>
            <a:off x="685825" y="3201500"/>
            <a:ext cx="1437300" cy="1143000"/>
          </a:xfrm>
          <a:prstGeom prst="roundRect">
            <a:avLst>
              <a:gd fmla="val 12000" name="adj"/>
            </a:avLst>
          </a:prstGeom>
          <a:solidFill>
            <a:srgbClr val="F7F3EE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p20"/>
          <p:cNvSpPr/>
          <p:nvPr/>
        </p:nvSpPr>
        <p:spPr>
          <a:xfrm>
            <a:off x="722401" y="3256364"/>
            <a:ext cx="1364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hola.c</a:t>
            </a:r>
            <a:endParaRPr/>
          </a:p>
        </p:txBody>
      </p:sp>
      <p:sp>
        <p:nvSpPr>
          <p:cNvPr id="578" name="Google Shape;578;p20"/>
          <p:cNvSpPr/>
          <p:nvPr/>
        </p:nvSpPr>
        <p:spPr>
          <a:xfrm>
            <a:off x="722401" y="3480397"/>
            <a:ext cx="13644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 sz="750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Contiene las instrucciones escritas por el programador en C.</a:t>
            </a:r>
            <a:br>
              <a:rPr lang="en-US" sz="750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sz="750">
              <a:solidFill>
                <a:srgbClr val="6B726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Todavía no puede ejecutarlas directamente la CPU. </a:t>
            </a:r>
            <a:endParaRPr sz="750">
              <a:solidFill>
                <a:srgbClr val="6B726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579" name="Google Shape;579;p20"/>
          <p:cNvCxnSpPr/>
          <p:nvPr/>
        </p:nvCxnSpPr>
        <p:spPr>
          <a:xfrm>
            <a:off x="2123261" y="3773000"/>
            <a:ext cx="146400" cy="0"/>
          </a:xfrm>
          <a:prstGeom prst="straightConnector1">
            <a:avLst/>
          </a:prstGeom>
          <a:noFill/>
          <a:ln cap="flat" cmpd="sng" w="19050">
            <a:solidFill>
              <a:srgbClr val="E6945A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580" name="Google Shape;580;p20"/>
          <p:cNvSpPr/>
          <p:nvPr/>
        </p:nvSpPr>
        <p:spPr>
          <a:xfrm>
            <a:off x="2269565" y="3201500"/>
            <a:ext cx="1437300" cy="1143000"/>
          </a:xfrm>
          <a:prstGeom prst="roundRect">
            <a:avLst>
              <a:gd fmla="val 12000" name="adj"/>
            </a:avLst>
          </a:prstGeom>
          <a:solidFill>
            <a:srgbClr val="F3E6DA"/>
          </a:solidFill>
          <a:ln cap="flat" cmpd="sng" w="12700">
            <a:solidFill>
              <a:srgbClr val="E694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20"/>
          <p:cNvSpPr/>
          <p:nvPr/>
        </p:nvSpPr>
        <p:spPr>
          <a:xfrm>
            <a:off x="2306141" y="3256364"/>
            <a:ext cx="1364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Compilación</a:t>
            </a:r>
            <a:endParaRPr/>
          </a:p>
        </p:txBody>
      </p:sp>
      <p:sp>
        <p:nvSpPr>
          <p:cNvPr id="582" name="Google Shape;582;p20"/>
          <p:cNvSpPr/>
          <p:nvPr/>
        </p:nvSpPr>
        <p:spPr>
          <a:xfrm>
            <a:off x="2306141" y="3548972"/>
            <a:ext cx="13644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E6945A"/>
                </a:solidFill>
                <a:latin typeface="Poppins"/>
                <a:ea typeface="Poppins"/>
                <a:cs typeface="Poppins"/>
                <a:sym typeface="Poppins"/>
              </a:rPr>
              <a:t>gcc -c hola.c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1" lang="en-US" sz="750">
                <a:solidFill>
                  <a:srgbClr val="E6945A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750">
                <a:solidFill>
                  <a:schemeClr val="dk2"/>
                </a:solidFill>
              </a:rPr>
              <a:t>Traduce el código fuente a </a:t>
            </a:r>
            <a:r>
              <a:rPr b="1" lang="en-US" sz="750">
                <a:solidFill>
                  <a:schemeClr val="dk2"/>
                </a:solidFill>
              </a:rPr>
              <a:t>código objeto</a:t>
            </a:r>
            <a:r>
              <a:rPr lang="en-US" sz="750">
                <a:solidFill>
                  <a:schemeClr val="dk2"/>
                </a:solidFill>
              </a:rPr>
              <a:t> y genera </a:t>
            </a:r>
            <a:r>
              <a:rPr lang="en-US" sz="75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hola.o</a:t>
            </a:r>
            <a:r>
              <a:rPr lang="en-US" sz="1100">
                <a:solidFill>
                  <a:schemeClr val="dk2"/>
                </a:solidFill>
              </a:rPr>
              <a:t> </a:t>
            </a:r>
            <a:endParaRPr/>
          </a:p>
        </p:txBody>
      </p:sp>
      <p:cxnSp>
        <p:nvCxnSpPr>
          <p:cNvPr id="583" name="Google Shape;583;p20"/>
          <p:cNvCxnSpPr/>
          <p:nvPr/>
        </p:nvCxnSpPr>
        <p:spPr>
          <a:xfrm>
            <a:off x="3707002" y="3773000"/>
            <a:ext cx="146400" cy="0"/>
          </a:xfrm>
          <a:prstGeom prst="straightConnector1">
            <a:avLst/>
          </a:prstGeom>
          <a:noFill/>
          <a:ln cap="flat" cmpd="sng" w="19050">
            <a:solidFill>
              <a:srgbClr val="E6945A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584" name="Google Shape;584;p20"/>
          <p:cNvSpPr/>
          <p:nvPr/>
        </p:nvSpPr>
        <p:spPr>
          <a:xfrm>
            <a:off x="3853306" y="3201500"/>
            <a:ext cx="1437300" cy="1143000"/>
          </a:xfrm>
          <a:prstGeom prst="roundRect">
            <a:avLst>
              <a:gd fmla="val 12000" name="adj"/>
            </a:avLst>
          </a:prstGeom>
          <a:solidFill>
            <a:srgbClr val="F7F3EE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p20"/>
          <p:cNvSpPr/>
          <p:nvPr/>
        </p:nvSpPr>
        <p:spPr>
          <a:xfrm>
            <a:off x="3889882" y="3256364"/>
            <a:ext cx="1364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hola.o</a:t>
            </a:r>
            <a:endParaRPr/>
          </a:p>
        </p:txBody>
      </p:sp>
      <p:sp>
        <p:nvSpPr>
          <p:cNvPr id="586" name="Google Shape;586;p20"/>
          <p:cNvSpPr/>
          <p:nvPr/>
        </p:nvSpPr>
        <p:spPr>
          <a:xfrm>
            <a:off x="3889882" y="3548972"/>
            <a:ext cx="13644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 sz="750">
                <a:solidFill>
                  <a:schemeClr val="dk2"/>
                </a:solidFill>
              </a:rPr>
              <a:t>Contiene código máquina, pero todavía puede tener </a:t>
            </a:r>
            <a:r>
              <a:rPr b="1" lang="en-US" sz="750">
                <a:solidFill>
                  <a:schemeClr val="dk2"/>
                </a:solidFill>
              </a:rPr>
              <a:t>referencias pendientes</a:t>
            </a:r>
            <a:r>
              <a:rPr lang="en-US" sz="750">
                <a:solidFill>
                  <a:schemeClr val="dk2"/>
                </a:solidFill>
              </a:rPr>
              <a:t> a otras partes del programa o a bibliotecas.</a:t>
            </a:r>
            <a:endParaRPr sz="750">
              <a:solidFill>
                <a:schemeClr val="dk2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chemeClr val="dk2"/>
                </a:solidFill>
              </a:rPr>
              <a:t>Aún no es el ejecutable final. </a:t>
            </a:r>
            <a:endParaRPr sz="750">
              <a:solidFill>
                <a:srgbClr val="6B726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587" name="Google Shape;587;p20"/>
          <p:cNvCxnSpPr/>
          <p:nvPr/>
        </p:nvCxnSpPr>
        <p:spPr>
          <a:xfrm>
            <a:off x="5290743" y="3773000"/>
            <a:ext cx="146400" cy="0"/>
          </a:xfrm>
          <a:prstGeom prst="straightConnector1">
            <a:avLst/>
          </a:prstGeom>
          <a:noFill/>
          <a:ln cap="flat" cmpd="sng" w="19050">
            <a:solidFill>
              <a:srgbClr val="E6945A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588" name="Google Shape;588;p20"/>
          <p:cNvSpPr/>
          <p:nvPr/>
        </p:nvSpPr>
        <p:spPr>
          <a:xfrm>
            <a:off x="5437047" y="3201500"/>
            <a:ext cx="1437300" cy="1143000"/>
          </a:xfrm>
          <a:prstGeom prst="roundRect">
            <a:avLst>
              <a:gd fmla="val 12000" name="adj"/>
            </a:avLst>
          </a:prstGeom>
          <a:solidFill>
            <a:srgbClr val="F3E6DA"/>
          </a:solidFill>
          <a:ln cap="flat" cmpd="sng" w="12700">
            <a:solidFill>
              <a:srgbClr val="E694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20"/>
          <p:cNvSpPr/>
          <p:nvPr/>
        </p:nvSpPr>
        <p:spPr>
          <a:xfrm>
            <a:off x="5473623" y="3256364"/>
            <a:ext cx="1364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Enlazado</a:t>
            </a:r>
            <a:endParaRPr/>
          </a:p>
        </p:txBody>
      </p:sp>
      <p:sp>
        <p:nvSpPr>
          <p:cNvPr id="590" name="Google Shape;590;p20"/>
          <p:cNvSpPr/>
          <p:nvPr/>
        </p:nvSpPr>
        <p:spPr>
          <a:xfrm>
            <a:off x="5473623" y="3548972"/>
            <a:ext cx="13644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E6945A"/>
                </a:solidFill>
                <a:latin typeface="Poppins"/>
                <a:ea typeface="Poppins"/>
                <a:cs typeface="Poppins"/>
                <a:sym typeface="Poppins"/>
              </a:rPr>
              <a:t>gcc hola.o -o hola</a:t>
            </a:r>
            <a:endParaRPr sz="75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1" lang="en-US" sz="750">
                <a:solidFill>
                  <a:srgbClr val="E6945A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750">
                <a:solidFill>
                  <a:schemeClr val="dk2"/>
                </a:solidFill>
              </a:rPr>
              <a:t>Combina los ficheros objeto necesarios y </a:t>
            </a:r>
            <a:r>
              <a:rPr b="1" lang="en-US" sz="750">
                <a:solidFill>
                  <a:schemeClr val="dk2"/>
                </a:solidFill>
              </a:rPr>
              <a:t>resuelve sus referencias</a:t>
            </a:r>
            <a:r>
              <a:rPr lang="en-US" sz="750">
                <a:solidFill>
                  <a:schemeClr val="dk2"/>
                </a:solidFill>
              </a:rPr>
              <a:t> al resto del código y a las bibliotecas. </a:t>
            </a:r>
            <a:endParaRPr sz="750"/>
          </a:p>
        </p:txBody>
      </p:sp>
      <p:cxnSp>
        <p:nvCxnSpPr>
          <p:cNvPr id="591" name="Google Shape;591;p20"/>
          <p:cNvCxnSpPr/>
          <p:nvPr/>
        </p:nvCxnSpPr>
        <p:spPr>
          <a:xfrm>
            <a:off x="6874484" y="3773000"/>
            <a:ext cx="146400" cy="0"/>
          </a:xfrm>
          <a:prstGeom prst="straightConnector1">
            <a:avLst/>
          </a:prstGeom>
          <a:noFill/>
          <a:ln cap="flat" cmpd="sng" w="19050">
            <a:solidFill>
              <a:srgbClr val="E6945A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592" name="Google Shape;592;p20"/>
          <p:cNvSpPr/>
          <p:nvPr/>
        </p:nvSpPr>
        <p:spPr>
          <a:xfrm>
            <a:off x="7020788" y="3201500"/>
            <a:ext cx="1437300" cy="1143000"/>
          </a:xfrm>
          <a:prstGeom prst="roundRect">
            <a:avLst>
              <a:gd fmla="val 12000" name="adj"/>
            </a:avLst>
          </a:prstGeom>
          <a:solidFill>
            <a:srgbClr val="F7F3EE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20"/>
          <p:cNvSpPr/>
          <p:nvPr/>
        </p:nvSpPr>
        <p:spPr>
          <a:xfrm>
            <a:off x="7057364" y="3256364"/>
            <a:ext cx="1364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hola</a:t>
            </a:r>
            <a:endParaRPr/>
          </a:p>
        </p:txBody>
      </p:sp>
      <p:sp>
        <p:nvSpPr>
          <p:cNvPr id="594" name="Google Shape;594;p20"/>
          <p:cNvSpPr/>
          <p:nvPr/>
        </p:nvSpPr>
        <p:spPr>
          <a:xfrm>
            <a:off x="7057364" y="3548972"/>
            <a:ext cx="13644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 sz="750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Es el programa final preparado para esa plataforma.</a:t>
            </a:r>
            <a:endParaRPr sz="750">
              <a:solidFill>
                <a:srgbClr val="6B726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El sistema operativo lo carga en memoria y la CPU ejecuta sus instrucciones. </a:t>
            </a:r>
            <a:endParaRPr sz="750">
              <a:solidFill>
                <a:srgbClr val="6B726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5" name="Google Shape;595;p20"/>
          <p:cNvSpPr/>
          <p:nvPr/>
        </p:nvSpPr>
        <p:spPr>
          <a:xfrm>
            <a:off x="685825" y="1347200"/>
            <a:ext cx="7772400" cy="1280100"/>
          </a:xfrm>
          <a:prstGeom prst="roundRect">
            <a:avLst>
              <a:gd fmla="val 12000" name="adj"/>
            </a:avLst>
          </a:prstGeom>
          <a:solidFill>
            <a:srgbClr val="F7F3EE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20"/>
          <p:cNvSpPr/>
          <p:nvPr/>
        </p:nvSpPr>
        <p:spPr>
          <a:xfrm>
            <a:off x="822985" y="1402064"/>
            <a:ext cx="7498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Bibliotecas</a:t>
            </a:r>
            <a:endParaRPr/>
          </a:p>
        </p:txBody>
      </p:sp>
      <p:sp>
        <p:nvSpPr>
          <p:cNvPr id="597" name="Google Shape;597;p20"/>
          <p:cNvSpPr/>
          <p:nvPr/>
        </p:nvSpPr>
        <p:spPr>
          <a:xfrm>
            <a:off x="822985" y="1676384"/>
            <a:ext cx="7498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2"/>
                </a:solidFill>
              </a:rPr>
              <a:t>Una </a:t>
            </a:r>
            <a:r>
              <a:rPr b="1" lang="en-US" sz="1100">
                <a:solidFill>
                  <a:schemeClr val="dk2"/>
                </a:solidFill>
              </a:rPr>
              <a:t>biblioteca</a:t>
            </a:r>
            <a:r>
              <a:rPr lang="en-US" sz="1100">
                <a:solidFill>
                  <a:schemeClr val="dk2"/>
                </a:solidFill>
              </a:rPr>
              <a:t> contiene código ya desarrollado que otros programas pueden reutilizar, por ejemplo para trabajar con ficheros, realizar cálculos o mostrar información. Durante el enlazado se conectan las referencias del programa con el código de las bibliotecas que necesita. Según el tipo de biblioteca, ese código puede incorporarse al ejecutable o cargarse posteriormente durante la ejecución. 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21"/>
          <p:cNvSpPr/>
          <p:nvPr/>
        </p:nvSpPr>
        <p:spPr>
          <a:xfrm>
            <a:off x="502925" y="1115575"/>
            <a:ext cx="8138100" cy="3871800"/>
          </a:xfrm>
          <a:prstGeom prst="roundRect">
            <a:avLst>
              <a:gd fmla="val 2254" name="adj"/>
            </a:avLst>
          </a:prstGeom>
          <a:solidFill>
            <a:srgbClr val="FBF8F5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p21"/>
          <p:cNvSpPr/>
          <p:nvPr/>
        </p:nvSpPr>
        <p:spPr>
          <a:xfrm>
            <a:off x="3859683" y="3384688"/>
            <a:ext cx="4675200" cy="868800"/>
          </a:xfrm>
          <a:prstGeom prst="roundRect">
            <a:avLst>
              <a:gd fmla="val 12000" name="adj"/>
            </a:avLst>
          </a:prstGeom>
          <a:solidFill>
            <a:srgbClr val="CFE2F3"/>
          </a:solidFill>
          <a:ln cap="flat" cmpd="sng" w="1935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625" lIns="83625" spcFirstLastPara="1" rIns="83625" wrap="square" tIns="836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3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p21"/>
          <p:cNvSpPr/>
          <p:nvPr/>
        </p:nvSpPr>
        <p:spPr>
          <a:xfrm>
            <a:off x="3859600" y="3410999"/>
            <a:ext cx="4581300" cy="4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1800" lIns="41800" spcFirstLastPara="1" rIns="41800" wrap="square" tIns="41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2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Fase nativa: intérprete y ejecución </a:t>
            </a:r>
            <a:endParaRPr sz="2134"/>
          </a:p>
        </p:txBody>
      </p:sp>
      <p:sp>
        <p:nvSpPr>
          <p:cNvPr id="605" name="Google Shape;605;p21"/>
          <p:cNvSpPr/>
          <p:nvPr/>
        </p:nvSpPr>
        <p:spPr>
          <a:xfrm>
            <a:off x="6466025" y="2322050"/>
            <a:ext cx="2031300" cy="961500"/>
          </a:xfrm>
          <a:prstGeom prst="roundRect">
            <a:avLst>
              <a:gd fmla="val 12000" name="adj"/>
            </a:avLst>
          </a:prstGeom>
          <a:solidFill>
            <a:srgbClr val="C9DAF8"/>
          </a:solidFill>
          <a:ln cap="flat" cmpd="sng" w="1935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625" lIns="83625" spcFirstLastPara="1" rIns="83625" wrap="square" tIns="836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3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21"/>
          <p:cNvSpPr/>
          <p:nvPr/>
        </p:nvSpPr>
        <p:spPr>
          <a:xfrm>
            <a:off x="6465989" y="2351169"/>
            <a:ext cx="1990500" cy="4659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t" bIns="41800" lIns="41800" spcFirstLastPara="1" rIns="41800" wrap="square" tIns="41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b="1" lang="en-US" sz="72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Fase nativa: código máquina y ejecución </a:t>
            </a:r>
            <a:endParaRPr sz="2134"/>
          </a:p>
        </p:txBody>
      </p:sp>
      <p:sp>
        <p:nvSpPr>
          <p:cNvPr id="607" name="Google Shape;607;p21"/>
          <p:cNvSpPr/>
          <p:nvPr/>
        </p:nvSpPr>
        <p:spPr>
          <a:xfrm>
            <a:off x="3339938" y="2349700"/>
            <a:ext cx="2031300" cy="961500"/>
          </a:xfrm>
          <a:prstGeom prst="roundRect">
            <a:avLst>
              <a:gd fmla="val 12000" name="adj"/>
            </a:avLst>
          </a:prstGeom>
          <a:solidFill>
            <a:srgbClr val="F7F3EE"/>
          </a:solidFill>
          <a:ln cap="flat" cmpd="sng" w="1935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625" lIns="83625" spcFirstLastPara="1" rIns="83625" wrap="square" tIns="836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3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21"/>
          <p:cNvSpPr/>
          <p:nvPr/>
        </p:nvSpPr>
        <p:spPr>
          <a:xfrm>
            <a:off x="3380702" y="2378832"/>
            <a:ext cx="19905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1800" lIns="41800" spcFirstLastPara="1" rIns="41800" wrap="square" tIns="41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20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Fase intermedia</a:t>
            </a:r>
            <a:endParaRPr sz="2134"/>
          </a:p>
        </p:txBody>
      </p:sp>
      <p:sp>
        <p:nvSpPr>
          <p:cNvPr id="609" name="Google Shape;609;p21"/>
          <p:cNvSpPr/>
          <p:nvPr/>
        </p:nvSpPr>
        <p:spPr>
          <a:xfrm>
            <a:off x="4355575" y="1185338"/>
            <a:ext cx="4179300" cy="961500"/>
          </a:xfrm>
          <a:prstGeom prst="roundRect">
            <a:avLst>
              <a:gd fmla="val 12000" name="adj"/>
            </a:avLst>
          </a:prstGeom>
          <a:solidFill>
            <a:srgbClr val="CFE2F3"/>
          </a:solidFill>
          <a:ln cap="flat" cmpd="sng" w="1935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625" lIns="83625" spcFirstLastPara="1" rIns="83625" wrap="square" tIns="836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3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21"/>
          <p:cNvSpPr/>
          <p:nvPr/>
        </p:nvSpPr>
        <p:spPr>
          <a:xfrm>
            <a:off x="4437795" y="1214469"/>
            <a:ext cx="40149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1800" lIns="41800" spcFirstLastPara="1" rIns="41800" wrap="square" tIns="41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20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Fase nativa: código máquina, enlazado y ejecución </a:t>
            </a:r>
            <a:endParaRPr sz="2134"/>
          </a:p>
        </p:txBody>
      </p:sp>
      <p:sp>
        <p:nvSpPr>
          <p:cNvPr id="611" name="Google Shape;611;p21"/>
          <p:cNvSpPr/>
          <p:nvPr/>
        </p:nvSpPr>
        <p:spPr>
          <a:xfrm>
            <a:off x="502920" y="34747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449"/>
              </a:buClr>
              <a:buSzPts val="1050"/>
              <a:buFont typeface="Poppins Medium"/>
              <a:buNone/>
            </a:pPr>
            <a:r>
              <a:rPr b="0" i="0" lang="en-US" sz="1050" u="none" cap="none" strike="noStrike">
                <a:solidFill>
                  <a:srgbClr val="4A544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UT1 · EL DESARROLLO DE SOFTWARE Y SUS FASES</a:t>
            </a:r>
            <a:endParaRPr b="0" i="0" sz="105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12" name="Google Shape;612;p21"/>
          <p:cNvSpPr/>
          <p:nvPr/>
        </p:nvSpPr>
        <p:spPr>
          <a:xfrm>
            <a:off x="7223760" y="594360"/>
            <a:ext cx="1417320" cy="365760"/>
          </a:xfrm>
          <a:prstGeom prst="roundRect">
            <a:avLst>
              <a:gd fmla="val 15000" name="adj"/>
            </a:avLst>
          </a:prstGeom>
          <a:solidFill>
            <a:srgbClr val="F7F3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21"/>
          <p:cNvSpPr/>
          <p:nvPr/>
        </p:nvSpPr>
        <p:spPr>
          <a:xfrm>
            <a:off x="7223760" y="594360"/>
            <a:ext cx="1417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A1D"/>
              </a:buClr>
              <a:buSzPts val="1000"/>
              <a:buFont typeface="Poppins Medium"/>
              <a:buNone/>
            </a:pPr>
            <a:r>
              <a:rPr b="0" i="0" lang="en-US" sz="1000" u="none" cap="none" strike="noStrike">
                <a:solidFill>
                  <a:srgbClr val="152A1D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CONCEPTO</a:t>
            </a:r>
            <a:endParaRPr b="0" i="0" sz="1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14" name="Google Shape;614;p21"/>
          <p:cNvSpPr/>
          <p:nvPr/>
        </p:nvSpPr>
        <p:spPr>
          <a:xfrm>
            <a:off x="502920" y="566928"/>
            <a:ext cx="5760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A1D"/>
              </a:buClr>
              <a:buSzPts val="2500"/>
              <a:buFont typeface="Poppins SemiBold"/>
              <a:buNone/>
            </a:pPr>
            <a:r>
              <a:rPr b="1" i="0" lang="en-US" sz="2500" u="none" cap="none" strike="noStrike">
                <a:solidFill>
                  <a:srgbClr val="152A1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El mismo objetivo, tres rutas</a:t>
            </a:r>
            <a:endParaRPr b="0" i="0" sz="2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15" name="Google Shape;615;p21"/>
          <p:cNvSpPr/>
          <p:nvPr/>
        </p:nvSpPr>
        <p:spPr>
          <a:xfrm>
            <a:off x="685800" y="1444752"/>
            <a:ext cx="1600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Compilación nativa · C</a:t>
            </a:r>
            <a:endParaRPr/>
          </a:p>
        </p:txBody>
      </p:sp>
      <p:sp>
        <p:nvSpPr>
          <p:cNvPr id="616" name="Google Shape;616;p21"/>
          <p:cNvSpPr/>
          <p:nvPr/>
        </p:nvSpPr>
        <p:spPr>
          <a:xfrm>
            <a:off x="2331720" y="1490472"/>
            <a:ext cx="929640" cy="603504"/>
          </a:xfrm>
          <a:prstGeom prst="roundRect">
            <a:avLst>
              <a:gd fmla="val 12000" name="adj"/>
            </a:avLst>
          </a:prstGeom>
          <a:solidFill>
            <a:srgbClr val="F7F3EE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21"/>
          <p:cNvSpPr/>
          <p:nvPr/>
        </p:nvSpPr>
        <p:spPr>
          <a:xfrm>
            <a:off x="2350008" y="1508760"/>
            <a:ext cx="893064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hola.c</a:t>
            </a:r>
            <a:endParaRPr/>
          </a:p>
        </p:txBody>
      </p:sp>
      <p:sp>
        <p:nvSpPr>
          <p:cNvPr id="618" name="Google Shape;618;p21"/>
          <p:cNvSpPr/>
          <p:nvPr/>
        </p:nvSpPr>
        <p:spPr>
          <a:xfrm>
            <a:off x="2350008" y="1792224"/>
            <a:ext cx="8930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E6945A"/>
                </a:solidFill>
                <a:latin typeface="Poppins"/>
                <a:ea typeface="Poppins"/>
                <a:cs typeface="Poppins"/>
                <a:sym typeface="Poppins"/>
              </a:rPr>
              <a:t>código fuente</a:t>
            </a:r>
            <a:endParaRPr/>
          </a:p>
        </p:txBody>
      </p:sp>
      <p:cxnSp>
        <p:nvCxnSpPr>
          <p:cNvPr id="619" name="Google Shape;619;p21"/>
          <p:cNvCxnSpPr/>
          <p:nvPr/>
        </p:nvCxnSpPr>
        <p:spPr>
          <a:xfrm>
            <a:off x="3261360" y="1792224"/>
            <a:ext cx="109728" cy="0"/>
          </a:xfrm>
          <a:prstGeom prst="straightConnector1">
            <a:avLst/>
          </a:prstGeom>
          <a:noFill/>
          <a:ln cap="flat" cmpd="sng" w="15225">
            <a:solidFill>
              <a:srgbClr val="E6945A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620" name="Google Shape;620;p21"/>
          <p:cNvSpPr/>
          <p:nvPr/>
        </p:nvSpPr>
        <p:spPr>
          <a:xfrm>
            <a:off x="3371088" y="1490472"/>
            <a:ext cx="929640" cy="603504"/>
          </a:xfrm>
          <a:prstGeom prst="roundRect">
            <a:avLst>
              <a:gd fmla="val 12000" name="adj"/>
            </a:avLst>
          </a:prstGeom>
          <a:solidFill>
            <a:srgbClr val="F3E6DA"/>
          </a:solidFill>
          <a:ln cap="flat" cmpd="sng" w="12700">
            <a:solidFill>
              <a:srgbClr val="E694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700"/>
            </a:br>
            <a:br>
              <a:rPr lang="en-US" sz="700"/>
            </a:br>
            <a:r>
              <a:rPr lang="en-US" sz="700"/>
              <a:t>traduce a código objeto </a:t>
            </a:r>
            <a:endParaRPr sz="7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621" name="Google Shape;621;p21"/>
          <p:cNvSpPr/>
          <p:nvPr/>
        </p:nvSpPr>
        <p:spPr>
          <a:xfrm>
            <a:off x="3389376" y="1508760"/>
            <a:ext cx="893064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compilación</a:t>
            </a:r>
            <a:endParaRPr/>
          </a:p>
        </p:txBody>
      </p:sp>
      <p:cxnSp>
        <p:nvCxnSpPr>
          <p:cNvPr id="622" name="Google Shape;622;p21"/>
          <p:cNvCxnSpPr/>
          <p:nvPr/>
        </p:nvCxnSpPr>
        <p:spPr>
          <a:xfrm>
            <a:off x="4300728" y="1792224"/>
            <a:ext cx="109728" cy="0"/>
          </a:xfrm>
          <a:prstGeom prst="straightConnector1">
            <a:avLst/>
          </a:prstGeom>
          <a:noFill/>
          <a:ln cap="flat" cmpd="sng" w="15225">
            <a:solidFill>
              <a:srgbClr val="E6945A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623" name="Google Shape;623;p21"/>
          <p:cNvSpPr/>
          <p:nvPr/>
        </p:nvSpPr>
        <p:spPr>
          <a:xfrm>
            <a:off x="4410456" y="1490472"/>
            <a:ext cx="929640" cy="603504"/>
          </a:xfrm>
          <a:prstGeom prst="roundRect">
            <a:avLst>
              <a:gd fmla="val 12000" name="adj"/>
            </a:avLst>
          </a:prstGeom>
          <a:solidFill>
            <a:srgbClr val="F7F3EE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p21"/>
          <p:cNvSpPr/>
          <p:nvPr/>
        </p:nvSpPr>
        <p:spPr>
          <a:xfrm>
            <a:off x="4428744" y="1508760"/>
            <a:ext cx="893064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hola.o</a:t>
            </a:r>
            <a:endParaRPr/>
          </a:p>
        </p:txBody>
      </p:sp>
      <p:sp>
        <p:nvSpPr>
          <p:cNvPr id="625" name="Google Shape;625;p21"/>
          <p:cNvSpPr/>
          <p:nvPr/>
        </p:nvSpPr>
        <p:spPr>
          <a:xfrm>
            <a:off x="4428744" y="1792224"/>
            <a:ext cx="8930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E6945A"/>
                </a:solidFill>
                <a:latin typeface="Poppins"/>
                <a:ea typeface="Poppins"/>
                <a:cs typeface="Poppins"/>
                <a:sym typeface="Poppins"/>
              </a:rPr>
              <a:t>código objeto</a:t>
            </a:r>
            <a:endParaRPr/>
          </a:p>
        </p:txBody>
      </p:sp>
      <p:cxnSp>
        <p:nvCxnSpPr>
          <p:cNvPr id="626" name="Google Shape;626;p21"/>
          <p:cNvCxnSpPr/>
          <p:nvPr/>
        </p:nvCxnSpPr>
        <p:spPr>
          <a:xfrm>
            <a:off x="5340096" y="1792224"/>
            <a:ext cx="109728" cy="0"/>
          </a:xfrm>
          <a:prstGeom prst="straightConnector1">
            <a:avLst/>
          </a:prstGeom>
          <a:noFill/>
          <a:ln cap="flat" cmpd="sng" w="15225">
            <a:solidFill>
              <a:srgbClr val="E6945A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627" name="Google Shape;627;p21"/>
          <p:cNvSpPr/>
          <p:nvPr/>
        </p:nvSpPr>
        <p:spPr>
          <a:xfrm>
            <a:off x="5449824" y="1490472"/>
            <a:ext cx="929640" cy="603504"/>
          </a:xfrm>
          <a:prstGeom prst="roundRect">
            <a:avLst>
              <a:gd fmla="val 12000" name="adj"/>
            </a:avLst>
          </a:prstGeom>
          <a:solidFill>
            <a:srgbClr val="F3E6DA"/>
          </a:solidFill>
          <a:ln cap="flat" cmpd="sng" w="12700">
            <a:solidFill>
              <a:srgbClr val="E694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750"/>
            </a:br>
            <a:r>
              <a:rPr lang="en-US" sz="750"/>
              <a:t>resuelve referencias </a:t>
            </a:r>
            <a:endParaRPr b="0" i="0" sz="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8" name="Google Shape;628;p21"/>
          <p:cNvSpPr/>
          <p:nvPr/>
        </p:nvSpPr>
        <p:spPr>
          <a:xfrm>
            <a:off x="5468112" y="1508760"/>
            <a:ext cx="893064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enlazado</a:t>
            </a:r>
            <a:endParaRPr/>
          </a:p>
        </p:txBody>
      </p:sp>
      <p:cxnSp>
        <p:nvCxnSpPr>
          <p:cNvPr id="629" name="Google Shape;629;p21"/>
          <p:cNvCxnSpPr/>
          <p:nvPr/>
        </p:nvCxnSpPr>
        <p:spPr>
          <a:xfrm>
            <a:off x="6379464" y="1792224"/>
            <a:ext cx="109728" cy="0"/>
          </a:xfrm>
          <a:prstGeom prst="straightConnector1">
            <a:avLst/>
          </a:prstGeom>
          <a:noFill/>
          <a:ln cap="flat" cmpd="sng" w="15225">
            <a:solidFill>
              <a:srgbClr val="E6945A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630" name="Google Shape;630;p21"/>
          <p:cNvSpPr/>
          <p:nvPr/>
        </p:nvSpPr>
        <p:spPr>
          <a:xfrm>
            <a:off x="6489192" y="1490472"/>
            <a:ext cx="929640" cy="603504"/>
          </a:xfrm>
          <a:prstGeom prst="roundRect">
            <a:avLst>
              <a:gd fmla="val 12000" name="adj"/>
            </a:avLst>
          </a:prstGeom>
          <a:solidFill>
            <a:srgbClr val="F7F3EE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Google Shape;631;p21"/>
          <p:cNvSpPr/>
          <p:nvPr/>
        </p:nvSpPr>
        <p:spPr>
          <a:xfrm>
            <a:off x="6507475" y="1526916"/>
            <a:ext cx="8931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hola </a:t>
            </a:r>
            <a:br>
              <a:rPr b="1" lang="en-US" sz="800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</a:br>
            <a:br>
              <a:rPr b="1" lang="en-US" sz="800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b="1" i="0" lang="en-US" sz="80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ejecutable nativo</a:t>
            </a:r>
            <a:endParaRPr/>
          </a:p>
        </p:txBody>
      </p:sp>
      <p:cxnSp>
        <p:nvCxnSpPr>
          <p:cNvPr id="632" name="Google Shape;632;p21"/>
          <p:cNvCxnSpPr/>
          <p:nvPr/>
        </p:nvCxnSpPr>
        <p:spPr>
          <a:xfrm>
            <a:off x="7418832" y="1792224"/>
            <a:ext cx="109727" cy="0"/>
          </a:xfrm>
          <a:prstGeom prst="straightConnector1">
            <a:avLst/>
          </a:prstGeom>
          <a:noFill/>
          <a:ln cap="flat" cmpd="sng" w="15225">
            <a:solidFill>
              <a:srgbClr val="E6945A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633" name="Google Shape;633;p21"/>
          <p:cNvSpPr/>
          <p:nvPr/>
        </p:nvSpPr>
        <p:spPr>
          <a:xfrm>
            <a:off x="7528560" y="1490472"/>
            <a:ext cx="929640" cy="603504"/>
          </a:xfrm>
          <a:prstGeom prst="roundRect">
            <a:avLst>
              <a:gd fmla="val 12000" name="adj"/>
            </a:avLst>
          </a:prstGeom>
          <a:solidFill>
            <a:srgbClr val="F7F3EE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p21"/>
          <p:cNvSpPr/>
          <p:nvPr/>
        </p:nvSpPr>
        <p:spPr>
          <a:xfrm>
            <a:off x="7546848" y="1508760"/>
            <a:ext cx="893064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CPU</a:t>
            </a:r>
            <a:endParaRPr/>
          </a:p>
        </p:txBody>
      </p:sp>
      <p:sp>
        <p:nvSpPr>
          <p:cNvPr id="635" name="Google Shape;635;p21"/>
          <p:cNvSpPr/>
          <p:nvPr/>
        </p:nvSpPr>
        <p:spPr>
          <a:xfrm>
            <a:off x="685775" y="2571750"/>
            <a:ext cx="16002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Código intermedio · Java/JVM</a:t>
            </a:r>
            <a:endParaRPr/>
          </a:p>
        </p:txBody>
      </p:sp>
      <p:sp>
        <p:nvSpPr>
          <p:cNvPr id="636" name="Google Shape;636;p21"/>
          <p:cNvSpPr/>
          <p:nvPr/>
        </p:nvSpPr>
        <p:spPr>
          <a:xfrm>
            <a:off x="2331695" y="2617470"/>
            <a:ext cx="929700" cy="603600"/>
          </a:xfrm>
          <a:prstGeom prst="roundRect">
            <a:avLst>
              <a:gd fmla="val 12000" name="adj"/>
            </a:avLst>
          </a:prstGeom>
          <a:solidFill>
            <a:srgbClr val="F7F3EE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p21"/>
          <p:cNvSpPr/>
          <p:nvPr/>
        </p:nvSpPr>
        <p:spPr>
          <a:xfrm>
            <a:off x="2349983" y="2635758"/>
            <a:ext cx="893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Tienda.java</a:t>
            </a:r>
            <a:endParaRPr/>
          </a:p>
        </p:txBody>
      </p:sp>
      <p:sp>
        <p:nvSpPr>
          <p:cNvPr id="638" name="Google Shape;638;p21"/>
          <p:cNvSpPr/>
          <p:nvPr/>
        </p:nvSpPr>
        <p:spPr>
          <a:xfrm>
            <a:off x="2349983" y="2919222"/>
            <a:ext cx="893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E6945A"/>
                </a:solidFill>
                <a:latin typeface="Poppins"/>
                <a:ea typeface="Poppins"/>
                <a:cs typeface="Poppins"/>
                <a:sym typeface="Poppins"/>
              </a:rPr>
              <a:t>código fuente</a:t>
            </a:r>
            <a:endParaRPr/>
          </a:p>
        </p:txBody>
      </p:sp>
      <p:cxnSp>
        <p:nvCxnSpPr>
          <p:cNvPr id="639" name="Google Shape;639;p21"/>
          <p:cNvCxnSpPr/>
          <p:nvPr/>
        </p:nvCxnSpPr>
        <p:spPr>
          <a:xfrm>
            <a:off x="3261335" y="2919222"/>
            <a:ext cx="109800" cy="0"/>
          </a:xfrm>
          <a:prstGeom prst="straightConnector1">
            <a:avLst/>
          </a:prstGeom>
          <a:noFill/>
          <a:ln cap="flat" cmpd="sng" w="15225">
            <a:solidFill>
              <a:srgbClr val="E6945A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640" name="Google Shape;640;p21"/>
          <p:cNvSpPr/>
          <p:nvPr/>
        </p:nvSpPr>
        <p:spPr>
          <a:xfrm>
            <a:off x="3371063" y="2617470"/>
            <a:ext cx="929700" cy="603600"/>
          </a:xfrm>
          <a:prstGeom prst="roundRect">
            <a:avLst>
              <a:gd fmla="val 12000" name="adj"/>
            </a:avLst>
          </a:prstGeom>
          <a:solidFill>
            <a:srgbClr val="F3E6DA"/>
          </a:solidFill>
          <a:ln cap="flat" cmpd="sng" w="12700">
            <a:solidFill>
              <a:srgbClr val="E694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41" name="Google Shape;641;p21"/>
          <p:cNvCxnSpPr/>
          <p:nvPr/>
        </p:nvCxnSpPr>
        <p:spPr>
          <a:xfrm>
            <a:off x="4300703" y="2919222"/>
            <a:ext cx="109800" cy="0"/>
          </a:xfrm>
          <a:prstGeom prst="straightConnector1">
            <a:avLst/>
          </a:prstGeom>
          <a:noFill/>
          <a:ln cap="flat" cmpd="sng" w="15225">
            <a:solidFill>
              <a:srgbClr val="E6945A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642" name="Google Shape;642;p21"/>
          <p:cNvSpPr/>
          <p:nvPr/>
        </p:nvSpPr>
        <p:spPr>
          <a:xfrm>
            <a:off x="4410431" y="2617470"/>
            <a:ext cx="929700" cy="603600"/>
          </a:xfrm>
          <a:prstGeom prst="roundRect">
            <a:avLst>
              <a:gd fmla="val 12000" name="adj"/>
            </a:avLst>
          </a:prstGeom>
          <a:solidFill>
            <a:srgbClr val="F7F3EE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p21"/>
          <p:cNvSpPr/>
          <p:nvPr/>
        </p:nvSpPr>
        <p:spPr>
          <a:xfrm>
            <a:off x="4428719" y="2635758"/>
            <a:ext cx="893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Tienda.class</a:t>
            </a:r>
            <a:endParaRPr/>
          </a:p>
        </p:txBody>
      </p:sp>
      <p:sp>
        <p:nvSpPr>
          <p:cNvPr id="644" name="Google Shape;644;p21"/>
          <p:cNvSpPr/>
          <p:nvPr/>
        </p:nvSpPr>
        <p:spPr>
          <a:xfrm>
            <a:off x="4428719" y="2919222"/>
            <a:ext cx="893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E6945A"/>
                </a:solidFill>
                <a:latin typeface="Poppins"/>
                <a:ea typeface="Poppins"/>
                <a:cs typeface="Poppins"/>
                <a:sym typeface="Poppins"/>
              </a:rPr>
              <a:t>bytecode</a:t>
            </a:r>
            <a:endParaRPr/>
          </a:p>
        </p:txBody>
      </p:sp>
      <p:cxnSp>
        <p:nvCxnSpPr>
          <p:cNvPr id="645" name="Google Shape;645;p21"/>
          <p:cNvCxnSpPr/>
          <p:nvPr/>
        </p:nvCxnSpPr>
        <p:spPr>
          <a:xfrm>
            <a:off x="5340071" y="2919222"/>
            <a:ext cx="109800" cy="0"/>
          </a:xfrm>
          <a:prstGeom prst="straightConnector1">
            <a:avLst/>
          </a:prstGeom>
          <a:noFill/>
          <a:ln cap="flat" cmpd="sng" w="15225">
            <a:solidFill>
              <a:srgbClr val="E6945A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646" name="Google Shape;646;p21"/>
          <p:cNvSpPr/>
          <p:nvPr/>
        </p:nvSpPr>
        <p:spPr>
          <a:xfrm>
            <a:off x="5449799" y="2617470"/>
            <a:ext cx="929700" cy="603600"/>
          </a:xfrm>
          <a:prstGeom prst="roundRect">
            <a:avLst>
              <a:gd fmla="val 12000" name="adj"/>
            </a:avLst>
          </a:prstGeom>
          <a:solidFill>
            <a:srgbClr val="F3E6DA"/>
          </a:solidFill>
          <a:ln cap="flat" cmpd="sng" w="12700">
            <a:solidFill>
              <a:srgbClr val="E694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7" name="Google Shape;647;p21"/>
          <p:cNvSpPr/>
          <p:nvPr/>
        </p:nvSpPr>
        <p:spPr>
          <a:xfrm>
            <a:off x="5468087" y="2635758"/>
            <a:ext cx="893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JVM</a:t>
            </a:r>
            <a:endParaRPr/>
          </a:p>
        </p:txBody>
      </p:sp>
      <p:sp>
        <p:nvSpPr>
          <p:cNvPr id="648" name="Google Shape;648;p21"/>
          <p:cNvSpPr/>
          <p:nvPr/>
        </p:nvSpPr>
        <p:spPr>
          <a:xfrm>
            <a:off x="5468087" y="2919222"/>
            <a:ext cx="893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E6945A"/>
                </a:solidFill>
                <a:latin typeface="Poppins"/>
                <a:ea typeface="Poppins"/>
                <a:cs typeface="Poppins"/>
                <a:sym typeface="Poppins"/>
              </a:rPr>
              <a:t>interpretación </a:t>
            </a:r>
            <a:r>
              <a:rPr b="1" lang="en-US" sz="700">
                <a:solidFill>
                  <a:srgbClr val="E6945A"/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b="1" i="0" lang="en-US" sz="700" u="none" cap="none" strike="noStrike">
                <a:solidFill>
                  <a:srgbClr val="E6945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-US" sz="700">
                <a:solidFill>
                  <a:srgbClr val="E6945A"/>
                </a:solidFill>
                <a:latin typeface="Poppins"/>
                <a:ea typeface="Poppins"/>
                <a:cs typeface="Poppins"/>
                <a:sym typeface="Poppins"/>
              </a:rPr>
              <a:t>compila</a:t>
            </a:r>
            <a:endParaRPr/>
          </a:p>
        </p:txBody>
      </p:sp>
      <p:cxnSp>
        <p:nvCxnSpPr>
          <p:cNvPr id="649" name="Google Shape;649;p21"/>
          <p:cNvCxnSpPr/>
          <p:nvPr/>
        </p:nvCxnSpPr>
        <p:spPr>
          <a:xfrm>
            <a:off x="6379439" y="2919222"/>
            <a:ext cx="109800" cy="0"/>
          </a:xfrm>
          <a:prstGeom prst="straightConnector1">
            <a:avLst/>
          </a:prstGeom>
          <a:noFill/>
          <a:ln cap="flat" cmpd="sng" w="15225">
            <a:solidFill>
              <a:srgbClr val="E6945A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650" name="Google Shape;650;p21"/>
          <p:cNvSpPr/>
          <p:nvPr/>
        </p:nvSpPr>
        <p:spPr>
          <a:xfrm>
            <a:off x="6489167" y="2617470"/>
            <a:ext cx="929700" cy="603600"/>
          </a:xfrm>
          <a:prstGeom prst="roundRect">
            <a:avLst>
              <a:gd fmla="val 12000" name="adj"/>
            </a:avLst>
          </a:prstGeom>
          <a:solidFill>
            <a:srgbClr val="F7F3EE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1" name="Google Shape;651;p21"/>
          <p:cNvSpPr/>
          <p:nvPr/>
        </p:nvSpPr>
        <p:spPr>
          <a:xfrm>
            <a:off x="6507455" y="2763746"/>
            <a:ext cx="893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código máquina</a:t>
            </a:r>
            <a:endParaRPr/>
          </a:p>
        </p:txBody>
      </p:sp>
      <p:cxnSp>
        <p:nvCxnSpPr>
          <p:cNvPr id="652" name="Google Shape;652;p21"/>
          <p:cNvCxnSpPr/>
          <p:nvPr/>
        </p:nvCxnSpPr>
        <p:spPr>
          <a:xfrm>
            <a:off x="7418807" y="2919222"/>
            <a:ext cx="109800" cy="0"/>
          </a:xfrm>
          <a:prstGeom prst="straightConnector1">
            <a:avLst/>
          </a:prstGeom>
          <a:noFill/>
          <a:ln cap="flat" cmpd="sng" w="15225">
            <a:solidFill>
              <a:srgbClr val="E6945A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653" name="Google Shape;653;p21"/>
          <p:cNvSpPr/>
          <p:nvPr/>
        </p:nvSpPr>
        <p:spPr>
          <a:xfrm>
            <a:off x="7528535" y="2617470"/>
            <a:ext cx="929700" cy="603600"/>
          </a:xfrm>
          <a:prstGeom prst="roundRect">
            <a:avLst>
              <a:gd fmla="val 12000" name="adj"/>
            </a:avLst>
          </a:prstGeom>
          <a:solidFill>
            <a:srgbClr val="F7F3EE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4" name="Google Shape;654;p21"/>
          <p:cNvSpPr/>
          <p:nvPr/>
        </p:nvSpPr>
        <p:spPr>
          <a:xfrm>
            <a:off x="7546823" y="2635758"/>
            <a:ext cx="893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CPU</a:t>
            </a:r>
            <a:endParaRPr/>
          </a:p>
        </p:txBody>
      </p:sp>
      <p:sp>
        <p:nvSpPr>
          <p:cNvPr id="655" name="Google Shape;655;p21"/>
          <p:cNvSpPr/>
          <p:nvPr/>
        </p:nvSpPr>
        <p:spPr>
          <a:xfrm>
            <a:off x="685788" y="3548623"/>
            <a:ext cx="16002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Interpretación · Python</a:t>
            </a:r>
            <a:endParaRPr/>
          </a:p>
        </p:txBody>
      </p:sp>
      <p:sp>
        <p:nvSpPr>
          <p:cNvPr id="656" name="Google Shape;656;p21"/>
          <p:cNvSpPr/>
          <p:nvPr/>
        </p:nvSpPr>
        <p:spPr>
          <a:xfrm>
            <a:off x="2331708" y="3594343"/>
            <a:ext cx="1449300" cy="603600"/>
          </a:xfrm>
          <a:prstGeom prst="roundRect">
            <a:avLst>
              <a:gd fmla="val 12000" name="adj"/>
            </a:avLst>
          </a:prstGeom>
          <a:solidFill>
            <a:srgbClr val="F7F3EE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7" name="Google Shape;657;p21"/>
          <p:cNvSpPr/>
          <p:nvPr/>
        </p:nvSpPr>
        <p:spPr>
          <a:xfrm>
            <a:off x="2349996" y="3612631"/>
            <a:ext cx="1412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tienda.py</a:t>
            </a:r>
            <a:endParaRPr/>
          </a:p>
        </p:txBody>
      </p:sp>
      <p:sp>
        <p:nvSpPr>
          <p:cNvPr id="658" name="Google Shape;658;p21"/>
          <p:cNvSpPr/>
          <p:nvPr/>
        </p:nvSpPr>
        <p:spPr>
          <a:xfrm>
            <a:off x="2349996" y="3896095"/>
            <a:ext cx="1412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E6945A"/>
                </a:solidFill>
                <a:latin typeface="Poppins"/>
                <a:ea typeface="Poppins"/>
                <a:cs typeface="Poppins"/>
                <a:sym typeface="Poppins"/>
              </a:rPr>
              <a:t>código fuente</a:t>
            </a:r>
            <a:endParaRPr/>
          </a:p>
        </p:txBody>
      </p:sp>
      <p:cxnSp>
        <p:nvCxnSpPr>
          <p:cNvPr id="659" name="Google Shape;659;p21"/>
          <p:cNvCxnSpPr/>
          <p:nvPr/>
        </p:nvCxnSpPr>
        <p:spPr>
          <a:xfrm>
            <a:off x="3781032" y="3896095"/>
            <a:ext cx="109800" cy="0"/>
          </a:xfrm>
          <a:prstGeom prst="straightConnector1">
            <a:avLst/>
          </a:prstGeom>
          <a:noFill/>
          <a:ln cap="flat" cmpd="sng" w="15225">
            <a:solidFill>
              <a:srgbClr val="E6945A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660" name="Google Shape;660;p21"/>
          <p:cNvSpPr/>
          <p:nvPr/>
        </p:nvSpPr>
        <p:spPr>
          <a:xfrm>
            <a:off x="3890766" y="3594350"/>
            <a:ext cx="2974500" cy="603600"/>
          </a:xfrm>
          <a:prstGeom prst="roundRect">
            <a:avLst>
              <a:gd fmla="val 12000" name="adj"/>
            </a:avLst>
          </a:prstGeom>
          <a:solidFill>
            <a:srgbClr val="F3E6DA"/>
          </a:solidFill>
          <a:ln cap="flat" cmpd="sng" w="12700">
            <a:solidFill>
              <a:srgbClr val="E694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1" name="Google Shape;661;p21"/>
          <p:cNvSpPr/>
          <p:nvPr/>
        </p:nvSpPr>
        <p:spPr>
          <a:xfrm>
            <a:off x="3928277" y="3612627"/>
            <a:ext cx="2899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intérprete</a:t>
            </a:r>
            <a:br>
              <a:rPr b="1" i="0" lang="en-US" sz="80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</a:br>
            <a:br>
              <a:rPr b="1" i="0" lang="en-US" sz="80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b="1" i="0" lang="en-US" sz="80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procesa y ejecuta el programa </a:t>
            </a:r>
            <a:endParaRPr/>
          </a:p>
        </p:txBody>
      </p:sp>
      <p:cxnSp>
        <p:nvCxnSpPr>
          <p:cNvPr id="662" name="Google Shape;662;p21"/>
          <p:cNvCxnSpPr/>
          <p:nvPr/>
        </p:nvCxnSpPr>
        <p:spPr>
          <a:xfrm>
            <a:off x="6899136" y="3896095"/>
            <a:ext cx="109800" cy="0"/>
          </a:xfrm>
          <a:prstGeom prst="straightConnector1">
            <a:avLst/>
          </a:prstGeom>
          <a:noFill/>
          <a:ln cap="flat" cmpd="sng" w="15225">
            <a:solidFill>
              <a:srgbClr val="E6945A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663" name="Google Shape;663;p21"/>
          <p:cNvSpPr/>
          <p:nvPr/>
        </p:nvSpPr>
        <p:spPr>
          <a:xfrm>
            <a:off x="7008863" y="3594343"/>
            <a:ext cx="1449300" cy="603600"/>
          </a:xfrm>
          <a:prstGeom prst="roundRect">
            <a:avLst>
              <a:gd fmla="val 12000" name="adj"/>
            </a:avLst>
          </a:prstGeom>
          <a:solidFill>
            <a:srgbClr val="F7F3EE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4" name="Google Shape;664;p21"/>
          <p:cNvSpPr/>
          <p:nvPr/>
        </p:nvSpPr>
        <p:spPr>
          <a:xfrm>
            <a:off x="7027152" y="3612631"/>
            <a:ext cx="1412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CPU</a:t>
            </a:r>
            <a:endParaRPr/>
          </a:p>
        </p:txBody>
      </p:sp>
      <p:sp>
        <p:nvSpPr>
          <p:cNvPr id="665" name="Google Shape;665;p21"/>
          <p:cNvSpPr/>
          <p:nvPr/>
        </p:nvSpPr>
        <p:spPr>
          <a:xfrm>
            <a:off x="685800" y="4352002"/>
            <a:ext cx="7772400" cy="310800"/>
          </a:xfrm>
          <a:prstGeom prst="roundRect">
            <a:avLst>
              <a:gd fmla="val 12000" name="adj"/>
            </a:avLst>
          </a:prstGeom>
          <a:solidFill>
            <a:srgbClr val="F3E6DA"/>
          </a:solidFill>
          <a:ln cap="flat" cmpd="sng" w="12700">
            <a:solidFill>
              <a:srgbClr val="E694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En los tres casos, la CPU termina ejecutando instrucciones máquina.</a:t>
            </a:r>
            <a:endParaRPr/>
          </a:p>
        </p:txBody>
      </p:sp>
      <p:sp>
        <p:nvSpPr>
          <p:cNvPr id="666" name="Google Shape;666;p21"/>
          <p:cNvSpPr/>
          <p:nvPr/>
        </p:nvSpPr>
        <p:spPr>
          <a:xfrm>
            <a:off x="685800" y="469033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Modelo simplificado: CPython genera internamente bytecode, pero el programador no crea antes un ejecutable nativo independiente.</a:t>
            </a:r>
            <a:endParaRPr/>
          </a:p>
        </p:txBody>
      </p:sp>
      <p:sp>
        <p:nvSpPr>
          <p:cNvPr id="667" name="Google Shape;667;p21"/>
          <p:cNvSpPr/>
          <p:nvPr/>
        </p:nvSpPr>
        <p:spPr>
          <a:xfrm>
            <a:off x="3371013" y="2617422"/>
            <a:ext cx="929700" cy="603600"/>
          </a:xfrm>
          <a:prstGeom prst="roundRect">
            <a:avLst>
              <a:gd fmla="val 12000" name="adj"/>
            </a:avLst>
          </a:prstGeom>
          <a:solidFill>
            <a:srgbClr val="F3E6DA"/>
          </a:solidFill>
          <a:ln cap="flat" cmpd="sng" w="12700">
            <a:solidFill>
              <a:srgbClr val="E694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700"/>
            </a:br>
            <a:br>
              <a:rPr lang="en-US" sz="700"/>
            </a:br>
            <a:r>
              <a:rPr lang="en-US" sz="700"/>
              <a:t>traduce a bytecode </a:t>
            </a:r>
            <a:endParaRPr sz="7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668" name="Google Shape;668;p21"/>
          <p:cNvSpPr/>
          <p:nvPr/>
        </p:nvSpPr>
        <p:spPr>
          <a:xfrm>
            <a:off x="3389301" y="2635710"/>
            <a:ext cx="893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compilación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22"/>
          <p:cNvSpPr/>
          <p:nvPr/>
        </p:nvSpPr>
        <p:spPr>
          <a:xfrm>
            <a:off x="502920" y="34747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449"/>
              </a:buClr>
              <a:buSzPts val="1050"/>
              <a:buFont typeface="Poppins Medium"/>
              <a:buNone/>
            </a:pPr>
            <a:r>
              <a:rPr b="0" i="0" lang="en-US" sz="1050" u="none" cap="none" strike="noStrike">
                <a:solidFill>
                  <a:srgbClr val="4A544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UT1 · EL DESARROLLO DE SOFTWARE Y SUS FASES</a:t>
            </a:r>
            <a:endParaRPr b="0" i="0" sz="105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74" name="Google Shape;674;p22"/>
          <p:cNvSpPr/>
          <p:nvPr/>
        </p:nvSpPr>
        <p:spPr>
          <a:xfrm>
            <a:off x="7223760" y="594360"/>
            <a:ext cx="1417320" cy="365760"/>
          </a:xfrm>
          <a:prstGeom prst="roundRect">
            <a:avLst>
              <a:gd fmla="val 15000" name="adj"/>
            </a:avLst>
          </a:prstGeom>
          <a:solidFill>
            <a:srgbClr val="F7F3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5" name="Google Shape;675;p22"/>
          <p:cNvSpPr/>
          <p:nvPr/>
        </p:nvSpPr>
        <p:spPr>
          <a:xfrm>
            <a:off x="7223760" y="594360"/>
            <a:ext cx="1417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A1D"/>
              </a:buClr>
              <a:buSzPts val="1000"/>
              <a:buFont typeface="Poppins Medium"/>
              <a:buNone/>
            </a:pPr>
            <a:r>
              <a:rPr b="0" i="0" lang="en-US" sz="1000" u="none" cap="none" strike="noStrike">
                <a:solidFill>
                  <a:srgbClr val="152A1D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CONCEPTO</a:t>
            </a:r>
            <a:endParaRPr b="0" i="0" sz="1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76" name="Google Shape;676;p22"/>
          <p:cNvSpPr/>
          <p:nvPr/>
        </p:nvSpPr>
        <p:spPr>
          <a:xfrm>
            <a:off x="502920" y="566928"/>
            <a:ext cx="5760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A1D"/>
              </a:buClr>
              <a:buSzPts val="2500"/>
              <a:buFont typeface="Poppins SemiBold"/>
              <a:buNone/>
            </a:pPr>
            <a:r>
              <a:rPr b="1" i="0" lang="en-US" sz="1900" u="none" cap="none" strike="noStrike">
                <a:solidFill>
                  <a:srgbClr val="152A1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Qué herramientas pueden intervenir</a:t>
            </a:r>
            <a:endParaRPr b="0" i="0" sz="2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77" name="Google Shape;677;p22"/>
          <p:cNvSpPr/>
          <p:nvPr/>
        </p:nvSpPr>
        <p:spPr>
          <a:xfrm>
            <a:off x="502925" y="1371600"/>
            <a:ext cx="8138100" cy="3548400"/>
          </a:xfrm>
          <a:prstGeom prst="roundRect">
            <a:avLst>
              <a:gd fmla="val 2254" name="adj"/>
            </a:avLst>
          </a:prstGeom>
          <a:solidFill>
            <a:srgbClr val="FBF8F5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8" name="Google Shape;678;p22"/>
          <p:cNvSpPr/>
          <p:nvPr/>
        </p:nvSpPr>
        <p:spPr>
          <a:xfrm>
            <a:off x="685800" y="1444752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No todas aparecen en todos los lenguajes.</a:t>
            </a:r>
            <a:endParaRPr/>
          </a:p>
        </p:txBody>
      </p:sp>
      <p:sp>
        <p:nvSpPr>
          <p:cNvPr id="679" name="Google Shape;679;p22"/>
          <p:cNvSpPr/>
          <p:nvPr/>
        </p:nvSpPr>
        <p:spPr>
          <a:xfrm>
            <a:off x="685800" y="1755650"/>
            <a:ext cx="2469000" cy="1454400"/>
          </a:xfrm>
          <a:prstGeom prst="roundRect">
            <a:avLst>
              <a:gd fmla="val 12000" name="adj"/>
            </a:avLst>
          </a:prstGeom>
          <a:solidFill>
            <a:srgbClr val="F7F3EE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p22"/>
          <p:cNvSpPr/>
          <p:nvPr/>
        </p:nvSpPr>
        <p:spPr>
          <a:xfrm>
            <a:off x="777240" y="1810512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Compilador</a:t>
            </a:r>
            <a:endParaRPr/>
          </a:p>
        </p:txBody>
      </p:sp>
      <p:sp>
        <p:nvSpPr>
          <p:cNvPr id="681" name="Google Shape;681;p22"/>
          <p:cNvSpPr/>
          <p:nvPr/>
        </p:nvSpPr>
        <p:spPr>
          <a:xfrm>
            <a:off x="777240" y="2048258"/>
            <a:ext cx="2286000" cy="8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chemeClr val="dk2"/>
                </a:solidFill>
              </a:rPr>
              <a:t>Traduce el código de una representación a otra antes de ejecutarlo.</a:t>
            </a:r>
            <a:r>
              <a:rPr lang="en-US" sz="900">
                <a:solidFill>
                  <a:schemeClr val="dk2"/>
                </a:solidFill>
              </a:rPr>
              <a:t> Por ejemplo, </a:t>
            </a:r>
            <a:r>
              <a:rPr lang="en-US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javac</a:t>
            </a:r>
            <a:r>
              <a:rPr lang="en-US" sz="900">
                <a:solidFill>
                  <a:schemeClr val="dk2"/>
                </a:solidFill>
              </a:rPr>
              <a:t> compila el código fuente </a:t>
            </a:r>
            <a:r>
              <a:rPr lang="en-US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.java</a:t>
            </a:r>
            <a:r>
              <a:rPr lang="en-US" sz="900">
                <a:solidFill>
                  <a:schemeClr val="dk2"/>
                </a:solidFill>
              </a:rPr>
              <a:t> y genera bytecode en archivos </a:t>
            </a:r>
            <a:r>
              <a:rPr lang="en-US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.class</a:t>
            </a:r>
            <a:r>
              <a:rPr lang="en-US" sz="900">
                <a:solidFill>
                  <a:schemeClr val="dk2"/>
                </a:solidFill>
              </a:rPr>
              <a:t>; un compilador de C puede generar código objeto nativo. </a:t>
            </a:r>
            <a:endParaRPr sz="900"/>
          </a:p>
        </p:txBody>
      </p:sp>
      <p:sp>
        <p:nvSpPr>
          <p:cNvPr id="682" name="Google Shape;682;p22"/>
          <p:cNvSpPr/>
          <p:nvPr/>
        </p:nvSpPr>
        <p:spPr>
          <a:xfrm>
            <a:off x="3337560" y="1755650"/>
            <a:ext cx="2469000" cy="1454400"/>
          </a:xfrm>
          <a:prstGeom prst="roundRect">
            <a:avLst>
              <a:gd fmla="val 12000" name="adj"/>
            </a:avLst>
          </a:prstGeom>
          <a:solidFill>
            <a:srgbClr val="F7F3EE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3" name="Google Shape;683;p22"/>
          <p:cNvSpPr/>
          <p:nvPr/>
        </p:nvSpPr>
        <p:spPr>
          <a:xfrm>
            <a:off x="3429000" y="1810512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Intérprete / runtime / máquina virtual</a:t>
            </a:r>
            <a:endParaRPr/>
          </a:p>
        </p:txBody>
      </p:sp>
      <p:sp>
        <p:nvSpPr>
          <p:cNvPr id="684" name="Google Shape;684;p22"/>
          <p:cNvSpPr/>
          <p:nvPr/>
        </p:nvSpPr>
        <p:spPr>
          <a:xfrm>
            <a:off x="3429000" y="2048258"/>
            <a:ext cx="2286000" cy="8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chemeClr val="dk2"/>
                </a:solidFill>
              </a:rPr>
              <a:t>Proporciona los componentes necesarios para ejecutar un programa.</a:t>
            </a:r>
            <a:r>
              <a:rPr lang="en-US" sz="900">
                <a:solidFill>
                  <a:schemeClr val="dk2"/>
                </a:solidFill>
              </a:rPr>
              <a:t> Puede incluir un intérprete, una máquina virtual, un compilador JIT, gestión de memoria y otros servicios. Por ejemplo, la JVM es el entorno de ejecución de Java y puede interpretar o compilar bytecode durante la ejecución. </a:t>
            </a:r>
            <a:endParaRPr sz="900"/>
          </a:p>
        </p:txBody>
      </p:sp>
      <p:sp>
        <p:nvSpPr>
          <p:cNvPr id="685" name="Google Shape;685;p22"/>
          <p:cNvSpPr/>
          <p:nvPr/>
        </p:nvSpPr>
        <p:spPr>
          <a:xfrm>
            <a:off x="5989320" y="1755650"/>
            <a:ext cx="2469000" cy="1454400"/>
          </a:xfrm>
          <a:prstGeom prst="roundRect">
            <a:avLst>
              <a:gd fmla="val 12000" name="adj"/>
            </a:avLst>
          </a:prstGeom>
          <a:solidFill>
            <a:srgbClr val="F7F3EE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6" name="Google Shape;686;p22"/>
          <p:cNvSpPr/>
          <p:nvPr/>
        </p:nvSpPr>
        <p:spPr>
          <a:xfrm>
            <a:off x="6080759" y="1810512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Enlazador</a:t>
            </a:r>
            <a:endParaRPr/>
          </a:p>
        </p:txBody>
      </p:sp>
      <p:sp>
        <p:nvSpPr>
          <p:cNvPr id="687" name="Google Shape;687;p22"/>
          <p:cNvSpPr/>
          <p:nvPr/>
        </p:nvSpPr>
        <p:spPr>
          <a:xfrm>
            <a:off x="6080759" y="2048258"/>
            <a:ext cx="2286000" cy="8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chemeClr val="dk2"/>
                </a:solidFill>
              </a:rPr>
              <a:t>Une las distintas partes de un programa y resuelve las referencias entre ellas y las bibliotecas que utiliza.</a:t>
            </a:r>
            <a:r>
              <a:rPr lang="en-US" sz="900">
                <a:solidFill>
                  <a:schemeClr val="dk2"/>
                </a:solidFill>
              </a:rPr>
              <a:t> Es habitual en compilación nativa, como en C. Java no utiliza en este proceso un enlazador nativo equivalente: la JVM carga las clases y resuelve sus referencias durante la ejecución. </a:t>
            </a:r>
            <a:endParaRPr sz="900"/>
          </a:p>
        </p:txBody>
      </p:sp>
      <p:sp>
        <p:nvSpPr>
          <p:cNvPr id="688" name="Google Shape;688;p22"/>
          <p:cNvSpPr/>
          <p:nvPr/>
        </p:nvSpPr>
        <p:spPr>
          <a:xfrm>
            <a:off x="685738" y="3337636"/>
            <a:ext cx="2469000" cy="1280100"/>
          </a:xfrm>
          <a:prstGeom prst="roundRect">
            <a:avLst>
              <a:gd fmla="val 12000" name="adj"/>
            </a:avLst>
          </a:prstGeom>
          <a:solidFill>
            <a:srgbClr val="F7F3EE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9" name="Google Shape;689;p22"/>
          <p:cNvSpPr/>
          <p:nvPr/>
        </p:nvSpPr>
        <p:spPr>
          <a:xfrm>
            <a:off x="777178" y="3392500"/>
            <a:ext cx="2286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Bibliotecas</a:t>
            </a:r>
            <a:endParaRPr/>
          </a:p>
        </p:txBody>
      </p:sp>
      <p:sp>
        <p:nvSpPr>
          <p:cNvPr id="690" name="Google Shape;690;p22"/>
          <p:cNvSpPr/>
          <p:nvPr/>
        </p:nvSpPr>
        <p:spPr>
          <a:xfrm>
            <a:off x="777178" y="3630246"/>
            <a:ext cx="2286000" cy="8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chemeClr val="dk2"/>
                </a:solidFill>
              </a:rPr>
              <a:t>Contienen código ya desarrollado y reutilizable</a:t>
            </a:r>
            <a:r>
              <a:rPr lang="en-US" sz="900">
                <a:solidFill>
                  <a:schemeClr val="dk2"/>
                </a:solidFill>
              </a:rPr>
              <a:t> que los programas pueden utilizar sin tener que implementarlo de nuevo. Por ejemplo, pueden proporcionar funciones para trabajar con archivos, fechas, redes, interfaces gráficas o colecciones. </a:t>
            </a:r>
            <a:endParaRPr sz="900"/>
          </a:p>
        </p:txBody>
      </p:sp>
      <p:sp>
        <p:nvSpPr>
          <p:cNvPr id="691" name="Google Shape;691;p22"/>
          <p:cNvSpPr/>
          <p:nvPr/>
        </p:nvSpPr>
        <p:spPr>
          <a:xfrm>
            <a:off x="3337498" y="3337636"/>
            <a:ext cx="2469000" cy="1280100"/>
          </a:xfrm>
          <a:prstGeom prst="roundRect">
            <a:avLst>
              <a:gd fmla="val 12000" name="adj"/>
            </a:avLst>
          </a:prstGeom>
          <a:solidFill>
            <a:srgbClr val="F7F3EE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2" name="Google Shape;692;p22"/>
          <p:cNvSpPr/>
          <p:nvPr/>
        </p:nvSpPr>
        <p:spPr>
          <a:xfrm>
            <a:off x="3428938" y="3392500"/>
            <a:ext cx="2286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Herramienta de construcción</a:t>
            </a:r>
            <a:endParaRPr/>
          </a:p>
        </p:txBody>
      </p:sp>
      <p:sp>
        <p:nvSpPr>
          <p:cNvPr id="693" name="Google Shape;693;p22"/>
          <p:cNvSpPr/>
          <p:nvPr/>
        </p:nvSpPr>
        <p:spPr>
          <a:xfrm>
            <a:off x="3428938" y="3630246"/>
            <a:ext cx="2286000" cy="8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chemeClr val="dk2"/>
                </a:solidFill>
              </a:rPr>
              <a:t>Automatiza las tareas necesarias para construir un proyecto</a:t>
            </a:r>
            <a:r>
              <a:rPr lang="en-US" sz="900">
                <a:solidFill>
                  <a:schemeClr val="dk2"/>
                </a:solidFill>
              </a:rPr>
              <a:t>, como compilar el código, ejecutar pruebas, gestionar bibliotecas y dependencias y generar el paquete final. En Java son habituales </a:t>
            </a:r>
            <a:r>
              <a:rPr b="1" lang="en-US" sz="900">
                <a:solidFill>
                  <a:schemeClr val="dk2"/>
                </a:solidFill>
              </a:rPr>
              <a:t>Maven y Gradle</a:t>
            </a:r>
            <a:r>
              <a:rPr lang="en-US" sz="900">
                <a:solidFill>
                  <a:schemeClr val="dk2"/>
                </a:solidFill>
              </a:rPr>
              <a:t>. </a:t>
            </a:r>
            <a:endParaRPr sz="900"/>
          </a:p>
        </p:txBody>
      </p:sp>
      <p:sp>
        <p:nvSpPr>
          <p:cNvPr id="694" name="Google Shape;694;p22"/>
          <p:cNvSpPr/>
          <p:nvPr/>
        </p:nvSpPr>
        <p:spPr>
          <a:xfrm>
            <a:off x="5989258" y="3337636"/>
            <a:ext cx="2469000" cy="1280100"/>
          </a:xfrm>
          <a:prstGeom prst="roundRect">
            <a:avLst>
              <a:gd fmla="val 12000" name="adj"/>
            </a:avLst>
          </a:prstGeom>
          <a:solidFill>
            <a:srgbClr val="F7F3EE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5" name="Google Shape;695;p22"/>
          <p:cNvSpPr/>
          <p:nvPr/>
        </p:nvSpPr>
        <p:spPr>
          <a:xfrm>
            <a:off x="6080697" y="3392500"/>
            <a:ext cx="2286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IDE</a:t>
            </a:r>
            <a:endParaRPr/>
          </a:p>
        </p:txBody>
      </p:sp>
      <p:sp>
        <p:nvSpPr>
          <p:cNvPr id="696" name="Google Shape;696;p22"/>
          <p:cNvSpPr/>
          <p:nvPr/>
        </p:nvSpPr>
        <p:spPr>
          <a:xfrm>
            <a:off x="6080697" y="3630246"/>
            <a:ext cx="2286000" cy="8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chemeClr val="dk2"/>
                </a:solidFill>
              </a:rPr>
              <a:t>Es el entorno desde el que el programador desarrolla el proyecto.</a:t>
            </a:r>
            <a:r>
              <a:rPr lang="en-US" sz="900">
                <a:solidFill>
                  <a:schemeClr val="dk2"/>
                </a:solidFill>
              </a:rPr>
              <a:t> Integra y coordina herramientas como el editor de código, el compilador o runtime, el depurador y el sistema de construcción, facilitando utilizarlas desde una misma aplicación. </a:t>
            </a:r>
            <a:endParaRPr sz="9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2A1D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25"/>
          <p:cNvSpPr/>
          <p:nvPr/>
        </p:nvSpPr>
        <p:spPr>
          <a:xfrm>
            <a:off x="6035040" y="-1280160"/>
            <a:ext cx="3108960" cy="3108960"/>
          </a:xfrm>
          <a:prstGeom prst="ellipse">
            <a:avLst/>
          </a:prstGeom>
          <a:solidFill>
            <a:srgbClr val="FFFFFF">
              <a:alpha val="1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2" name="Google Shape;702;p25"/>
          <p:cNvSpPr/>
          <p:nvPr/>
        </p:nvSpPr>
        <p:spPr>
          <a:xfrm>
            <a:off x="7340803" y="-907085"/>
            <a:ext cx="2331720" cy="2331720"/>
          </a:xfrm>
          <a:prstGeom prst="ellipse">
            <a:avLst/>
          </a:prstGeom>
          <a:solidFill>
            <a:srgbClr val="E6945A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3" name="Google Shape;703;p25"/>
          <p:cNvSpPr/>
          <p:nvPr/>
        </p:nvSpPr>
        <p:spPr>
          <a:xfrm>
            <a:off x="-1188720" y="3017520"/>
            <a:ext cx="2743200" cy="2743200"/>
          </a:xfrm>
          <a:prstGeom prst="ellipse">
            <a:avLst/>
          </a:prstGeom>
          <a:solidFill>
            <a:srgbClr val="FFFFFF">
              <a:alpha val="1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4" name="Google Shape;704;p25"/>
          <p:cNvSpPr/>
          <p:nvPr/>
        </p:nvSpPr>
        <p:spPr>
          <a:xfrm>
            <a:off x="-36576" y="3346704"/>
            <a:ext cx="2057400" cy="2057400"/>
          </a:xfrm>
          <a:prstGeom prst="ellipse">
            <a:avLst/>
          </a:prstGeom>
          <a:solidFill>
            <a:srgbClr val="E6945A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5" name="Google Shape;705;p25"/>
          <p:cNvSpPr/>
          <p:nvPr/>
        </p:nvSpPr>
        <p:spPr>
          <a:xfrm>
            <a:off x="4187952" y="1051560"/>
            <a:ext cx="768096" cy="768096"/>
          </a:xfrm>
          <a:prstGeom prst="ellipse">
            <a:avLst/>
          </a:prstGeom>
          <a:solidFill>
            <a:srgbClr val="E694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icons/message_navy.png" id="706" name="Google Shape;70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87657" y="1251265"/>
            <a:ext cx="368686" cy="368686"/>
          </a:xfrm>
          <a:prstGeom prst="rect">
            <a:avLst/>
          </a:prstGeom>
          <a:noFill/>
          <a:ln>
            <a:noFill/>
          </a:ln>
        </p:spPr>
      </p:pic>
      <p:sp>
        <p:nvSpPr>
          <p:cNvPr id="707" name="Google Shape;707;p25"/>
          <p:cNvSpPr/>
          <p:nvPr/>
        </p:nvSpPr>
        <p:spPr>
          <a:xfrm>
            <a:off x="0" y="2057400"/>
            <a:ext cx="91440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oppins SemiBold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¿Preguntas?</a:t>
            </a:r>
            <a:endParaRPr b="0" i="0" sz="4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08" name="Google Shape;708;p25"/>
          <p:cNvSpPr/>
          <p:nvPr/>
        </p:nvSpPr>
        <p:spPr>
          <a:xfrm>
            <a:off x="1371600" y="288036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945A"/>
              </a:buClr>
              <a:buSzPts val="1500"/>
              <a:buFont typeface="Poppins Light"/>
              <a:buNone/>
            </a:pPr>
            <a:r>
              <a:rPr b="0" i="1" lang="en-US" sz="1500" u="none" cap="none" strike="noStrike">
                <a:solidFill>
                  <a:srgbClr val="E6945A"/>
                </a:solidFill>
                <a:latin typeface="Poppins Light"/>
                <a:ea typeface="Poppins Light"/>
                <a:cs typeface="Poppins Light"/>
                <a:sym typeface="Poppins Light"/>
              </a:rPr>
              <a:t>La semana que viene: el primer ejercicio que cuenta para nota y el arranque del Proyecto 1.</a:t>
            </a:r>
            <a:endParaRPr b="0"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09" name="Google Shape;709;p25"/>
          <p:cNvSpPr/>
          <p:nvPr/>
        </p:nvSpPr>
        <p:spPr>
          <a:xfrm>
            <a:off x="8092440" y="47594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945A"/>
              </a:buClr>
              <a:buSzPts val="1000"/>
              <a:buFont typeface="Poppins Light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PROMETEO">
      <a:dk1>
        <a:srgbClr val="152A1D"/>
      </a:dk1>
      <a:lt1>
        <a:srgbClr val="FFFFFF"/>
      </a:lt1>
      <a:dk2>
        <a:srgbClr val="000000"/>
      </a:dk2>
      <a:lt2>
        <a:srgbClr val="F7F3EE"/>
      </a:lt2>
      <a:accent1>
        <a:srgbClr val="152A1D"/>
      </a:accent1>
      <a:accent2>
        <a:srgbClr val="E6945A"/>
      </a:accent2>
      <a:accent3>
        <a:srgbClr val="F0B98A"/>
      </a:accent3>
      <a:accent4>
        <a:srgbClr val="6B7269"/>
      </a:accent4>
      <a:accent5>
        <a:srgbClr val="4A5449"/>
      </a:accent5>
      <a:accent6>
        <a:srgbClr val="E5D3C2"/>
      </a:accent6>
      <a:hlink>
        <a:srgbClr val="E6945A"/>
      </a:hlink>
      <a:folHlink>
        <a:srgbClr val="6B726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