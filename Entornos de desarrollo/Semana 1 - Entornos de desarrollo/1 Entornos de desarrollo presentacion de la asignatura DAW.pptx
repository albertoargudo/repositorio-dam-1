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Poppins Light"/>
      <p:regular r:id="rId20"/>
      <p:bold r:id="rId21"/>
      <p:italic r:id="rId22"/>
      <p:boldItalic r:id="rId23"/>
    </p:embeddedFont>
    <p:embeddedFont>
      <p:font typeface="Poppins Medium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goU9sYZg33cww2Yo1gY+CxbExW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Light-regular.fntdata"/><Relationship Id="rId22" Type="http://schemas.openxmlformats.org/officeDocument/2006/relationships/font" Target="fonts/PoppinsLight-italic.fntdata"/><Relationship Id="rId21" Type="http://schemas.openxmlformats.org/officeDocument/2006/relationships/font" Target="fonts/PoppinsLight-bold.fntdata"/><Relationship Id="rId24" Type="http://schemas.openxmlformats.org/officeDocument/2006/relationships/font" Target="fonts/PoppinsMedium-regular.fntdata"/><Relationship Id="rId23" Type="http://schemas.openxmlformats.org/officeDocument/2006/relationships/font" Target="fonts/Poppins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Medium-italic.fntdata"/><Relationship Id="rId25" Type="http://schemas.openxmlformats.org/officeDocument/2006/relationships/font" Target="fonts/PoppinsMedium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6309360" y="3246120"/>
            <a:ext cx="3931920" cy="393192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7960766" y="3717950"/>
            <a:ext cx="2948940" cy="294894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-822960" y="-1005840"/>
            <a:ext cx="2377440" cy="23774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75565" y="-720547"/>
            <a:ext cx="1783080" cy="17830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502920" y="5669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200"/>
              <a:buFont typeface="Poppins Medium"/>
              <a:buNone/>
            </a:pPr>
            <a:r>
              <a:rPr b="0" i="0" lang="en-US" sz="12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0487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502920" y="169164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oppins Light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Entornos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desarrollo</a:t>
            </a:r>
            <a:endParaRPr b="0"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502920" y="331012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Módulo 0487  ·  1.º DAW  ·  Presentación de la asignatura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3" name="Google Shape;63;p1"/>
          <p:cNvCxnSpPr/>
          <p:nvPr/>
        </p:nvCxnSpPr>
        <p:spPr>
          <a:xfrm>
            <a:off x="502920" y="416052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"/>
          <p:cNvSpPr/>
          <p:nvPr/>
        </p:nvSpPr>
        <p:spPr>
          <a:xfrm>
            <a:off x="502920" y="42793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Rafael Gómez Prudencio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502920" y="4553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6945A"/>
                </a:solidFill>
                <a:latin typeface="Poppins Light"/>
                <a:ea typeface="Poppins Light"/>
                <a:cs typeface="Poppins Light"/>
                <a:sym typeface="Poppins Light"/>
              </a:rPr>
              <a:t>Curso 2026 / 2027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PRESENTACIÓN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MAPA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Seis bloques, seis RA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02925" y="1153125"/>
            <a:ext cx="8138100" cy="34647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685800" y="2057400"/>
            <a:ext cx="1207008" cy="12344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777240" y="214884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Bloque 1 · RA1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777240" y="2432304"/>
            <a:ext cx="10241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desarrollo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software y sus fases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002536" y="2057400"/>
            <a:ext cx="1207008" cy="12344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093976" y="214884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Bloque 2 · RA2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2093976" y="2432304"/>
            <a:ext cx="10241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Entornos integrados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319272" y="2057400"/>
            <a:ext cx="1207008" cy="123444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410712" y="214884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Bloque 3 · RA3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10712" y="2432304"/>
            <a:ext cx="10241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Diseño y realización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de pruebas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636008" y="2057400"/>
            <a:ext cx="1207008" cy="123444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727448" y="214884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Bloque 4 · RA4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727448" y="2432304"/>
            <a:ext cx="10241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Optimización, versiones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y documentación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952744" y="2057400"/>
            <a:ext cx="1207008" cy="12344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044183" y="214884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Bloque 5 · RA5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044183" y="2432304"/>
            <a:ext cx="10241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Diagramas de clases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(UML)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269479" y="2057400"/>
            <a:ext cx="1207008" cy="12344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360919" y="214884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Bloque 6 · RA6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360919" y="2432304"/>
            <a:ext cx="10241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Diagramas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comportamiento (UML)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85800" y="1645920"/>
            <a:ext cx="2523744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1.er TRIMESTRE · bloques 1 y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319272" y="1645920"/>
            <a:ext cx="2523744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2.º TRIMESTRE · bloques 3 y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952744" y="1645920"/>
            <a:ext cx="2523744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3.er TRIMESTRE · bloques 5 y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685800" y="3520440"/>
            <a:ext cx="7772400" cy="777240"/>
          </a:xfrm>
          <a:prstGeom prst="roundRect">
            <a:avLst>
              <a:gd fmla="val 12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868680" y="3611880"/>
            <a:ext cx="7406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Los seis bloques caen sobre la misma aplicación: primero se compila y se empaqueta, después se prueba y se optimiza, y al final se modela entera.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85800" y="1207008"/>
            <a:ext cx="7772400" cy="365760"/>
          </a:xfrm>
          <a:prstGeom prst="roundRect">
            <a:avLst>
              <a:gd fmla="val 30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Aquí cada bloque es exactamente un resultado de aprendizaje: seis bloques, seis 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PRESENTACIÓN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MÉTODO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Cómo son mis clases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502925" y="1371600"/>
            <a:ext cx="8138100" cy="23001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77240" y="1645920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234440" y="15544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Explicación de teoría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234440" y="181051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concepto, y en cuanto se entiende, a usarlo.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777240" y="2185416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234440" y="2093976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Práctica guiada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234440" y="2350008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Yo lo hago en pantalla mientras vosotros lo hacéis en vuestro ordenador, al mismo tiempo.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777240" y="272491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234440" y="263347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Ejercicios, casi todos los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1234440" y="2889504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Unos cuentan para nota y otros no. Siempre se dice cuál es cuál antes de empezar.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777240" y="3264404"/>
            <a:ext cx="758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objetivo es que la mayor parte del trabajo lo hagáis en clase.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PRESENTACIÓN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EVALUACIÓN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dónde sale tu nota en esta asignatura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85800" y="1572768"/>
            <a:ext cx="3794760" cy="1600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868680" y="1664208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ACTIVIDADES · 20 % en cada 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868680" y="1993392"/>
            <a:ext cx="3429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Dos por bloque en todo el curso, del 10 % cada una. Individuales y hechas en clase. Son las que llevan la etiqueta de que cuentan para nota.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663440" y="1572768"/>
            <a:ext cx="3794760" cy="16002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846320" y="1664208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PROYECTO · 80 % en cada 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846320" y="1993392"/>
            <a:ext cx="3429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Uno por trimestre, en equipo. Cada proyecto da nota a los bloques que se han trabajado en ese trimestre, no a uno solo.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85800" y="3291840"/>
            <a:ext cx="7772400" cy="868680"/>
          </a:xfrm>
          <a:prstGeom prst="roundRect">
            <a:avLst>
              <a:gd fmla="val 12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868680" y="3383280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Y los demás ejercicios, ¿para qué son?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868680" y="3639312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Para practicar y para que yo vea dónde está la clase. No puntúan, y se dice antes de empezarlos. Son la mayoría de los que vais a hacer.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85800" y="422452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Todos los RA a 5 o más, ninguno compensa a otro y no hay exámenes.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PRESENTACIÓN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PROYECTO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proyecto se mira en cinco puntos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502925" y="1371600"/>
            <a:ext cx="8138100" cy="33267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85800" y="1645920"/>
            <a:ext cx="1481328" cy="1600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234440" y="1783080"/>
            <a:ext cx="384048" cy="384048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777240" y="2267712"/>
            <a:ext cx="12984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Se ha trabajado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 clase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914400" y="2852928"/>
            <a:ext cx="1024128" cy="274320"/>
          </a:xfrm>
          <a:prstGeom prst="roundRect">
            <a:avLst>
              <a:gd fmla="val 4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 + tú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2304288" y="1645920"/>
            <a:ext cx="1481328" cy="1600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852928" y="1783080"/>
            <a:ext cx="384048" cy="384048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395728" y="2267712"/>
            <a:ext cx="12984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Terminado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entregado a tiempo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2532888" y="2852928"/>
            <a:ext cx="1024128" cy="274320"/>
          </a:xfrm>
          <a:prstGeom prst="roundRect">
            <a:avLst>
              <a:gd fmla="val 4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922776" y="1645920"/>
            <a:ext cx="1481328" cy="1600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471416" y="1783080"/>
            <a:ext cx="384048" cy="384048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014215" y="2267712"/>
            <a:ext cx="12984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Funciona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151376" y="2852928"/>
            <a:ext cx="1024128" cy="274320"/>
          </a:xfrm>
          <a:prstGeom prst="roundRect">
            <a:avLst>
              <a:gd fmla="val 4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541264" y="1645920"/>
            <a:ext cx="1481328" cy="1600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6089904" y="1783080"/>
            <a:ext cx="384048" cy="384048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632704" y="2267712"/>
            <a:ext cx="12984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Usa la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de la 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769864" y="2852928"/>
            <a:ext cx="1024128" cy="274320"/>
          </a:xfrm>
          <a:prstGeom prst="roundRect">
            <a:avLst>
              <a:gd fmla="val 4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159752" y="1645920"/>
            <a:ext cx="1481328" cy="16002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7708392" y="1783080"/>
            <a:ext cx="384048" cy="384048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7251192" y="2267712"/>
            <a:ext cx="12984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Se defiende 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toda la clase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7388352" y="2852928"/>
            <a:ext cx="1024128" cy="274320"/>
          </a:xfrm>
          <a:prstGeom prst="roundRect">
            <a:avLst>
              <a:gd fmla="val 4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 + tú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85800" y="33832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 los puntos 1 y 5 hay dos notas: la del equipo y la tuya, y valen la mitad cada una. En los puntos 2, 3 y 4 la nota es del equipo. El equipo no aprueba a nadie: si la media de tus dos notas individuales queda por debajo de 5, esa es tu nota del proyecto aunque el equipo tenga más.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85800" y="4206240"/>
            <a:ext cx="7772400" cy="384048"/>
          </a:xfrm>
          <a:prstGeom prst="roundRect">
            <a:avLst>
              <a:gd fmla="val 30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proyecto por trimestre, y los cinco puntos son siempre los mismos.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PRESENTACIÓN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DEFENSA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 que entregas lo defiendes tú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85800" y="1600200"/>
            <a:ext cx="3794760" cy="2286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68680" y="169164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MIENTRAS TRABAJAS · punto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68680" y="210769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325880" y="201168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Paso por los 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325880" y="2267712"/>
            <a:ext cx="297180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Mientras trabajáis en el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868680" y="2683764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325880" y="258775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Me explicas lo que has hecho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325880" y="2843784"/>
            <a:ext cx="297180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Con tus palabras, sin preparar nada.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868680" y="3259836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325880" y="31638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Y lo cambias delante de mí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325880" y="3419856"/>
            <a:ext cx="297180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cambio pequeño y comprobable.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663440" y="1600200"/>
            <a:ext cx="3794760" cy="22860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846320" y="169164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DÍA DE LA ENTREGA · punto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846320" y="210769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303520" y="201168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equipo presenta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303520" y="2267712"/>
            <a:ext cx="297180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Delante de toda la clase.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846320" y="2683764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303520" y="258775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Cada uno cuenta su parte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303520" y="2843784"/>
            <a:ext cx="297180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 parte en la que ha trabajado.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846320" y="3259836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303520" y="31638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Y respondéis preguntas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303520" y="3419856"/>
            <a:ext cx="297180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Mías y de los compañeros.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85800" y="3977639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No basta con que el proyecto esté hecho: la nota individual sale de lo que demuestras saber sobre él.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PRESENTACIÓN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RÉGIMEN DE IA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Uso de IA: permitido y verificado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85800" y="1600200"/>
            <a:ext cx="3794760" cy="18288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868680" y="171907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PERMITIDO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868680" y="2029968"/>
            <a:ext cx="3429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Puedes usar IA para cualquier trabajo del módulo: entender un error, generar un borrador, escribir una parte del código, redactar la documentación. No hay que esconderlo ni declararlo.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663440" y="1600200"/>
            <a:ext cx="3794760" cy="18288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846320" y="171907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VERIFICADO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846320" y="2029968"/>
            <a:ext cx="3429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 que entregas lo defiendes tú: paso por los puestos y te pido que expliques lo que has hecho y que lo cambies delante. Eso es lo que puntúa, no el fichero.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685800" y="3611880"/>
            <a:ext cx="7772400" cy="914400"/>
          </a:xfrm>
          <a:prstGeom prst="roundRect">
            <a:avLst>
              <a:gd fmla="val 12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68680" y="3703320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Lo que no se puede hacer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868680" y="3959352"/>
            <a:ext cx="7406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Entregar como propio el trabajo de otro compañero, de otro curso o de la red  ·  usar IA en una defensa o en una recuperación  ·  pasar voz o imagen de personas por servicios externos sin autorización.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PRESENTACIÓN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HERRAMIENTAS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 qué vamos a trabajar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02925" y="1371600"/>
            <a:ext cx="82314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85800" y="1691640"/>
            <a:ext cx="25146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22960" y="182880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Eclipse Temurin JDK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22960" y="213055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21 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 base sobre la que corre Java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3401568" y="1691640"/>
            <a:ext cx="2514600" cy="11430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538728" y="182880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IntelliJ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3538728" y="213055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2026.2.2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programa donde se escribe 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117336" y="1691640"/>
            <a:ext cx="25146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6254496" y="182880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Visual Studio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254496" y="213055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1.103.2 o posterior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segundo entorno, para comparar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685800" y="3017520"/>
            <a:ext cx="2514600" cy="11430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822960" y="3154679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822960" y="345643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Guardar y recuperar versiones del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401568" y="3017520"/>
            <a:ext cx="2514600" cy="11430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3538728" y="3154679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Apache Maven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3538728" y="345643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3.9.16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Construir el proyecto y traer lo que necesita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6117336" y="3017520"/>
            <a:ext cx="2514600" cy="11430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254496" y="3154679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PlantUML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254496" y="345643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Dibujar diagramas escribiéndolos como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/>
        </p:nvSpPr>
        <p:spPr>
          <a:xfrm>
            <a:off x="6035040" y="-1280160"/>
            <a:ext cx="3108960" cy="310896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340803" y="-907085"/>
            <a:ext cx="2331720" cy="233172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-1188720" y="3017520"/>
            <a:ext cx="2743200" cy="274320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-36576" y="3346704"/>
            <a:ext cx="2057400" cy="205740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4187952" y="1051560"/>
            <a:ext cx="768096" cy="7680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message_navy.png" id="254" name="Google Shape;2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7657" y="1251265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oppins SemiBol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¿Preguntas?</a:t>
            </a:r>
            <a:endParaRPr b="0" i="0" sz="4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1371600" y="28803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500"/>
              <a:buFont typeface="Poppins Light"/>
              <a:buNone/>
            </a:pPr>
            <a:r>
              <a:rPr b="0" i="1" lang="en-US" sz="1500" u="none" cap="none" strike="noStrike">
                <a:solidFill>
                  <a:srgbClr val="E6945A"/>
                </a:solidFill>
                <a:latin typeface="Poppins Light"/>
                <a:ea typeface="Poppins Light"/>
                <a:cs typeface="Poppins Light"/>
                <a:sym typeface="Poppins Light"/>
              </a:rPr>
              <a:t>Y ahora empezamos el bloque 1, sin prisa: qué es un programa y qué hace el ordenador con él.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000"/>
              <a:buFont typeface="Poppins Light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ROMETEO">
      <a:dk1>
        <a:srgbClr val="152A1D"/>
      </a:dk1>
      <a:lt1>
        <a:srgbClr val="FFFFFF"/>
      </a:lt1>
      <a:dk2>
        <a:srgbClr val="000000"/>
      </a:dk2>
      <a:lt2>
        <a:srgbClr val="F7F3EE"/>
      </a:lt2>
      <a:accent1>
        <a:srgbClr val="152A1D"/>
      </a:accent1>
      <a:accent2>
        <a:srgbClr val="E6945A"/>
      </a:accent2>
      <a:accent3>
        <a:srgbClr val="F0B98A"/>
      </a:accent3>
      <a:accent4>
        <a:srgbClr val="6B7269"/>
      </a:accent4>
      <a:accent5>
        <a:srgbClr val="4A5449"/>
      </a:accent5>
      <a:accent6>
        <a:srgbClr val="E5D3C2"/>
      </a:accent6>
      <a:hlink>
        <a:srgbClr val="E6945A"/>
      </a:hlink>
      <a:folHlink>
        <a:srgbClr val="6B72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