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Poppins"/>
      <p:regular r:id="rId22"/>
      <p:bold r:id="rId23"/>
      <p:italic r:id="rId24"/>
      <p:boldItalic r:id="rId25"/>
    </p:embeddedFont>
    <p:embeddedFont>
      <p:font typeface="Poppins Light"/>
      <p:regular r:id="rId26"/>
      <p:bold r:id="rId27"/>
      <p:italic r:id="rId28"/>
      <p:boldItalic r:id="rId29"/>
    </p:embeddedFont>
    <p:embeddedFont>
      <p:font typeface="Poppins Medium"/>
      <p:regular r:id="rId30"/>
      <p:bold r:id="rId31"/>
      <p:italic r:id="rId32"/>
      <p:boldItalic r:id="rId33"/>
    </p:embeddedFont>
    <p:embeddedFont>
      <p:font typeface="Poppins SemiBold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8" roundtripDataSignature="AMtx7mhIwYQQB4PVhHA1N4NbQ/EJH/zt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font" Target="fonts/Poppins-regular.fntdata"/><Relationship Id="rId23" Type="http://schemas.openxmlformats.org/officeDocument/2006/relationships/font" Target="fonts/Poppins-bold.fntdata"/><Relationship Id="rId24" Type="http://schemas.openxmlformats.org/officeDocument/2006/relationships/font" Target="fonts/Poppins-italic.fntdata"/><Relationship Id="rId25" Type="http://schemas.openxmlformats.org/officeDocument/2006/relationships/font" Target="fonts/Poppins-boldItalic.fntdata"/><Relationship Id="rId26" Type="http://schemas.openxmlformats.org/officeDocument/2006/relationships/font" Target="fonts/PoppinsLight-regular.fntdata"/><Relationship Id="rId27" Type="http://schemas.openxmlformats.org/officeDocument/2006/relationships/font" Target="fonts/PoppinsLight-bold.fntdata"/><Relationship Id="rId28" Type="http://schemas.openxmlformats.org/officeDocument/2006/relationships/font" Target="fonts/PoppinsLight-italic.fntdata"/><Relationship Id="rId29" Type="http://schemas.openxmlformats.org/officeDocument/2006/relationships/font" Target="fonts/PoppinsLight-boldItalic.fntdata"/><Relationship Id="rId30" Type="http://schemas.openxmlformats.org/officeDocument/2006/relationships/font" Target="fonts/PoppinsMedium-regular.fntdata"/><Relationship Id="rId31" Type="http://schemas.openxmlformats.org/officeDocument/2006/relationships/font" Target="fonts/PoppinsMedium-bold.fntdata"/><Relationship Id="rId32" Type="http://schemas.openxmlformats.org/officeDocument/2006/relationships/font" Target="fonts/PoppinsMedium-italic.fntdata"/><Relationship Id="rId33" Type="http://schemas.openxmlformats.org/officeDocument/2006/relationships/font" Target="fonts/PoppinsMedium-boldItalic.fntdata"/><Relationship Id="rId34" Type="http://schemas.openxmlformats.org/officeDocument/2006/relationships/font" Target="fonts/PoppinsSemiBold-regular.fntdata"/><Relationship Id="rId35" Type="http://schemas.openxmlformats.org/officeDocument/2006/relationships/font" Target="fonts/PoppinsSemiBold-bold.fntdata"/><Relationship Id="rId36" Type="http://schemas.openxmlformats.org/officeDocument/2006/relationships/font" Target="fonts/PoppinsSemiBold-italic.fntdata"/><Relationship Id="rId37" Type="http://schemas.openxmlformats.org/officeDocument/2006/relationships/font" Target="fonts/PoppinsSemiBold-boldItalic.fntdata"/><Relationship Id="rId38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fb5546605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fb5546605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A1D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"/>
          <p:cNvSpPr/>
          <p:nvPr/>
        </p:nvSpPr>
        <p:spPr>
          <a:xfrm>
            <a:off x="6309360" y="3246120"/>
            <a:ext cx="3931920" cy="3931920"/>
          </a:xfrm>
          <a:prstGeom prst="ellipse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7960766" y="3717950"/>
            <a:ext cx="2948940" cy="2948940"/>
          </a:xfrm>
          <a:prstGeom prst="ellipse">
            <a:avLst/>
          </a:prstGeom>
          <a:solidFill>
            <a:srgbClr val="E6945A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-822960" y="-1005840"/>
            <a:ext cx="2377440" cy="2377440"/>
          </a:xfrm>
          <a:prstGeom prst="ellipse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175565" y="-720547"/>
            <a:ext cx="1783080" cy="1783080"/>
          </a:xfrm>
          <a:prstGeom prst="ellipse">
            <a:avLst/>
          </a:prstGeom>
          <a:solidFill>
            <a:srgbClr val="E6945A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502920" y="56692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945A"/>
              </a:buClr>
              <a:buSzPts val="1200"/>
              <a:buFont typeface="Poppins Medium"/>
              <a:buNone/>
            </a:pPr>
            <a:r>
              <a:rPr b="0" i="0" lang="en-US" sz="1200" u="none" cap="none" strike="noStrike">
                <a:solidFill>
                  <a:srgbClr val="E6945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ENTORNOS DE DESARROLLO · 0487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502920" y="1691640"/>
            <a:ext cx="73152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Poppins Light"/>
              <a:buNone/>
            </a:pPr>
            <a:r>
              <a:rPr b="0" i="0" lang="en-US" sz="3800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Unidad 1: </a:t>
            </a:r>
            <a:r>
              <a:rPr b="1" i="0" lang="en-US" sz="3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desarrollo de software y sus fases</a:t>
            </a:r>
            <a:endParaRPr b="0" i="0" sz="3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02920" y="3310128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945A"/>
              </a:buClr>
              <a:buSzPts val="1500"/>
              <a:buFont typeface="Poppins"/>
              <a:buNone/>
            </a:pPr>
            <a:r>
              <a:rPr b="0" i="0" lang="en-US" sz="15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Entornos de desarrollo (0487) · 1.º DAW · Qué es un programa y en qué se convierte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8" name="Google Shape;18;p1"/>
          <p:cNvCxnSpPr/>
          <p:nvPr/>
        </p:nvCxnSpPr>
        <p:spPr>
          <a:xfrm>
            <a:off x="502920" y="4160520"/>
            <a:ext cx="1828800" cy="0"/>
          </a:xfrm>
          <a:prstGeom prst="straightConnector1">
            <a:avLst/>
          </a:prstGeom>
          <a:noFill/>
          <a:ln cap="flat" cmpd="sng" w="19050">
            <a:solidFill>
              <a:srgbClr val="E6945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1"/>
          <p:cNvSpPr/>
          <p:nvPr/>
        </p:nvSpPr>
        <p:spPr>
          <a:xfrm>
            <a:off x="502920" y="4279392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Rafael Gómez Prudencio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02920" y="455371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945A"/>
              </a:buClr>
              <a:buSzPts val="1100"/>
              <a:buFont typeface="Poppins Light"/>
              <a:buNone/>
            </a:pPr>
            <a:r>
              <a:rPr b="0" i="0" lang="en-US" sz="1100" u="none" cap="none" strike="noStrike">
                <a:solidFill>
                  <a:srgbClr val="E6945A"/>
                </a:solidFill>
                <a:latin typeface="Poppins Light"/>
                <a:ea typeface="Poppins Light"/>
                <a:cs typeface="Poppins Light"/>
                <a:sym typeface="Poppins Light"/>
              </a:rPr>
              <a:t>Curso 2026 / 2027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A1D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-1005840" y="2468880"/>
            <a:ext cx="3291840" cy="3291840"/>
          </a:xfrm>
          <a:prstGeom prst="ellipse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376733" y="2863901"/>
            <a:ext cx="2468880" cy="2468880"/>
          </a:xfrm>
          <a:prstGeom prst="ellipse">
            <a:avLst/>
          </a:prstGeom>
          <a:solidFill>
            <a:srgbClr val="E6945A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4663440" y="502920"/>
            <a:ext cx="397764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4436"/>
              </a:buClr>
              <a:buSzPts val="22000"/>
              <a:buFont typeface="Poppins SemiBold"/>
              <a:buNone/>
            </a:pPr>
            <a:r>
              <a:rPr b="1" i="0" lang="en-US" sz="22000" u="none" cap="none" strike="noStrike">
                <a:solidFill>
                  <a:srgbClr val="2C443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01</a:t>
            </a:r>
            <a:endParaRPr b="0" i="0" sz="2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502920" y="19659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945A"/>
              </a:buClr>
              <a:buSzPts val="1300"/>
              <a:buFont typeface="Poppins Medium"/>
              <a:buNone/>
            </a:pPr>
            <a:r>
              <a:rPr b="0" i="0" lang="en-US" sz="1300" u="none" cap="none" strike="noStrike">
                <a:solidFill>
                  <a:srgbClr val="E6945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UNIDAD 1</a:t>
            </a:r>
            <a:endParaRPr b="0"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02920" y="2286000"/>
            <a:ext cx="51206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oppins SemiBold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Qué es un programa</a:t>
            </a:r>
            <a:endParaRPr b="0" i="0" sz="3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oppins SemiBold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y en qué se convierte</a:t>
            </a:r>
            <a:endParaRPr b="0" i="0" sz="3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/>
          <p:nvPr/>
        </p:nvSpPr>
        <p:spPr>
          <a:xfrm>
            <a:off x="502920" y="3474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UT1 · EL DESARROLLO DE SOFTWARE Y SUS FASES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7223760" y="594360"/>
            <a:ext cx="1417320" cy="365760"/>
          </a:xfrm>
          <a:prstGeom prst="roundRect">
            <a:avLst>
              <a:gd fmla="val 15000" name="adj"/>
            </a:avLst>
          </a:prstGeom>
          <a:solidFill>
            <a:srgbClr val="F7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7223760" y="59436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000"/>
              <a:buFont typeface="Poppins Medium"/>
              <a:buNone/>
            </a:pPr>
            <a:r>
              <a:rPr b="0" i="0" lang="en-US" sz="1000" u="none" cap="none" strike="noStrike">
                <a:solidFill>
                  <a:srgbClr val="152A1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CONCEPTO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502920" y="566928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2500"/>
              <a:buFont typeface="Poppins SemiBold"/>
              <a:buNone/>
            </a:pPr>
            <a:r>
              <a:rPr b="1" i="0" lang="en-US" sz="19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Un ordenador no sabe hacer nada por su cuenta</a:t>
            </a:r>
            <a:endParaRPr b="0" i="0" sz="2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502920" y="1371600"/>
            <a:ext cx="8138160" cy="3246120"/>
          </a:xfrm>
          <a:prstGeom prst="roundRect">
            <a:avLst>
              <a:gd fmla="val 2254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685800" y="1691640"/>
            <a:ext cx="2456688" cy="201168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850392" y="1856232"/>
            <a:ext cx="21275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Solo obedece</a:t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850392" y="2468880"/>
            <a:ext cx="212750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No decide ni entiende. Hace exactamente lo que se le manda, en el orden en que se le manda, y nada más.</a:t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3343656" y="1691640"/>
            <a:ext cx="2456688" cy="201168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3508248" y="1856232"/>
            <a:ext cx="21275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Una instrucción detrás de otra</a:t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3508248" y="2468880"/>
            <a:ext cx="212750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Sumar dos números, comparar dos valores, mover un dato de un sitio a otro. Cosas así de pequeñas, muchísimas por segundo.</a:t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6001512" y="1691640"/>
            <a:ext cx="2456688" cy="201168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6166104" y="1856232"/>
            <a:ext cx="21275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Necesita que se lo digan todo</a:t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6166104" y="2468880"/>
            <a:ext cx="212750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Si falta un paso, no lo adivina: falla o hace algo raro. La mayoría de los errores del curso van a ser eso.</a:t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685800" y="3840480"/>
            <a:ext cx="7772400" cy="640080"/>
          </a:xfrm>
          <a:prstGeom prst="roundRect">
            <a:avLst>
              <a:gd fmla="val 12000" name="adj"/>
            </a:avLst>
          </a:prstGeom>
          <a:solidFill>
            <a:srgbClr val="F3E6DA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868680" y="3950208"/>
            <a:ext cx="7406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Vuestro trabajo durante dos años es escribir esas instrucciones de forma que la máquina las entienda y que otra persona pueda leerlas después.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"/>
          <p:cNvSpPr/>
          <p:nvPr/>
        </p:nvSpPr>
        <p:spPr>
          <a:xfrm>
            <a:off x="502920" y="3474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UT1 · EL DESARROLLO DE SOFTWARE Y SUS FASES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7223760" y="594360"/>
            <a:ext cx="1417320" cy="365760"/>
          </a:xfrm>
          <a:prstGeom prst="roundRect">
            <a:avLst>
              <a:gd fmla="val 15000" name="adj"/>
            </a:avLst>
          </a:prstGeom>
          <a:solidFill>
            <a:srgbClr val="F7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7223760" y="59436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000"/>
              <a:buFont typeface="Poppins Medium"/>
              <a:buNone/>
            </a:pPr>
            <a:r>
              <a:rPr b="0" i="0" lang="en-US" sz="1000" u="none" cap="none" strike="noStrike">
                <a:solidFill>
                  <a:srgbClr val="152A1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CONCEPTO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502920" y="566928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2500"/>
              <a:buFont typeface="Poppins SemiBold"/>
              <a:buNone/>
            </a:pPr>
            <a:r>
              <a:rPr b="1" i="0" lang="en-US" sz="25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Qué es un programa</a:t>
            </a:r>
            <a:endParaRPr b="0" i="0" sz="2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502920" y="1371600"/>
            <a:ext cx="8138160" cy="3246120"/>
          </a:xfrm>
          <a:prstGeom prst="roundRect">
            <a:avLst>
              <a:gd fmla="val 2254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685800" y="1600200"/>
            <a:ext cx="3794760" cy="141732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868680" y="1719072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La definición</a:t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868680" y="2029968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Una lista de instrucciones, escrita siguiendo unas reglas muy estrictas, que resuelve una tarea concreta.</a:t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4663440" y="1600200"/>
            <a:ext cx="3794760" cy="1417320"/>
          </a:xfrm>
          <a:prstGeom prst="roundRect">
            <a:avLst>
              <a:gd fmla="val 12000" name="adj"/>
            </a:avLst>
          </a:prstGeom>
          <a:solidFill>
            <a:srgbClr val="F3E6DA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4846320" y="1719072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La comparación de siempre</a:t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4846320" y="2029968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Una receta: pasos en orden, con cantidades exactas. La diferencia es que la persona que cocina no improvisa nada.</a:t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685800" y="3154680"/>
            <a:ext cx="7772400" cy="1325880"/>
          </a:xfrm>
          <a:prstGeom prst="roundRect">
            <a:avLst>
              <a:gd fmla="val 12000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868680" y="3264408"/>
            <a:ext cx="7406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Tres palabras que se confunden todo el rato</a:t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960120" y="356616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Programa</a:t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2240280" y="3566160"/>
            <a:ext cx="6035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Una lista de instrucciones que hace una cosa.</a:t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960120" y="385876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Aplicación</a:t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2240280" y="3858768"/>
            <a:ext cx="6035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Un conjunto de programas que se usan juntos, con su ventana o su pantalla.</a:t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960120" y="4151376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Software</a:t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2240280" y="4151376"/>
            <a:ext cx="6035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Todo lo que no se puede tocar: programas, aplicaciones y sistema operativo.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"/>
          <p:cNvSpPr/>
          <p:nvPr/>
        </p:nvSpPr>
        <p:spPr>
          <a:xfrm>
            <a:off x="502920" y="3474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UT1 · EL DESARROLLO DE SOFTWARE Y SUS FASES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7223760" y="594360"/>
            <a:ext cx="1417320" cy="365760"/>
          </a:xfrm>
          <a:prstGeom prst="roundRect">
            <a:avLst>
              <a:gd fmla="val 15000" name="adj"/>
            </a:avLst>
          </a:prstGeom>
          <a:solidFill>
            <a:srgbClr val="F7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7223760" y="59436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000"/>
              <a:buFont typeface="Poppins Medium"/>
              <a:buNone/>
            </a:pPr>
            <a:r>
              <a:rPr b="0" i="0" lang="en-US" sz="1000" u="none" cap="none" strike="noStrike">
                <a:solidFill>
                  <a:srgbClr val="152A1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CONCEPTO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502920" y="566928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2500"/>
              <a:buFont typeface="Poppins SemiBold"/>
              <a:buNone/>
            </a:pPr>
            <a:r>
              <a:rPr b="1" i="0" lang="en-US" sz="16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Un programa es un texto que alguien tiene que traducir</a:t>
            </a:r>
            <a:endParaRPr b="0" i="0" sz="2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502920" y="1371600"/>
            <a:ext cx="8138160" cy="3246120"/>
          </a:xfrm>
          <a:prstGeom prst="roundRect">
            <a:avLst>
              <a:gd fmla="val 2254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731520" y="1783080"/>
            <a:ext cx="2377440" cy="141732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868680" y="1901952"/>
            <a:ext cx="310896" cy="310896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1261872" y="19202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Tú escribes</a:t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868680" y="233172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Un texto con reglas muy estrictas: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un lenguaje de programación.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Se lee y se entiende.</a:t>
            </a:r>
            <a:endParaRPr/>
          </a:p>
        </p:txBody>
      </p:sp>
      <p:cxnSp>
        <p:nvCxnSpPr>
          <p:cNvPr id="86" name="Google Shape;86;p5"/>
          <p:cNvCxnSpPr/>
          <p:nvPr/>
        </p:nvCxnSpPr>
        <p:spPr>
          <a:xfrm>
            <a:off x="3145536" y="2487168"/>
            <a:ext cx="292608" cy="0"/>
          </a:xfrm>
          <a:prstGeom prst="straightConnector1">
            <a:avLst/>
          </a:prstGeom>
          <a:noFill/>
          <a:ln cap="flat" cmpd="sng" w="25400">
            <a:solidFill>
              <a:srgbClr val="E694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7" name="Google Shape;87;p5"/>
          <p:cNvSpPr/>
          <p:nvPr/>
        </p:nvSpPr>
        <p:spPr>
          <a:xfrm>
            <a:off x="3474720" y="1783080"/>
            <a:ext cx="2377440" cy="141732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3611879" y="1901952"/>
            <a:ext cx="310896" cy="310896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4005072" y="19202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Alguien traduce (commpilador)</a:t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3611879" y="233172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Una herramienta convierte ese texto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en algo que la máquina entiende.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Ahí ya no se lee.</a:t>
            </a:r>
            <a:endParaRPr/>
          </a:p>
        </p:txBody>
      </p:sp>
      <p:cxnSp>
        <p:nvCxnSpPr>
          <p:cNvPr id="91" name="Google Shape;91;p5"/>
          <p:cNvCxnSpPr/>
          <p:nvPr/>
        </p:nvCxnSpPr>
        <p:spPr>
          <a:xfrm>
            <a:off x="5888736" y="2487168"/>
            <a:ext cx="292608" cy="0"/>
          </a:xfrm>
          <a:prstGeom prst="straightConnector1">
            <a:avLst/>
          </a:prstGeom>
          <a:noFill/>
          <a:ln cap="flat" cmpd="sng" w="25400">
            <a:solidFill>
              <a:srgbClr val="E694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92" name="Google Shape;92;p5"/>
          <p:cNvSpPr/>
          <p:nvPr/>
        </p:nvSpPr>
        <p:spPr>
          <a:xfrm>
            <a:off x="6217920" y="1783080"/>
            <a:ext cx="2377440" cy="141732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6355080" y="1901952"/>
            <a:ext cx="310896" cy="310896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6748272" y="19202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La máquina ejecuta</a:t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6355080" y="233172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El procesador va haciendo las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operaciones una a una, usando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la memoria y los periféricos.</a:t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731520" y="3429000"/>
            <a:ext cx="7680960" cy="960120"/>
          </a:xfrm>
          <a:prstGeom prst="roundRect">
            <a:avLst>
              <a:gd fmla="val 12000" name="adj"/>
            </a:avLst>
          </a:prstGeom>
          <a:solidFill>
            <a:srgbClr val="F3E6DA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914400" y="353872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Por qué importa esto en este módulo</a:t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914400" y="37947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Casi todas las herramientas del curso viven en alguno de esos tres pasos: las que te ayudan a escribir, las que traducen y empaquetan, y las que comprueban que lo ejecutado hace lo que debía.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"/>
          <p:cNvSpPr/>
          <p:nvPr/>
        </p:nvSpPr>
        <p:spPr>
          <a:xfrm>
            <a:off x="502920" y="3474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UT1 · EL DESARROLLO DE SOFTWARE Y SUS FASES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7223760" y="594360"/>
            <a:ext cx="1417320" cy="365760"/>
          </a:xfrm>
          <a:prstGeom prst="roundRect">
            <a:avLst>
              <a:gd fmla="val 15000" name="adj"/>
            </a:avLst>
          </a:prstGeom>
          <a:solidFill>
            <a:srgbClr val="F7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7223760" y="59436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000"/>
              <a:buFont typeface="Poppins Medium"/>
              <a:buNone/>
            </a:pPr>
            <a:r>
              <a:rPr b="0" i="0" lang="en-US" sz="1000" u="none" cap="none" strike="noStrike">
                <a:solidFill>
                  <a:srgbClr val="152A1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CONCEPTO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502920" y="566928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2500"/>
              <a:buFont typeface="Poppins SemiBold"/>
              <a:buNone/>
            </a:pPr>
            <a:r>
              <a:rPr b="1" i="0" lang="en-US" sz="19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Por qué existen los lenguajes de programación</a:t>
            </a:r>
            <a:endParaRPr b="0" i="0" sz="2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502920" y="1371600"/>
            <a:ext cx="8138160" cy="3246120"/>
          </a:xfrm>
          <a:prstGeom prst="roundRect">
            <a:avLst>
              <a:gd fmla="val 2254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685800" y="1645920"/>
            <a:ext cx="2331720" cy="123444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822960" y="1755648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Lo que entendemos</a:t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822960" y="2057400"/>
            <a:ext cx="2057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Frases: «si el carrito pasa de 50 euros, quita los gastos de envío».</a:t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3401568" y="1645920"/>
            <a:ext cx="2331720" cy="1234440"/>
          </a:xfrm>
          <a:prstGeom prst="roundRect">
            <a:avLst>
              <a:gd fmla="val 12000" name="adj"/>
            </a:avLst>
          </a:prstGeom>
          <a:solidFill>
            <a:srgbClr val="F3E6DA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3538728" y="1755648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El punto medio</a:t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3538728" y="2057400"/>
            <a:ext cx="2057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El lenguaje de programación: palabras que se leen, con reglas que no admiten dudas.</a:t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6117336" y="1645920"/>
            <a:ext cx="2331720" cy="123444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6254496" y="1755648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Lo que entiende la máquina</a:t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6254496" y="2057400"/>
            <a:ext cx="2057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Números. Nada más. Ni palabras, ni frases, ni intenciones.</a:t>
            </a:r>
            <a:endParaRPr/>
          </a:p>
        </p:txBody>
      </p:sp>
      <p:cxnSp>
        <p:nvCxnSpPr>
          <p:cNvPr id="117" name="Google Shape;117;p6"/>
          <p:cNvCxnSpPr/>
          <p:nvPr/>
        </p:nvCxnSpPr>
        <p:spPr>
          <a:xfrm>
            <a:off x="3063240" y="2258568"/>
            <a:ext cx="292608" cy="0"/>
          </a:xfrm>
          <a:prstGeom prst="straightConnector1">
            <a:avLst/>
          </a:prstGeom>
          <a:noFill/>
          <a:ln cap="flat" cmpd="sng" w="25400">
            <a:solidFill>
              <a:srgbClr val="E694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18" name="Google Shape;118;p6"/>
          <p:cNvCxnSpPr/>
          <p:nvPr/>
        </p:nvCxnSpPr>
        <p:spPr>
          <a:xfrm>
            <a:off x="5779008" y="2258568"/>
            <a:ext cx="292608" cy="0"/>
          </a:xfrm>
          <a:prstGeom prst="straightConnector1">
            <a:avLst/>
          </a:prstGeom>
          <a:noFill/>
          <a:ln cap="flat" cmpd="sng" w="25400">
            <a:solidFill>
              <a:srgbClr val="E694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19" name="Google Shape;119;p6"/>
          <p:cNvSpPr/>
          <p:nvPr/>
        </p:nvSpPr>
        <p:spPr>
          <a:xfrm>
            <a:off x="685800" y="3063240"/>
            <a:ext cx="7772400" cy="1371600"/>
          </a:xfrm>
          <a:prstGeom prst="roundRect">
            <a:avLst>
              <a:gd fmla="val 12000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868680" y="3172968"/>
            <a:ext cx="7406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Dos consecuencias que vais a notar desde el primer día</a:t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868680" y="3456432"/>
            <a:ext cx="7406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Las reglas no se negocian: una coma de menos y el programa no llega ni a traducirse. No es que esté mal hecho, es que no hay nada que ejecutar.</a:t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868680" y="3913632"/>
            <a:ext cx="7406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Hay muchos lenguajes porque cada uno está pensado para un tipo de problema. Aquí usaremos Java, y en la próxima clase veremos cómo se clasifican.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/>
          <p:nvPr/>
        </p:nvSpPr>
        <p:spPr>
          <a:xfrm>
            <a:off x="502920" y="3474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UT1 · EL DESARROLLO DE SOFTWARE Y SUS FASES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7223760" y="594360"/>
            <a:ext cx="1417320" cy="365760"/>
          </a:xfrm>
          <a:prstGeom prst="roundRect">
            <a:avLst>
              <a:gd fmla="val 15000" name="adj"/>
            </a:avLst>
          </a:prstGeom>
          <a:solidFill>
            <a:srgbClr val="F7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7223760" y="59436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000"/>
              <a:buFont typeface="Poppins Medium"/>
              <a:buNone/>
            </a:pPr>
            <a:r>
              <a:rPr b="0" i="0" lang="en-US" sz="1000" u="none" cap="none" strike="noStrike">
                <a:solidFill>
                  <a:srgbClr val="152A1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CONCEPTO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502920" y="566928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2500"/>
              <a:buFont typeface="Poppins SemiBold"/>
              <a:buNone/>
            </a:pPr>
            <a:r>
              <a:rPr b="1" i="0" lang="en-US" sz="25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Fuente, objeto y ejecutable</a:t>
            </a:r>
            <a:endParaRPr b="0" i="0" sz="2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502920" y="1371600"/>
            <a:ext cx="8138160" cy="3246120"/>
          </a:xfrm>
          <a:prstGeom prst="roundRect">
            <a:avLst>
              <a:gd fmla="val 2254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731520" y="1737360"/>
            <a:ext cx="2240280" cy="310896"/>
          </a:xfrm>
          <a:prstGeom prst="roundRect">
            <a:avLst>
              <a:gd fmla="val 30000" name="adj"/>
            </a:avLst>
          </a:prstGeom>
          <a:solidFill>
            <a:srgbClr val="2C4436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CÓDIGO FUENTE</a:t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731520" y="2121408"/>
            <a:ext cx="2240280" cy="155448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841248" y="2231136"/>
            <a:ext cx="20208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Producto.java</a:t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841248" y="2560320"/>
            <a:ext cx="202082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Lo escribes tú.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Es texto: se abre con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cualquier editor y se lee.</a:t>
            </a:r>
            <a:endParaRPr/>
          </a:p>
        </p:txBody>
      </p:sp>
      <p:cxnSp>
        <p:nvCxnSpPr>
          <p:cNvPr id="136" name="Google Shape;136;p7"/>
          <p:cNvCxnSpPr/>
          <p:nvPr/>
        </p:nvCxnSpPr>
        <p:spPr>
          <a:xfrm>
            <a:off x="3026664" y="2834640"/>
            <a:ext cx="374904" cy="0"/>
          </a:xfrm>
          <a:prstGeom prst="straightConnector1">
            <a:avLst/>
          </a:prstGeom>
          <a:noFill/>
          <a:ln cap="flat" cmpd="sng" w="25400">
            <a:solidFill>
              <a:srgbClr val="E694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37" name="Google Shape;137;p7"/>
          <p:cNvSpPr/>
          <p:nvPr/>
        </p:nvSpPr>
        <p:spPr>
          <a:xfrm>
            <a:off x="3456432" y="1737360"/>
            <a:ext cx="2240280" cy="310896"/>
          </a:xfrm>
          <a:prstGeom prst="roundRect">
            <a:avLst>
              <a:gd fmla="val 30000" name="adj"/>
            </a:avLst>
          </a:prstGeom>
          <a:solidFill>
            <a:srgbClr val="2C4436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CÓDIGO OBJETO</a:t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3456432" y="2121408"/>
            <a:ext cx="2240280" cy="155448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3566160" y="2231136"/>
            <a:ext cx="20208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Producto.class</a:t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3566160" y="2560320"/>
            <a:ext cx="202082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Lo genera el compilador.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No es texto: si lo abres,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no se entiende nada.</a:t>
            </a:r>
            <a:endParaRPr/>
          </a:p>
        </p:txBody>
      </p:sp>
      <p:cxnSp>
        <p:nvCxnSpPr>
          <p:cNvPr id="141" name="Google Shape;141;p7"/>
          <p:cNvCxnSpPr/>
          <p:nvPr/>
        </p:nvCxnSpPr>
        <p:spPr>
          <a:xfrm>
            <a:off x="5751576" y="2834640"/>
            <a:ext cx="374904" cy="0"/>
          </a:xfrm>
          <a:prstGeom prst="straightConnector1">
            <a:avLst/>
          </a:prstGeom>
          <a:noFill/>
          <a:ln cap="flat" cmpd="sng" w="25400">
            <a:solidFill>
              <a:srgbClr val="E694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42" name="Google Shape;142;p7"/>
          <p:cNvSpPr/>
          <p:nvPr/>
        </p:nvSpPr>
        <p:spPr>
          <a:xfrm>
            <a:off x="6181344" y="1737360"/>
            <a:ext cx="2240280" cy="310896"/>
          </a:xfrm>
          <a:prstGeom prst="roundRect">
            <a:avLst>
              <a:gd fmla="val 30000" name="adj"/>
            </a:avLst>
          </a:prstGeom>
          <a:solidFill>
            <a:srgbClr val="2C4436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EJECUTABLE</a:t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6181344" y="2121408"/>
            <a:ext cx="2240280" cy="155448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291072" y="2231136"/>
            <a:ext cx="20208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tienda.jar</a:t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6291072" y="2560320"/>
            <a:ext cx="202082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Lo que se entrega y se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ejecuta. Empaqueta el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código ya traducido.</a:t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2880360" y="2432304"/>
            <a:ext cx="6675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javac</a:t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5605275" y="2432300"/>
            <a:ext cx="68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empaquetar</a:t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731520" y="3840480"/>
            <a:ext cx="7680960" cy="566928"/>
          </a:xfrm>
          <a:prstGeom prst="roundRect">
            <a:avLst>
              <a:gd fmla="val 12000" name="adj"/>
            </a:avLst>
          </a:prstGeom>
          <a:solidFill>
            <a:srgbClr val="F3E6DA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914400" y="393192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Regla para no perderse: si lo puedes leer, es fuente. Si no lo puedes leer pero la máquina sí, ya está traducido.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/>
          <p:nvPr/>
        </p:nvSpPr>
        <p:spPr>
          <a:xfrm>
            <a:off x="502920" y="3474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UT1 · EL DESARROLLO DE SOFTWARE Y SUS FASES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502920" y="594360"/>
            <a:ext cx="1188720" cy="365760"/>
          </a:xfrm>
          <a:prstGeom prst="roundRect">
            <a:avLst>
              <a:gd fmla="val 15000" name="adj"/>
            </a:avLst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502920" y="59436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000"/>
              <a:buFont typeface="Poppins Medium"/>
              <a:buNone/>
            </a:pPr>
            <a:r>
              <a:rPr b="0" i="0" lang="en-US" sz="1000" u="none" cap="none" strike="noStrike">
                <a:solidFill>
                  <a:srgbClr val="152A1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EJEMPLO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502920" y="109728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2200"/>
              <a:buFont typeface="Poppins SemiBold"/>
              <a:buNone/>
            </a:pPr>
            <a:r>
              <a:rPr b="1" i="0" lang="en-US" sz="17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Qué hay dentro de una carpeta de proyecto</a:t>
            </a:r>
            <a:endParaRPr b="0" i="0" sz="2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502925" y="1699326"/>
            <a:ext cx="8138100" cy="2918400"/>
          </a:xfrm>
          <a:prstGeom prst="roundRect">
            <a:avLst>
              <a:gd fmla="val 2759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7863840" y="1097280"/>
            <a:ext cx="640080" cy="640080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icons/clipboard_navy.png" id="160" name="Google Shape;16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0261" y="126370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8"/>
          <p:cNvSpPr/>
          <p:nvPr/>
        </p:nvSpPr>
        <p:spPr>
          <a:xfrm>
            <a:off x="777240" y="1874519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Una aplicación de agenda personal. Esto es lo que hay en su carpeta:</a:t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777240" y="2176272"/>
            <a:ext cx="1783080" cy="105156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886968" y="2286000"/>
            <a:ext cx="15636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Nota.java</a:t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886968" y="2560320"/>
            <a:ext cx="15636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FUENTE</a:t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886968" y="2816352"/>
            <a:ext cx="1563624" cy="301751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Texto. Lo escribió el programador.</a:t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2743200" y="2176272"/>
            <a:ext cx="1783080" cy="1051560"/>
          </a:xfrm>
          <a:prstGeom prst="roundRect">
            <a:avLst>
              <a:gd fmla="val 12000" name="adj"/>
            </a:avLst>
          </a:prstGeom>
          <a:solidFill>
            <a:srgbClr val="F3E6DA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2852928" y="2286000"/>
            <a:ext cx="15636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Nota.class</a:t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2852928" y="2560320"/>
            <a:ext cx="15636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OBJETO</a:t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2852928" y="2816352"/>
            <a:ext cx="1563624" cy="301751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Lo generó el compilador a partir del .java.</a:t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4709160" y="2176272"/>
            <a:ext cx="1783080" cy="105156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4818888" y="2286000"/>
            <a:ext cx="15636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agenda.jar</a:t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4818888" y="2560320"/>
            <a:ext cx="15636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EJECUTABLE</a:t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4818888" y="2816352"/>
            <a:ext cx="1563624" cy="301751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Lo que se entrega y se ejecuta.</a:t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6675120" y="2176272"/>
            <a:ext cx="1783080" cy="1051560"/>
          </a:xfrm>
          <a:prstGeom prst="roundRect">
            <a:avLst>
              <a:gd fmla="val 12000" name="adj"/>
            </a:avLst>
          </a:prstGeom>
          <a:solidFill>
            <a:srgbClr val="F3E6DA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6784848" y="2286000"/>
            <a:ext cx="15636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notas.txt</a:t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6784848" y="2560320"/>
            <a:ext cx="15636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NI UNA COSA NI OTRA</a:t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6784848" y="2816352"/>
            <a:ext cx="1563624" cy="301751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Datos de la aplicación, no programa.</a:t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777240" y="3337560"/>
            <a:ext cx="7680960" cy="777240"/>
          </a:xfrm>
          <a:prstGeom prst="roundRect">
            <a:avLst>
              <a:gd fmla="val 12000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960120" y="341071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Cómo se razona</a:t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960120" y="3666744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Primero se mira la extensión, después se intenta abrir con un editor de texto y por último se pregunta quién lo ha creado: tú, una herramienta o el propio programa mientras funcionaba.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3EE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"/>
          <p:cNvSpPr/>
          <p:nvPr/>
        </p:nvSpPr>
        <p:spPr>
          <a:xfrm>
            <a:off x="502920" y="3474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UT1 · EL DESARROLLO DE SOFTWARE Y SUS FASES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502920" y="594360"/>
            <a:ext cx="566928" cy="566928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icons/edit_navy.png" id="187" name="Google Shape;18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321" y="74176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9"/>
          <p:cNvSpPr/>
          <p:nvPr/>
        </p:nvSpPr>
        <p:spPr>
          <a:xfrm>
            <a:off x="1234440" y="594360"/>
            <a:ext cx="3657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2100"/>
              <a:buFont typeface="Poppins SemiBold"/>
              <a:buNone/>
            </a:pPr>
            <a:r>
              <a:rPr b="1" i="0" lang="en-US" sz="21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Qué es cada fichero</a:t>
            </a:r>
            <a:endParaRPr b="0" i="0" sz="2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7040880" y="667512"/>
            <a:ext cx="1600200" cy="38404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7104888" y="722376"/>
            <a:ext cx="274320" cy="274320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icons/clock_navy.png" id="191" name="Google Shape;19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76211" y="793699"/>
            <a:ext cx="131674" cy="131674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9"/>
          <p:cNvSpPr/>
          <p:nvPr/>
        </p:nvSpPr>
        <p:spPr>
          <a:xfrm>
            <a:off x="7452360" y="667512"/>
            <a:ext cx="1143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100"/>
              <a:buFont typeface="Poppins Medium"/>
              <a:buNone/>
            </a:pPr>
            <a:r>
              <a:rPr b="0" i="0" lang="en-US" sz="1100" u="none" cap="none" strike="noStrike">
                <a:solidFill>
                  <a:srgbClr val="152A1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10 minutos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502920" y="1417320"/>
            <a:ext cx="8138160" cy="3200400"/>
          </a:xfrm>
          <a:prstGeom prst="roundRect">
            <a:avLst>
              <a:gd fmla="val 2286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38100">
              <a:srgbClr val="0A150F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822960" y="1645920"/>
            <a:ext cx="329184" cy="329184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822960" y="164592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200"/>
              <a:buFont typeface="Poppins SemiBold"/>
              <a:buNone/>
            </a:pPr>
            <a:r>
              <a:rPr b="0" i="0" lang="en-US" sz="12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1307592" y="1600200"/>
            <a:ext cx="6949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69"/>
              </a:buClr>
              <a:buSzPts val="1300"/>
              <a:buFont typeface="Poppins Light"/>
              <a:buNone/>
            </a:pPr>
            <a:r>
              <a:rPr b="0" i="1" lang="en-US" sz="1300" u="none" cap="none" strike="noStrike">
                <a:solidFill>
                  <a:srgbClr val="6B7269"/>
                </a:solidFill>
                <a:latin typeface="Poppins Light"/>
                <a:ea typeface="Poppins Light"/>
                <a:cs typeface="Poppins Light"/>
                <a:sym typeface="Poppins Light"/>
              </a:rPr>
              <a:t>Miras la lista de ficheros de una aplicación de tienda que se te da.</a:t>
            </a:r>
            <a:endParaRPr b="0"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822960" y="2590800"/>
            <a:ext cx="329184" cy="329184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822960" y="259080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200"/>
              <a:buFont typeface="Poppins SemiBold"/>
              <a:buNone/>
            </a:pPr>
            <a:r>
              <a:rPr b="0" i="0" lang="en-US" sz="12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1307592" y="2545080"/>
            <a:ext cx="6949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69"/>
              </a:buClr>
              <a:buSzPts val="1300"/>
              <a:buFont typeface="Poppins Light"/>
              <a:buNone/>
            </a:pPr>
            <a:r>
              <a:rPr b="0" i="1" lang="en-US" sz="1300" u="none" cap="none" strike="noStrike">
                <a:solidFill>
                  <a:srgbClr val="6B7269"/>
                </a:solidFill>
                <a:latin typeface="Poppins Light"/>
                <a:ea typeface="Poppins Light"/>
                <a:cs typeface="Poppins Light"/>
                <a:sym typeface="Poppins Light"/>
              </a:rPr>
              <a:t>Dices de cada uno si es fuente, objeto, ejecutable o ninguna de las tres.</a:t>
            </a:r>
            <a:endParaRPr b="0"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822960" y="3535680"/>
            <a:ext cx="329184" cy="329184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822960" y="353568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200"/>
              <a:buFont typeface="Poppins SemiBold"/>
              <a:buNone/>
            </a:pPr>
            <a:r>
              <a:rPr b="0" i="0" lang="en-US" sz="12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1307592" y="3489960"/>
            <a:ext cx="6949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69"/>
              </a:buClr>
              <a:buSzPts val="1300"/>
              <a:buFont typeface="Poppins Light"/>
              <a:buNone/>
            </a:pPr>
            <a:r>
              <a:rPr b="0" i="1" lang="en-US" sz="1300" u="none" cap="none" strike="noStrike">
                <a:solidFill>
                  <a:srgbClr val="6B7269"/>
                </a:solidFill>
                <a:latin typeface="Poppins Light"/>
                <a:ea typeface="Poppins Light"/>
                <a:cs typeface="Poppins Light"/>
                <a:sym typeface="Poppins Light"/>
              </a:rPr>
              <a:t>Explicas en una línea quién lo ha creado y si se puede leer.</a:t>
            </a:r>
            <a:endParaRPr b="0"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4983480" y="667512"/>
            <a:ext cx="1965960" cy="384048"/>
          </a:xfrm>
          <a:prstGeom prst="roundRect">
            <a:avLst>
              <a:gd fmla="val 50000" name="adj"/>
            </a:avLst>
          </a:prstGeom>
          <a:solidFill>
            <a:srgbClr val="2C4436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 CUENTA PARA NOTA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A1D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"/>
          <p:cNvSpPr/>
          <p:nvPr/>
        </p:nvSpPr>
        <p:spPr>
          <a:xfrm>
            <a:off x="-1005840" y="2468880"/>
            <a:ext cx="3291840" cy="3291840"/>
          </a:xfrm>
          <a:prstGeom prst="ellipse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376733" y="2863901"/>
            <a:ext cx="2468880" cy="2468880"/>
          </a:xfrm>
          <a:prstGeom prst="ellipse">
            <a:avLst/>
          </a:prstGeom>
          <a:solidFill>
            <a:srgbClr val="E6945A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4663440" y="502920"/>
            <a:ext cx="397764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4436"/>
              </a:buClr>
              <a:buSzPts val="22000"/>
              <a:buFont typeface="Poppins SemiBold"/>
              <a:buNone/>
            </a:pPr>
            <a:r>
              <a:rPr b="1" i="0" lang="en-US" sz="22000" u="none" cap="none" strike="noStrike">
                <a:solidFill>
                  <a:srgbClr val="2C443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02</a:t>
            </a:r>
            <a:endParaRPr b="0" i="0" sz="2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502920" y="19659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945A"/>
              </a:buClr>
              <a:buSzPts val="1300"/>
              <a:buFont typeface="Poppins Medium"/>
              <a:buNone/>
            </a:pPr>
            <a:r>
              <a:rPr b="0" i="0" lang="en-US" sz="1300" u="none" cap="none" strike="noStrike">
                <a:solidFill>
                  <a:srgbClr val="E6945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UNIDAD 1</a:t>
            </a:r>
            <a:endParaRPr b="0"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502920" y="2286000"/>
            <a:ext cx="51206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oppins SemiBold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Cómo se traduce</a:t>
            </a:r>
            <a:endParaRPr b="0" i="0" sz="3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oppins SemiBold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 verdad un programa</a:t>
            </a:r>
            <a:endParaRPr b="0" i="0" sz="3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"/>
          <p:cNvSpPr/>
          <p:nvPr/>
        </p:nvSpPr>
        <p:spPr>
          <a:xfrm>
            <a:off x="502920" y="3474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UT1 · EL DESARROLLO DE SOFTWARE Y SUS FASES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7223760" y="594360"/>
            <a:ext cx="1417320" cy="365760"/>
          </a:xfrm>
          <a:prstGeom prst="roundRect">
            <a:avLst>
              <a:gd fmla="val 15000" name="adj"/>
            </a:avLst>
          </a:prstGeom>
          <a:solidFill>
            <a:srgbClr val="F7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7223760" y="59436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000"/>
              <a:buFont typeface="Poppins Medium"/>
              <a:buNone/>
            </a:pPr>
            <a:r>
              <a:rPr b="0" i="0" lang="en-US" sz="1000" u="none" cap="none" strike="noStrike">
                <a:solidFill>
                  <a:srgbClr val="152A1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CONCEPTO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502920" y="566928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2500"/>
              <a:buFont typeface="Poppins SemiBold"/>
              <a:buNone/>
            </a:pPr>
            <a:r>
              <a:rPr b="1" i="0" lang="en-US" sz="19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Qué hace el compilador, paso a paso</a:t>
            </a:r>
            <a:endParaRPr b="0" i="0" sz="2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502920" y="1371600"/>
            <a:ext cx="8138160" cy="3246120"/>
          </a:xfrm>
          <a:prstGeom prst="roundRect">
            <a:avLst>
              <a:gd fmla="val 2254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822960" y="1764792"/>
            <a:ext cx="310896" cy="310896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sp>
        <p:nvSpPr>
          <p:cNvPr id="223" name="Google Shape;223;p11"/>
          <p:cNvSpPr/>
          <p:nvPr/>
        </p:nvSpPr>
        <p:spPr>
          <a:xfrm>
            <a:off x="1298448" y="1691640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Lee el texto que has escrito</a:t>
            </a:r>
            <a:endParaRPr/>
          </a:p>
        </p:txBody>
      </p:sp>
      <p:sp>
        <p:nvSpPr>
          <p:cNvPr id="224" name="Google Shape;224;p11"/>
          <p:cNvSpPr/>
          <p:nvPr/>
        </p:nvSpPr>
        <p:spPr>
          <a:xfrm>
            <a:off x="1298448" y="1947672"/>
            <a:ext cx="6949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Palabra por palabra, como quien lee una frase buscando el sujeto y el verbo.</a:t>
            </a:r>
            <a:endParaRPr/>
          </a:p>
        </p:txBody>
      </p:sp>
      <p:sp>
        <p:nvSpPr>
          <p:cNvPr id="225" name="Google Shape;225;p11"/>
          <p:cNvSpPr/>
          <p:nvPr/>
        </p:nvSpPr>
        <p:spPr>
          <a:xfrm>
            <a:off x="822960" y="2423160"/>
            <a:ext cx="310896" cy="310896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sp>
        <p:nvSpPr>
          <p:cNvPr id="226" name="Google Shape;226;p11"/>
          <p:cNvSpPr/>
          <p:nvPr/>
        </p:nvSpPr>
        <p:spPr>
          <a:xfrm>
            <a:off x="1298448" y="2350008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Comprueba que cumple las reglas</a:t>
            </a:r>
            <a:endParaRPr/>
          </a:p>
        </p:txBody>
      </p:sp>
      <p:sp>
        <p:nvSpPr>
          <p:cNvPr id="227" name="Google Shape;227;p11"/>
          <p:cNvSpPr/>
          <p:nvPr/>
        </p:nvSpPr>
        <p:spPr>
          <a:xfrm>
            <a:off x="1298448" y="2606040"/>
            <a:ext cx="6949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Si falta un punto y coma o el nombre está mal escrito, para aquí y avisa. No traduce nada.</a:t>
            </a:r>
            <a:endParaRPr/>
          </a:p>
        </p:txBody>
      </p:sp>
      <p:sp>
        <p:nvSpPr>
          <p:cNvPr id="228" name="Google Shape;228;p11"/>
          <p:cNvSpPr/>
          <p:nvPr/>
        </p:nvSpPr>
        <p:spPr>
          <a:xfrm>
            <a:off x="822960" y="3081528"/>
            <a:ext cx="310896" cy="310896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1298448" y="30083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Traduce</a:t>
            </a:r>
            <a:endParaRPr/>
          </a:p>
        </p:txBody>
      </p:sp>
      <p:sp>
        <p:nvSpPr>
          <p:cNvPr id="230" name="Google Shape;230;p11"/>
          <p:cNvSpPr/>
          <p:nvPr/>
        </p:nvSpPr>
        <p:spPr>
          <a:xfrm>
            <a:off x="1298448" y="3264408"/>
            <a:ext cx="6949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Solo si todo está bien. Genera un fichero nuevo con el programa en otro formato.</a:t>
            </a:r>
            <a:endParaRPr/>
          </a:p>
        </p:txBody>
      </p:sp>
      <p:sp>
        <p:nvSpPr>
          <p:cNvPr id="231" name="Google Shape;231;p11"/>
          <p:cNvSpPr/>
          <p:nvPr/>
        </p:nvSpPr>
        <p:spPr>
          <a:xfrm>
            <a:off x="822960" y="3739896"/>
            <a:ext cx="310896" cy="310896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1298448" y="3666744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Y ya está: no lo ejecuta</a:t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1298448" y="3922776"/>
            <a:ext cx="6949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Compilar y ejecutar son dos cosas distintas y se piden por separado.</a:t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777240" y="4315968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El error más repetido del primer trimestre: cambiar el código, no volver a compilar y no entender por qué sigue igual.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"/>
          <p:cNvSpPr/>
          <p:nvPr/>
        </p:nvSpPr>
        <p:spPr>
          <a:xfrm>
            <a:off x="502920" y="3474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UT1 · EL DESARROLLO DE SOFTWARE Y SUS FASES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7223760" y="594360"/>
            <a:ext cx="1417320" cy="365760"/>
          </a:xfrm>
          <a:prstGeom prst="roundRect">
            <a:avLst>
              <a:gd fmla="val 15000" name="adj"/>
            </a:avLst>
          </a:prstGeom>
          <a:solidFill>
            <a:srgbClr val="F7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7223760" y="59436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000"/>
              <a:buFont typeface="Poppins Medium"/>
              <a:buNone/>
            </a:pPr>
            <a:r>
              <a:rPr b="0" i="0" lang="en-US" sz="1000" u="none" cap="none" strike="noStrike">
                <a:solidFill>
                  <a:srgbClr val="152A1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CONCEPTO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502920" y="566928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2500"/>
              <a:buFont typeface="Poppins SemiBold"/>
              <a:buNone/>
            </a:pPr>
            <a:r>
              <a:rPr b="1" i="0" lang="en-US" sz="19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caso de Java: el código intermedio</a:t>
            </a:r>
            <a:endParaRPr b="0" i="0" sz="2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502920" y="1371600"/>
            <a:ext cx="8138160" cy="3246120"/>
          </a:xfrm>
          <a:prstGeom prst="roundRect">
            <a:avLst>
              <a:gd fmla="val 2254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731520" y="1664208"/>
            <a:ext cx="2377440" cy="310896"/>
          </a:xfrm>
          <a:prstGeom prst="roundRect">
            <a:avLst>
              <a:gd fmla="val 30000" name="adj"/>
            </a:avLst>
          </a:prstGeom>
          <a:solidFill>
            <a:srgbClr val="2C4436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Código fuente</a:t>
            </a:r>
            <a:endParaRPr/>
          </a:p>
        </p:txBody>
      </p:sp>
      <p:sp>
        <p:nvSpPr>
          <p:cNvPr id="245" name="Google Shape;245;p12"/>
          <p:cNvSpPr/>
          <p:nvPr/>
        </p:nvSpPr>
        <p:spPr>
          <a:xfrm>
            <a:off x="731520" y="2048256"/>
            <a:ext cx="2377440" cy="141732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841248" y="2157984"/>
            <a:ext cx="21579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Producto.java</a:t>
            </a:r>
            <a:endParaRPr/>
          </a:p>
        </p:txBody>
      </p:sp>
      <p:sp>
        <p:nvSpPr>
          <p:cNvPr id="247" name="Google Shape;247;p12"/>
          <p:cNvSpPr/>
          <p:nvPr/>
        </p:nvSpPr>
        <p:spPr>
          <a:xfrm>
            <a:off x="841248" y="2468880"/>
            <a:ext cx="215798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Lo escribes tú.</a:t>
            </a:r>
            <a:endParaRPr/>
          </a:p>
        </p:txBody>
      </p:sp>
      <p:cxnSp>
        <p:nvCxnSpPr>
          <p:cNvPr id="248" name="Google Shape;248;p12"/>
          <p:cNvCxnSpPr/>
          <p:nvPr/>
        </p:nvCxnSpPr>
        <p:spPr>
          <a:xfrm>
            <a:off x="3145536" y="2743200"/>
            <a:ext cx="292608" cy="0"/>
          </a:xfrm>
          <a:prstGeom prst="straightConnector1">
            <a:avLst/>
          </a:prstGeom>
          <a:noFill/>
          <a:ln cap="flat" cmpd="sng" w="25400">
            <a:solidFill>
              <a:srgbClr val="E694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49" name="Google Shape;249;p12"/>
          <p:cNvSpPr/>
          <p:nvPr/>
        </p:nvSpPr>
        <p:spPr>
          <a:xfrm>
            <a:off x="3474720" y="1664208"/>
            <a:ext cx="2377440" cy="310896"/>
          </a:xfrm>
          <a:prstGeom prst="roundRect">
            <a:avLst>
              <a:gd fmla="val 30000" name="adj"/>
            </a:avLst>
          </a:prstGeom>
          <a:solidFill>
            <a:srgbClr val="2C4436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Bytecode</a:t>
            </a:r>
            <a:endParaRPr/>
          </a:p>
        </p:txBody>
      </p:sp>
      <p:sp>
        <p:nvSpPr>
          <p:cNvPr id="250" name="Google Shape;250;p12"/>
          <p:cNvSpPr/>
          <p:nvPr/>
        </p:nvSpPr>
        <p:spPr>
          <a:xfrm>
            <a:off x="3474720" y="2048256"/>
            <a:ext cx="2377440" cy="141732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3584448" y="2157984"/>
            <a:ext cx="21579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Producto.class</a:t>
            </a:r>
            <a:endParaRPr/>
          </a:p>
        </p:txBody>
      </p:sp>
      <p:sp>
        <p:nvSpPr>
          <p:cNvPr id="252" name="Google Shape;252;p12"/>
          <p:cNvSpPr/>
          <p:nvPr/>
        </p:nvSpPr>
        <p:spPr>
          <a:xfrm>
            <a:off x="3584448" y="2468880"/>
            <a:ext cx="215798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Ni texto para ti ni instrucciones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para tu procesador: algo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intermedio, pensado para la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máquina virtual.</a:t>
            </a:r>
            <a:endParaRPr/>
          </a:p>
        </p:txBody>
      </p:sp>
      <p:cxnSp>
        <p:nvCxnSpPr>
          <p:cNvPr id="253" name="Google Shape;253;p12"/>
          <p:cNvCxnSpPr/>
          <p:nvPr/>
        </p:nvCxnSpPr>
        <p:spPr>
          <a:xfrm>
            <a:off x="5888736" y="2743200"/>
            <a:ext cx="292608" cy="0"/>
          </a:xfrm>
          <a:prstGeom prst="straightConnector1">
            <a:avLst/>
          </a:prstGeom>
          <a:noFill/>
          <a:ln cap="flat" cmpd="sng" w="25400">
            <a:solidFill>
              <a:srgbClr val="E6945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4" name="Google Shape;254;p12"/>
          <p:cNvSpPr/>
          <p:nvPr/>
        </p:nvSpPr>
        <p:spPr>
          <a:xfrm>
            <a:off x="6217920" y="1664208"/>
            <a:ext cx="2377440" cy="310896"/>
          </a:xfrm>
          <a:prstGeom prst="roundRect">
            <a:avLst>
              <a:gd fmla="val 30000" name="adj"/>
            </a:avLst>
          </a:prstGeom>
          <a:solidFill>
            <a:srgbClr val="2C4436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JVM</a:t>
            </a:r>
            <a:endParaRPr/>
          </a:p>
        </p:txBody>
      </p:sp>
      <p:sp>
        <p:nvSpPr>
          <p:cNvPr id="255" name="Google Shape;255;p12"/>
          <p:cNvSpPr/>
          <p:nvPr/>
        </p:nvSpPr>
        <p:spPr>
          <a:xfrm>
            <a:off x="6217920" y="2048256"/>
            <a:ext cx="2377440" cy="141732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6327648" y="2157984"/>
            <a:ext cx="21579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6945A"/>
                </a:solidFill>
                <a:latin typeface="Poppins"/>
                <a:ea typeface="Poppins"/>
                <a:cs typeface="Poppins"/>
                <a:sym typeface="Poppins"/>
              </a:rPr>
              <a:t>La máquina virtual</a:t>
            </a:r>
            <a:endParaRPr/>
          </a:p>
        </p:txBody>
      </p:sp>
      <p:sp>
        <p:nvSpPr>
          <p:cNvPr id="257" name="Google Shape;257;p12"/>
          <p:cNvSpPr/>
          <p:nvPr/>
        </p:nvSpPr>
        <p:spPr>
          <a:xfrm>
            <a:off x="6327648" y="2468880"/>
            <a:ext cx="215798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Un programa que lee el bytecode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y va dando al procesador las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órdenes que entiende.</a:t>
            </a:r>
            <a:endParaRPr/>
          </a:p>
        </p:txBody>
      </p:sp>
      <p:sp>
        <p:nvSpPr>
          <p:cNvPr id="258" name="Google Shape;258;p12"/>
          <p:cNvSpPr/>
          <p:nvPr/>
        </p:nvSpPr>
        <p:spPr>
          <a:xfrm>
            <a:off x="731520" y="3611880"/>
            <a:ext cx="7680960" cy="777240"/>
          </a:xfrm>
          <a:prstGeom prst="roundRect">
            <a:avLst>
              <a:gd fmla="val 12000" name="adj"/>
            </a:avLst>
          </a:prstGeom>
          <a:solidFill>
            <a:srgbClr val="F3E6DA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914400" y="370332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Por eso hacen falta dos órdenes distintas</a:t>
            </a:r>
            <a:endParaRPr/>
          </a:p>
        </p:txBody>
      </p:sp>
      <p:sp>
        <p:nvSpPr>
          <p:cNvPr id="260" name="Google Shape;260;p12"/>
          <p:cNvSpPr/>
          <p:nvPr/>
        </p:nvSpPr>
        <p:spPr>
          <a:xfrm>
            <a:off x="914400" y="3959352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Una para traducir el fuente a bytecode y otra para poner en marcha la máquina virtual con ese bytecode.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3"/>
          <p:cNvSpPr/>
          <p:nvPr/>
        </p:nvSpPr>
        <p:spPr>
          <a:xfrm>
            <a:off x="502920" y="3474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UT1 · EL DESARROLLO DE SOFTWARE Y SUS FASES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7223760" y="594360"/>
            <a:ext cx="1417320" cy="365760"/>
          </a:xfrm>
          <a:prstGeom prst="roundRect">
            <a:avLst>
              <a:gd fmla="val 15000" name="adj"/>
            </a:avLst>
          </a:prstGeom>
          <a:solidFill>
            <a:srgbClr val="F7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7223760" y="59436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000"/>
              <a:buFont typeface="Poppins Medium"/>
              <a:buNone/>
            </a:pPr>
            <a:r>
              <a:rPr b="0" i="0" lang="en-US" sz="1000" u="none" cap="none" strike="noStrike">
                <a:solidFill>
                  <a:srgbClr val="152A1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CONCEPTO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502920" y="566928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2500"/>
              <a:buFont typeface="Poppins SemiBold"/>
              <a:buNone/>
            </a:pPr>
            <a:r>
              <a:rPr b="1" i="0" lang="en-US" sz="19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Escribe una vez, ejecuta en cualquier parte</a:t>
            </a:r>
            <a:endParaRPr b="0" i="0" sz="2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416950" y="1153125"/>
            <a:ext cx="8185800" cy="3464700"/>
          </a:xfrm>
          <a:prstGeom prst="roundRect">
            <a:avLst>
              <a:gd fmla="val 2254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685800" y="2695650"/>
            <a:ext cx="3794700" cy="12783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868680" y="2758267"/>
            <a:ext cx="34290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SIN MÁQUINA VIRTUAL</a:t>
            </a:r>
            <a:endParaRPr/>
          </a:p>
        </p:txBody>
      </p:sp>
      <p:sp>
        <p:nvSpPr>
          <p:cNvPr id="272" name="Google Shape;272;p13"/>
          <p:cNvSpPr/>
          <p:nvPr/>
        </p:nvSpPr>
        <p:spPr>
          <a:xfrm>
            <a:off x="868680" y="2935683"/>
            <a:ext cx="3429000" cy="9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El programa se traduce directamente a las instrucciones de un procesador y un sistema operativo concretos.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50" u="none" cap="none" strike="noStrike">
              <a:solidFill>
                <a:srgbClr val="6B72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Para llevarlo a otro sitio hay que volver a traducirlo allí, y a veces retocar el código.</a:t>
            </a:r>
            <a:endParaRPr/>
          </a:p>
        </p:txBody>
      </p:sp>
      <p:sp>
        <p:nvSpPr>
          <p:cNvPr id="273" name="Google Shape;273;p13"/>
          <p:cNvSpPr/>
          <p:nvPr/>
        </p:nvSpPr>
        <p:spPr>
          <a:xfrm>
            <a:off x="4663440" y="2695650"/>
            <a:ext cx="3794700" cy="1278300"/>
          </a:xfrm>
          <a:prstGeom prst="roundRect">
            <a:avLst>
              <a:gd fmla="val 12000" name="adj"/>
            </a:avLst>
          </a:prstGeom>
          <a:solidFill>
            <a:srgbClr val="F3E6DA"/>
          </a:solidFill>
          <a:ln cap="flat" cmpd="sng" w="127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4846320" y="2758267"/>
            <a:ext cx="34290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CON MÁQUINA VIRTUAL</a:t>
            </a:r>
            <a:endParaRPr/>
          </a:p>
        </p:txBody>
      </p:sp>
      <p:sp>
        <p:nvSpPr>
          <p:cNvPr id="275" name="Google Shape;275;p13"/>
          <p:cNvSpPr/>
          <p:nvPr/>
        </p:nvSpPr>
        <p:spPr>
          <a:xfrm>
            <a:off x="4846320" y="2935683"/>
            <a:ext cx="3429000" cy="9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El programa se traduce una sola vez a bytecode.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50" u="none" cap="none" strike="noStrike">
              <a:solidFill>
                <a:srgbClr val="6B72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El mismo fichero funciona en Windows, en Linux o en macOS, porque en cada uno hay una máquina virtual que lo entiende.</a:t>
            </a:r>
            <a:endParaRPr/>
          </a:p>
        </p:txBody>
      </p:sp>
      <p:sp>
        <p:nvSpPr>
          <p:cNvPr id="276" name="Google Shape;276;p13"/>
          <p:cNvSpPr/>
          <p:nvPr/>
        </p:nvSpPr>
        <p:spPr>
          <a:xfrm>
            <a:off x="685800" y="4064804"/>
            <a:ext cx="7772400" cy="415500"/>
          </a:xfrm>
          <a:prstGeom prst="roundRect">
            <a:avLst>
              <a:gd fmla="val 25000" name="adj"/>
            </a:avLst>
          </a:prstGeom>
          <a:solidFill>
            <a:srgbClr val="E6945A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868680" y="4117719"/>
            <a:ext cx="74067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la misma idea que persiguen las aplicaciones web: escribirlo una vez y que funcione en cualquier sistema.</a:t>
            </a:r>
            <a:endParaRPr/>
          </a:p>
        </p:txBody>
      </p:sp>
      <p:sp>
        <p:nvSpPr>
          <p:cNvPr id="278" name="Google Shape;278;p13"/>
          <p:cNvSpPr/>
          <p:nvPr/>
        </p:nvSpPr>
        <p:spPr>
          <a:xfrm>
            <a:off x="2445800" y="1232229"/>
            <a:ext cx="3794700" cy="132930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2628675" y="1280163"/>
            <a:ext cx="34290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MÁQUINA VIRTUAL:</a:t>
            </a:r>
            <a:endParaRPr/>
          </a:p>
        </p:txBody>
      </p:sp>
      <p:sp>
        <p:nvSpPr>
          <p:cNvPr id="280" name="Google Shape;280;p13"/>
          <p:cNvSpPr/>
          <p:nvPr/>
        </p:nvSpPr>
        <p:spPr>
          <a:xfrm>
            <a:off x="2628650" y="1552150"/>
            <a:ext cx="3429000" cy="9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Una máquina virtual es un programa que actúa como intermediario entre nuestro programa y el ordenador real.</a:t>
            </a:r>
            <a:endParaRPr sz="900">
              <a:solidFill>
                <a:srgbClr val="6B72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En lugar de ejecutar directamente instrucciones específicas de Windows, Linux o macOS, el programa genera un código intermedio (bytecode) que la máquina virtual entiende y ejecuta en cada sistema. </a:t>
            </a:r>
            <a:endParaRPr sz="900">
              <a:solidFill>
                <a:srgbClr val="6B72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b55466054_0_4"/>
          <p:cNvSpPr/>
          <p:nvPr/>
        </p:nvSpPr>
        <p:spPr>
          <a:xfrm>
            <a:off x="502920" y="347472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UT1 · EL DESARROLLO DE SOFTWARE Y SUS FASES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6" name="Google Shape;286;g3fb55466054_0_4"/>
          <p:cNvSpPr/>
          <p:nvPr/>
        </p:nvSpPr>
        <p:spPr>
          <a:xfrm>
            <a:off x="502920" y="594360"/>
            <a:ext cx="1188600" cy="365700"/>
          </a:xfrm>
          <a:prstGeom prst="roundRect">
            <a:avLst>
              <a:gd fmla="val 15000" name="adj"/>
            </a:avLst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3fb55466054_0_4"/>
          <p:cNvSpPr/>
          <p:nvPr/>
        </p:nvSpPr>
        <p:spPr>
          <a:xfrm>
            <a:off x="502920" y="594360"/>
            <a:ext cx="1188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000"/>
              <a:buFont typeface="Poppins Medium"/>
              <a:buNone/>
            </a:pPr>
            <a:r>
              <a:rPr b="0" i="0" lang="en-US" sz="1000" u="none" cap="none" strike="noStrike">
                <a:solidFill>
                  <a:srgbClr val="152A1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EJEMPLO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8" name="Google Shape;288;g3fb55466054_0_4"/>
          <p:cNvSpPr/>
          <p:nvPr/>
        </p:nvSpPr>
        <p:spPr>
          <a:xfrm>
            <a:off x="502920" y="1097280"/>
            <a:ext cx="7772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2200"/>
              <a:buFont typeface="Poppins SemiBold"/>
              <a:buNone/>
            </a:pPr>
            <a:r>
              <a:rPr b="1" i="0" lang="en-US" sz="17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Compilar y ejecutar, sin ningún programa especial</a:t>
            </a:r>
            <a:endParaRPr b="0" i="0" sz="2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9" name="Google Shape;289;g3fb55466054_0_4"/>
          <p:cNvSpPr/>
          <p:nvPr/>
        </p:nvSpPr>
        <p:spPr>
          <a:xfrm>
            <a:off x="502925" y="1737350"/>
            <a:ext cx="8138100" cy="2880300"/>
          </a:xfrm>
          <a:prstGeom prst="roundRect">
            <a:avLst>
              <a:gd fmla="val 2759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fb55466054_0_4"/>
          <p:cNvSpPr/>
          <p:nvPr/>
        </p:nvSpPr>
        <p:spPr>
          <a:xfrm>
            <a:off x="7863840" y="1097280"/>
            <a:ext cx="640200" cy="640200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icons/clipboard_navy.png" id="291" name="Google Shape;291;g3fb55466054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0261" y="1263701"/>
            <a:ext cx="307238" cy="3072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nsola_javac.png" id="292" name="Google Shape;292;g3fb55466054_0_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808" y="1810512"/>
            <a:ext cx="5532120" cy="2203472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g3fb55466054_0_4"/>
          <p:cNvSpPr/>
          <p:nvPr/>
        </p:nvSpPr>
        <p:spPr>
          <a:xfrm>
            <a:off x="6492240" y="1965960"/>
            <a:ext cx="274200" cy="274200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sp>
        <p:nvSpPr>
          <p:cNvPr id="294" name="Google Shape;294;g3fb55466054_0_4"/>
          <p:cNvSpPr/>
          <p:nvPr/>
        </p:nvSpPr>
        <p:spPr>
          <a:xfrm>
            <a:off x="6858000" y="1929384"/>
            <a:ext cx="164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Traducir</a:t>
            </a:r>
            <a:endParaRPr/>
          </a:p>
        </p:txBody>
      </p:sp>
      <p:sp>
        <p:nvSpPr>
          <p:cNvPr id="295" name="Google Shape;295;g3fb55466054_0_4"/>
          <p:cNvSpPr/>
          <p:nvPr/>
        </p:nvSpPr>
        <p:spPr>
          <a:xfrm>
            <a:off x="6858000" y="2185415"/>
            <a:ext cx="1645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javac toma el fuente y genera el bytecode.</a:t>
            </a:r>
            <a:endParaRPr/>
          </a:p>
        </p:txBody>
      </p:sp>
      <p:sp>
        <p:nvSpPr>
          <p:cNvPr id="296" name="Google Shape;296;g3fb55466054_0_4"/>
          <p:cNvSpPr/>
          <p:nvPr/>
        </p:nvSpPr>
        <p:spPr>
          <a:xfrm>
            <a:off x="6492240" y="2743200"/>
            <a:ext cx="274200" cy="274200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sp>
        <p:nvSpPr>
          <p:cNvPr id="297" name="Google Shape;297;g3fb55466054_0_4"/>
          <p:cNvSpPr/>
          <p:nvPr/>
        </p:nvSpPr>
        <p:spPr>
          <a:xfrm>
            <a:off x="6858000" y="2706624"/>
            <a:ext cx="164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Comprobar</a:t>
            </a:r>
            <a:endParaRPr/>
          </a:p>
        </p:txBody>
      </p:sp>
      <p:sp>
        <p:nvSpPr>
          <p:cNvPr id="298" name="Google Shape;298;g3fb55466054_0_4"/>
          <p:cNvSpPr/>
          <p:nvPr/>
        </p:nvSpPr>
        <p:spPr>
          <a:xfrm>
            <a:off x="6858000" y="2962656"/>
            <a:ext cx="1645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Ahora hay un fichero más en la carpeta, y ese no se puede leer.</a:t>
            </a:r>
            <a:endParaRPr/>
          </a:p>
        </p:txBody>
      </p:sp>
      <p:sp>
        <p:nvSpPr>
          <p:cNvPr id="299" name="Google Shape;299;g3fb55466054_0_4"/>
          <p:cNvSpPr/>
          <p:nvPr/>
        </p:nvSpPr>
        <p:spPr>
          <a:xfrm>
            <a:off x="6492240" y="3520439"/>
            <a:ext cx="274200" cy="274200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  <p:sp>
        <p:nvSpPr>
          <p:cNvPr id="300" name="Google Shape;300;g3fb55466054_0_4"/>
          <p:cNvSpPr/>
          <p:nvPr/>
        </p:nvSpPr>
        <p:spPr>
          <a:xfrm>
            <a:off x="6858000" y="3483863"/>
            <a:ext cx="164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Ejecutar</a:t>
            </a:r>
            <a:endParaRPr/>
          </a:p>
        </p:txBody>
      </p:sp>
      <p:sp>
        <p:nvSpPr>
          <p:cNvPr id="301" name="Google Shape;301;g3fb55466054_0_4"/>
          <p:cNvSpPr/>
          <p:nvPr/>
        </p:nvSpPr>
        <p:spPr>
          <a:xfrm>
            <a:off x="6858000" y="3739896"/>
            <a:ext cx="1645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java pone en marcha la máquina virtual con ese bytecode.</a:t>
            </a:r>
            <a:endParaRPr/>
          </a:p>
        </p:txBody>
      </p:sp>
      <p:sp>
        <p:nvSpPr>
          <p:cNvPr id="302" name="Google Shape;302;g3fb55466054_0_4"/>
          <p:cNvSpPr/>
          <p:nvPr/>
        </p:nvSpPr>
        <p:spPr>
          <a:xfrm>
            <a:off x="4251713" y="247438"/>
            <a:ext cx="3252000" cy="594300"/>
          </a:xfrm>
          <a:prstGeom prst="rect">
            <a:avLst/>
          </a:prstGeom>
          <a:solidFill>
            <a:srgbClr val="F3E6DA"/>
          </a:solidFill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La consola es una forma de comunicarnos con el ordenador escribiendo instrucciones de texto, en lugar de usar botones, menús o ventanas =&gt; CMD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5"/>
          <p:cNvSpPr/>
          <p:nvPr/>
        </p:nvSpPr>
        <p:spPr>
          <a:xfrm>
            <a:off x="502920" y="3474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449"/>
              </a:buClr>
              <a:buSzPts val="1050"/>
              <a:buFont typeface="Poppins Medium"/>
              <a:buNone/>
            </a:pPr>
            <a:r>
              <a:rPr b="0" i="0" lang="en-US" sz="1050" u="none" cap="none" strike="noStrike">
                <a:solidFill>
                  <a:srgbClr val="4A544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UT1 · EL DESARROLLO DE SOFTWARE Y SUS FASES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8" name="Google Shape;308;p15"/>
          <p:cNvSpPr/>
          <p:nvPr/>
        </p:nvSpPr>
        <p:spPr>
          <a:xfrm>
            <a:off x="7223760" y="594360"/>
            <a:ext cx="1417320" cy="365760"/>
          </a:xfrm>
          <a:prstGeom prst="roundRect">
            <a:avLst>
              <a:gd fmla="val 15000" name="adj"/>
            </a:avLst>
          </a:prstGeom>
          <a:solidFill>
            <a:srgbClr val="F7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5"/>
          <p:cNvSpPr/>
          <p:nvPr/>
        </p:nvSpPr>
        <p:spPr>
          <a:xfrm>
            <a:off x="7223760" y="59436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1000"/>
              <a:buFont typeface="Poppins Medium"/>
              <a:buNone/>
            </a:pPr>
            <a:r>
              <a:rPr b="0" i="0" lang="en-US" sz="1000" u="none" cap="none" strike="noStrike">
                <a:solidFill>
                  <a:srgbClr val="152A1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CONCEPTO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0" name="Google Shape;310;p15"/>
          <p:cNvSpPr/>
          <p:nvPr/>
        </p:nvSpPr>
        <p:spPr>
          <a:xfrm>
            <a:off x="502920" y="566928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A1D"/>
              </a:buClr>
              <a:buSzPts val="2500"/>
              <a:buFont typeface="Poppins SemiBold"/>
              <a:buNone/>
            </a:pPr>
            <a:r>
              <a:rPr b="1" i="0" lang="en-US" sz="1900" u="none" cap="none" strike="noStrike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Los errores aparecen en tres momentos</a:t>
            </a:r>
            <a:endParaRPr b="0" i="0" sz="2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1" name="Google Shape;311;p15"/>
          <p:cNvSpPr/>
          <p:nvPr/>
        </p:nvSpPr>
        <p:spPr>
          <a:xfrm>
            <a:off x="502920" y="1371600"/>
            <a:ext cx="8138160" cy="3246120"/>
          </a:xfrm>
          <a:prstGeom prst="roundRect">
            <a:avLst>
              <a:gd fmla="val 2254" name="adj"/>
            </a:avLst>
          </a:prstGeom>
          <a:solidFill>
            <a:srgbClr val="FBF8F5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5"/>
          <p:cNvSpPr/>
          <p:nvPr/>
        </p:nvSpPr>
        <p:spPr>
          <a:xfrm>
            <a:off x="685800" y="1691640"/>
            <a:ext cx="2456688" cy="210312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5"/>
          <p:cNvSpPr/>
          <p:nvPr/>
        </p:nvSpPr>
        <p:spPr>
          <a:xfrm>
            <a:off x="850392" y="1856232"/>
            <a:ext cx="21275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Al escribir</a:t>
            </a:r>
            <a:endParaRPr/>
          </a:p>
        </p:txBody>
      </p:sp>
      <p:sp>
        <p:nvSpPr>
          <p:cNvPr id="314" name="Google Shape;314;p15"/>
          <p:cNvSpPr/>
          <p:nvPr/>
        </p:nvSpPr>
        <p:spPr>
          <a:xfrm>
            <a:off x="850392" y="2468880"/>
            <a:ext cx="2127504" cy="114299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El editor te subraya lo que no cuadra antes incluso de traducir. Es el error más barato: lo ves al momento.</a:t>
            </a:r>
            <a:endParaRPr/>
          </a:p>
        </p:txBody>
      </p:sp>
      <p:sp>
        <p:nvSpPr>
          <p:cNvPr id="315" name="Google Shape;315;p15"/>
          <p:cNvSpPr/>
          <p:nvPr/>
        </p:nvSpPr>
        <p:spPr>
          <a:xfrm>
            <a:off x="3343656" y="1691640"/>
            <a:ext cx="2456688" cy="210312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5"/>
          <p:cNvSpPr/>
          <p:nvPr/>
        </p:nvSpPr>
        <p:spPr>
          <a:xfrm>
            <a:off x="3508248" y="1856232"/>
            <a:ext cx="21275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Al traducir</a:t>
            </a:r>
            <a:endParaRPr/>
          </a:p>
        </p:txBody>
      </p:sp>
      <p:sp>
        <p:nvSpPr>
          <p:cNvPr id="317" name="Google Shape;317;p15"/>
          <p:cNvSpPr/>
          <p:nvPr/>
        </p:nvSpPr>
        <p:spPr>
          <a:xfrm>
            <a:off x="3508248" y="2468880"/>
            <a:ext cx="2127504" cy="114299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El compilador para y dice la línea. No hay programa que ejecutar. Suele ser una regla del lenguaje mal aplicada.</a:t>
            </a:r>
            <a:endParaRPr/>
          </a:p>
        </p:txBody>
      </p:sp>
      <p:sp>
        <p:nvSpPr>
          <p:cNvPr id="318" name="Google Shape;318;p15"/>
          <p:cNvSpPr/>
          <p:nvPr/>
        </p:nvSpPr>
        <p:spPr>
          <a:xfrm>
            <a:off x="6001512" y="1691640"/>
            <a:ext cx="2456688" cy="2103120"/>
          </a:xfrm>
          <a:prstGeom prst="roundRect">
            <a:avLst>
              <a:gd fmla="val 12000" name="adj"/>
            </a:avLst>
          </a:prstGeom>
          <a:solidFill>
            <a:srgbClr val="F7F3EE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5"/>
          <p:cNvSpPr/>
          <p:nvPr/>
        </p:nvSpPr>
        <p:spPr>
          <a:xfrm>
            <a:off x="6166104" y="1856232"/>
            <a:ext cx="21275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Al ejecutar</a:t>
            </a:r>
            <a:endParaRPr/>
          </a:p>
        </p:txBody>
      </p:sp>
      <p:sp>
        <p:nvSpPr>
          <p:cNvPr id="320" name="Google Shape;320;p15"/>
          <p:cNvSpPr/>
          <p:nvPr/>
        </p:nvSpPr>
        <p:spPr>
          <a:xfrm>
            <a:off x="6166104" y="2468880"/>
            <a:ext cx="2127504" cy="114299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B7269"/>
                </a:solidFill>
                <a:latin typeface="Poppins"/>
                <a:ea typeface="Poppins"/>
                <a:cs typeface="Poppins"/>
                <a:sym typeface="Poppins"/>
              </a:rPr>
              <a:t>Compila, arranca y hace algo que no era. Es el caro: el programa no está roto para la máquina, está mal pensado.</a:t>
            </a:r>
            <a:endParaRPr/>
          </a:p>
        </p:txBody>
      </p:sp>
      <p:sp>
        <p:nvSpPr>
          <p:cNvPr id="321" name="Google Shape;321;p15"/>
          <p:cNvSpPr/>
          <p:nvPr/>
        </p:nvSpPr>
        <p:spPr>
          <a:xfrm>
            <a:off x="685800" y="3931920"/>
            <a:ext cx="7772400" cy="566928"/>
          </a:xfrm>
          <a:prstGeom prst="roundRect">
            <a:avLst>
              <a:gd fmla="val 12000" name="adj"/>
            </a:avLst>
          </a:prstGeom>
          <a:solidFill>
            <a:srgbClr val="F3E6DA"/>
          </a:solidFill>
          <a:ln cap="flat" cmpd="sng" w="12700">
            <a:solidFill>
              <a:srgbClr val="E5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5"/>
          <p:cNvSpPr/>
          <p:nvPr/>
        </p:nvSpPr>
        <p:spPr>
          <a:xfrm>
            <a:off x="868680" y="4023360"/>
            <a:ext cx="7406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A1D"/>
                </a:solidFill>
                <a:latin typeface="Poppins"/>
                <a:ea typeface="Poppins"/>
                <a:cs typeface="Poppins"/>
                <a:sym typeface="Poppins"/>
              </a:rPr>
              <a:t>Los dos primeros los caza la herramienta. El tercero solo lo caza alguien que prueba, y a eso se le dedica un bloque entero del curso.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A1D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6"/>
          <p:cNvSpPr/>
          <p:nvPr/>
        </p:nvSpPr>
        <p:spPr>
          <a:xfrm>
            <a:off x="6035040" y="-1280160"/>
            <a:ext cx="3108960" cy="3108960"/>
          </a:xfrm>
          <a:prstGeom prst="ellipse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6"/>
          <p:cNvSpPr/>
          <p:nvPr/>
        </p:nvSpPr>
        <p:spPr>
          <a:xfrm>
            <a:off x="7340803" y="-907085"/>
            <a:ext cx="2331720" cy="2331720"/>
          </a:xfrm>
          <a:prstGeom prst="ellipse">
            <a:avLst/>
          </a:prstGeom>
          <a:solidFill>
            <a:srgbClr val="E6945A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6"/>
          <p:cNvSpPr/>
          <p:nvPr/>
        </p:nvSpPr>
        <p:spPr>
          <a:xfrm>
            <a:off x="-1188720" y="3017520"/>
            <a:ext cx="2743200" cy="2743200"/>
          </a:xfrm>
          <a:prstGeom prst="ellipse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6"/>
          <p:cNvSpPr/>
          <p:nvPr/>
        </p:nvSpPr>
        <p:spPr>
          <a:xfrm>
            <a:off x="-36576" y="3346704"/>
            <a:ext cx="2057400" cy="2057400"/>
          </a:xfrm>
          <a:prstGeom prst="ellipse">
            <a:avLst/>
          </a:prstGeom>
          <a:solidFill>
            <a:srgbClr val="E6945A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6"/>
          <p:cNvSpPr/>
          <p:nvPr/>
        </p:nvSpPr>
        <p:spPr>
          <a:xfrm>
            <a:off x="4187952" y="1051560"/>
            <a:ext cx="768096" cy="768096"/>
          </a:xfrm>
          <a:prstGeom prst="ellipse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icons/message_navy.png" id="332" name="Google Shape;3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7657" y="1251265"/>
            <a:ext cx="368686" cy="368686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6"/>
          <p:cNvSpPr/>
          <p:nvPr/>
        </p:nvSpPr>
        <p:spPr>
          <a:xfrm>
            <a:off x="0" y="2057400"/>
            <a:ext cx="9144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oppins SemiBold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¿Preguntas?</a:t>
            </a:r>
            <a:endParaRPr b="0" i="0" sz="4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4" name="Google Shape;334;p16"/>
          <p:cNvSpPr/>
          <p:nvPr/>
        </p:nvSpPr>
        <p:spPr>
          <a:xfrm>
            <a:off x="1371600" y="28803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945A"/>
              </a:buClr>
              <a:buSzPts val="1500"/>
              <a:buFont typeface="Poppins Light"/>
              <a:buNone/>
            </a:pPr>
            <a:r>
              <a:rPr b="0" i="1" lang="en-US" sz="1500" u="none" cap="none" strike="noStrike">
                <a:solidFill>
                  <a:srgbClr val="E6945A"/>
                </a:solidFill>
                <a:latin typeface="Poppins Light"/>
                <a:ea typeface="Poppins Light"/>
                <a:cs typeface="Poppins Light"/>
                <a:sym typeface="Poppins Light"/>
              </a:rPr>
              <a:t>La semana que viene: los tipos de lenguajes que hay y en qué se parecen y se diferencian.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5" name="Google Shape;335;p16"/>
          <p:cNvSpPr/>
          <p:nvPr/>
        </p:nvSpPr>
        <p:spPr>
          <a:xfrm>
            <a:off x="8092440" y="47594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945A"/>
              </a:buClr>
              <a:buSzPts val="1000"/>
              <a:buFont typeface="Poppins Light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PROMETEO">
      <a:dk1>
        <a:srgbClr val="152A1D"/>
      </a:dk1>
      <a:lt1>
        <a:srgbClr val="FFFFFF"/>
      </a:lt1>
      <a:dk2>
        <a:srgbClr val="000000"/>
      </a:dk2>
      <a:lt2>
        <a:srgbClr val="F7F3EE"/>
      </a:lt2>
      <a:accent1>
        <a:srgbClr val="152A1D"/>
      </a:accent1>
      <a:accent2>
        <a:srgbClr val="E6945A"/>
      </a:accent2>
      <a:accent3>
        <a:srgbClr val="F0B98A"/>
      </a:accent3>
      <a:accent4>
        <a:srgbClr val="6B7269"/>
      </a:accent4>
      <a:accent5>
        <a:srgbClr val="4A5449"/>
      </a:accent5>
      <a:accent6>
        <a:srgbClr val="E5D3C2"/>
      </a:accent6>
      <a:hlink>
        <a:srgbClr val="E6945A"/>
      </a:hlink>
      <a:folHlink>
        <a:srgbClr val="6B726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