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6" r:id="rId33"/>
    <p:sldId id="267" r:id="rId34"/>
    <p:sldId id="268" r:id="rId35"/>
    <p:sldId id="261" r:id="rId11"/>
    <p:sldId id="263" r:id="rId30"/>
    <p:sldId id="264" r:id="rId31"/>
    <p:sldId id="265" r:id="rId32"/>
    <p:sldId id="262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Light"/>
      <p:regular r:id="rId17"/>
      <p:bold r:id="rId18"/>
      <p:italic r:id="rId19"/>
      <p:boldItalic r:id="rId20"/>
    </p:embeddedFont>
    <p:embeddedFont>
      <p:font typeface="Poppins Medium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gU+bz8HNrQOklz65Orjzayo0OF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Light-regular.fntdata"/><Relationship Id="rId18" Type="http://schemas.openxmlformats.org/officeDocument/2006/relationships/font" Target="fonts/PoppinsLight-bold.fntdata"/><Relationship Id="rId19" Type="http://schemas.openxmlformats.org/officeDocument/2006/relationships/font" Target="fonts/PoppinsLight-italic.fntdata"/><Relationship Id="rId20" Type="http://schemas.openxmlformats.org/officeDocument/2006/relationships/font" Target="fonts/PoppinsLight-boldItalic.fntdata"/><Relationship Id="rId21" Type="http://schemas.openxmlformats.org/officeDocument/2006/relationships/font" Target="fonts/PoppinsMedium-regular.fntdata"/><Relationship Id="rId22" Type="http://schemas.openxmlformats.org/officeDocument/2006/relationships/font" Target="fonts/PoppinsMedium-bold.fntdata"/><Relationship Id="rId23" Type="http://schemas.openxmlformats.org/officeDocument/2006/relationships/font" Target="fonts/PoppinsMedium-italic.fntdata"/><Relationship Id="rId24" Type="http://schemas.openxmlformats.org/officeDocument/2006/relationships/font" Target="fonts/PoppinsMedium-boldItalic.fntdata"/><Relationship Id="rId25" Type="http://schemas.openxmlformats.org/officeDocument/2006/relationships/font" Target="fonts/PoppinsSemiBold-regular.fntdata"/><Relationship Id="rId26" Type="http://schemas.openxmlformats.org/officeDocument/2006/relationships/font" Target="fonts/PoppinsSemiBold-bold.fntdata"/><Relationship Id="rId27" Type="http://schemas.openxmlformats.org/officeDocument/2006/relationships/font" Target="fonts/PoppinsSemiBold-italic.fntdata"/><Relationship Id="rId28" Type="http://schemas.openxmlformats.org/officeDocument/2006/relationships/font" Target="fonts/PoppinsSemiBold-boldItalic.fntdata"/><Relationship Id="rId29" Type="http://customschemas.google.com/relationships/presentationmetadata" Target="metadata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8deef65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" name="Google Shape;23;g3f8deef65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8deef655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f8deef655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deef65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8deef65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deef655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f8deef655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bb751a9e85777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h1bb751a9e857772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6309360" y="3246120"/>
            <a:ext cx="3931920" cy="393192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7960766" y="3717950"/>
            <a:ext cx="2948940" cy="294894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822960" y="-1005840"/>
            <a:ext cx="2377440" cy="23774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75565" y="-720547"/>
            <a:ext cx="1783080" cy="17830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5669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200"/>
              <a:buFont typeface="Poppins Medium"/>
              <a:buNone/>
            </a:pPr>
            <a:r>
              <a:rPr lang="en-US" sz="1200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69164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oppins Light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Unidad 1: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Configuración del entorno de trabajo</a:t>
            </a:r>
            <a:endParaRPr b="0"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33101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"/>
              <a:buNone/>
            </a:pPr>
            <a:r>
              <a:rPr lang="en-US" sz="150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DAW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502920" y="416052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502920" y="4279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Gómez Prudencio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4553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Curso 2026 / 2027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8deef6550_0_0"/>
          <p:cNvSpPr/>
          <p:nvPr/>
        </p:nvSpPr>
        <p:spPr>
          <a:xfrm>
            <a:off x="-1005840" y="2468880"/>
            <a:ext cx="3291900" cy="32919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f8deef6550_0_0"/>
          <p:cNvSpPr/>
          <p:nvPr/>
        </p:nvSpPr>
        <p:spPr>
          <a:xfrm>
            <a:off x="376733" y="2863901"/>
            <a:ext cx="2469000" cy="24690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f8deef6550_0_0"/>
          <p:cNvSpPr/>
          <p:nvPr/>
        </p:nvSpPr>
        <p:spPr>
          <a:xfrm>
            <a:off x="502920" y="19659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28;g3f8deef6550_0_0"/>
          <p:cNvSpPr/>
          <p:nvPr/>
        </p:nvSpPr>
        <p:spPr>
          <a:xfrm>
            <a:off x="502920" y="2286000"/>
            <a:ext cx="5120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Instalamos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Studio Code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deef6550_0_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ELEMENTOS DE UN PROGRAMA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g3f8deef6550_0_8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8deef6550_0_8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PRÁCTICA GUIADA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g3f8deef6550_0_8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8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1 · Descargar el instalador correcto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7;g3f8deef6550_0_8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8deef6550_0_8"/>
          <p:cNvSpPr/>
          <p:nvPr/>
        </p:nvSpPr>
        <p:spPr>
          <a:xfrm>
            <a:off x="685800" y="1508760"/>
            <a:ext cx="448050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8deef6550_0_8"/>
          <p:cNvSpPr/>
          <p:nvPr/>
        </p:nvSpPr>
        <p:spPr>
          <a:xfrm>
            <a:off x="685800" y="1508760"/>
            <a:ext cx="4480500" cy="2559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8deef6550_0_8"/>
          <p:cNvSpPr/>
          <p:nvPr/>
        </p:nvSpPr>
        <p:spPr>
          <a:xfrm>
            <a:off x="758952" y="15087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code.visualstudio.com/download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8deef6550_0_8"/>
          <p:cNvSpPr/>
          <p:nvPr/>
        </p:nvSpPr>
        <p:spPr>
          <a:xfrm>
            <a:off x="4480560" y="150876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–   ☐   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8deef6550_0_8"/>
          <p:cNvSpPr/>
          <p:nvPr/>
        </p:nvSpPr>
        <p:spPr>
          <a:xfrm>
            <a:off x="868680" y="1874519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8deef6550_0_8"/>
          <p:cNvSpPr/>
          <p:nvPr/>
        </p:nvSpPr>
        <p:spPr>
          <a:xfrm>
            <a:off x="868680" y="2313432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3D7A9E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Installer   ·   x64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f8deef6550_0_8"/>
          <p:cNvSpPr/>
          <p:nvPr/>
        </p:nvSpPr>
        <p:spPr>
          <a:xfrm>
            <a:off x="3611880" y="2313432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✓ 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8deef6550_0_8"/>
          <p:cNvSpPr/>
          <p:nvPr/>
        </p:nvSpPr>
        <p:spPr>
          <a:xfrm>
            <a:off x="868680" y="2788920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System Installer   ·   x64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deef6550_0_8"/>
          <p:cNvSpPr/>
          <p:nvPr/>
        </p:nvSpPr>
        <p:spPr>
          <a:xfrm>
            <a:off x="3611880" y="2788920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8deef6550_0_8"/>
          <p:cNvSpPr/>
          <p:nvPr/>
        </p:nvSpPr>
        <p:spPr>
          <a:xfrm>
            <a:off x="868680" y="3264408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User Installer   ·   Arm64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8deef6550_0_8"/>
          <p:cNvSpPr/>
          <p:nvPr/>
        </p:nvSpPr>
        <p:spPr>
          <a:xfrm>
            <a:off x="3611880" y="326440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8deef6550_0_8"/>
          <p:cNvSpPr/>
          <p:nvPr/>
        </p:nvSpPr>
        <p:spPr>
          <a:xfrm>
            <a:off x="868680" y="3739896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zip   ·   x64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8deef6550_0_8"/>
          <p:cNvSpPr/>
          <p:nvPr/>
        </p:nvSpPr>
        <p:spPr>
          <a:xfrm>
            <a:off x="3611880" y="3739896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8deef6550_0_8"/>
          <p:cNvSpPr/>
          <p:nvPr/>
        </p:nvSpPr>
        <p:spPr>
          <a:xfrm>
            <a:off x="5394960" y="161848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8deef6550_0_8"/>
          <p:cNvSpPr/>
          <p:nvPr/>
        </p:nvSpPr>
        <p:spPr>
          <a:xfrm>
            <a:off x="5806440" y="156362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Entra en la web oficial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8deef6550_0_8"/>
          <p:cNvSpPr/>
          <p:nvPr/>
        </p:nvSpPr>
        <p:spPr>
          <a:xfrm>
            <a:off x="5806440" y="180136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code.visualstudio.com/download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f8deef6550_0_8"/>
          <p:cNvSpPr/>
          <p:nvPr/>
        </p:nvSpPr>
        <p:spPr>
          <a:xfrm>
            <a:off x="5394960" y="248716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8deef6550_0_8"/>
          <p:cNvSpPr/>
          <p:nvPr/>
        </p:nvSpPr>
        <p:spPr>
          <a:xfrm>
            <a:off x="5806440" y="243230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Elige User Installer x64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8deef6550_0_8"/>
          <p:cNvSpPr/>
          <p:nvPr/>
        </p:nvSpPr>
        <p:spPr>
          <a:xfrm>
            <a:off x="5806440" y="267004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System Installer pide administrador. Arm64 es para otro tipo de procesador.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f8deef6550_0_8"/>
          <p:cNvSpPr/>
          <p:nvPr/>
        </p:nvSpPr>
        <p:spPr>
          <a:xfrm>
            <a:off x="5394960" y="335584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8deef6550_0_8"/>
          <p:cNvSpPr/>
          <p:nvPr/>
        </p:nvSpPr>
        <p:spPr>
          <a:xfrm>
            <a:off x="5806440" y="330098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Ejecuta el archivo descargado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8deef6550_0_8"/>
          <p:cNvSpPr/>
          <p:nvPr/>
        </p:nvSpPr>
        <p:spPr>
          <a:xfrm>
            <a:off x="5806440" y="353872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Doble clic, desde tu cuenta.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deef6550_0_3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ELEMENTOS DE UN PROGRAMA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g3f8deef6550_0_38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deef6550_0_38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PRÁCTICA GUIADA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g3f8deef6550_0_38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2 · Las opciones del instalador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g3f8deef6550_0_38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deef6550_0_38"/>
          <p:cNvSpPr/>
          <p:nvPr/>
        </p:nvSpPr>
        <p:spPr>
          <a:xfrm>
            <a:off x="685800" y="1508760"/>
            <a:ext cx="493770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8deef6550_0_38"/>
          <p:cNvSpPr/>
          <p:nvPr/>
        </p:nvSpPr>
        <p:spPr>
          <a:xfrm>
            <a:off x="685800" y="1508760"/>
            <a:ext cx="4937700" cy="2559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8deef6550_0_38"/>
          <p:cNvSpPr/>
          <p:nvPr/>
        </p:nvSpPr>
        <p:spPr>
          <a:xfrm>
            <a:off x="758952" y="150876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Instalar - Microsoft Visual Studio Code (User)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8deef6550_0_38"/>
          <p:cNvSpPr/>
          <p:nvPr/>
        </p:nvSpPr>
        <p:spPr>
          <a:xfrm>
            <a:off x="4937760" y="150876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–   ☐   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8deef6550_0_38"/>
          <p:cNvSpPr/>
          <p:nvPr/>
        </p:nvSpPr>
        <p:spPr>
          <a:xfrm>
            <a:off x="868680" y="185623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Seleccione las Tareas Adicionales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8deef6550_0_38"/>
          <p:cNvSpPr/>
          <p:nvPr/>
        </p:nvSpPr>
        <p:spPr>
          <a:xfrm>
            <a:off x="914400" y="2331720"/>
            <a:ext cx="1830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8deef6550_0_38"/>
          <p:cNvSpPr/>
          <p:nvPr/>
        </p:nvSpPr>
        <p:spPr>
          <a:xfrm>
            <a:off x="1188720" y="2267712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Crear un acceso directo en el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8deef6550_0_38"/>
          <p:cNvSpPr/>
          <p:nvPr/>
        </p:nvSpPr>
        <p:spPr>
          <a:xfrm>
            <a:off x="914400" y="2715768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8deef6550_0_38"/>
          <p:cNvSpPr/>
          <p:nvPr/>
        </p:nvSpPr>
        <p:spPr>
          <a:xfrm>
            <a:off x="1188720" y="2651760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Agregar «Abrir con Code» al menú contextual de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8deef6550_0_38"/>
          <p:cNvSpPr/>
          <p:nvPr/>
        </p:nvSpPr>
        <p:spPr>
          <a:xfrm>
            <a:off x="914400" y="3099815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8deef6550_0_38"/>
          <p:cNvSpPr/>
          <p:nvPr/>
        </p:nvSpPr>
        <p:spPr>
          <a:xfrm>
            <a:off x="1188720" y="3035808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Agregar «Abrir con Code» al menú contextual de directorio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8deef6550_0_38"/>
          <p:cNvSpPr/>
          <p:nvPr/>
        </p:nvSpPr>
        <p:spPr>
          <a:xfrm>
            <a:off x="914400" y="3483864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8deef6550_0_38"/>
          <p:cNvSpPr/>
          <p:nvPr/>
        </p:nvSpPr>
        <p:spPr>
          <a:xfrm>
            <a:off x="1188720" y="3419856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Registrar Code como editor para tipos de archivo admitidos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8deef6550_0_38"/>
          <p:cNvSpPr/>
          <p:nvPr/>
        </p:nvSpPr>
        <p:spPr>
          <a:xfrm>
            <a:off x="914400" y="3867912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8deef6550_0_38"/>
          <p:cNvSpPr/>
          <p:nvPr/>
        </p:nvSpPr>
        <p:spPr>
          <a:xfrm>
            <a:off x="1188720" y="3803904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Agregar a PATH (disponible después de reiniciar)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8deef6550_0_38"/>
          <p:cNvSpPr/>
          <p:nvPr/>
        </p:nvSpPr>
        <p:spPr>
          <a:xfrm>
            <a:off x="5806440" y="1554480"/>
            <a:ext cx="2651700" cy="1737300"/>
          </a:xfrm>
          <a:prstGeom prst="roundRect">
            <a:avLst>
              <a:gd fmla="val 8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8deef6550_0_38"/>
          <p:cNvSpPr/>
          <p:nvPr/>
        </p:nvSpPr>
        <p:spPr>
          <a:xfrm>
            <a:off x="5943600" y="1664207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importante: Agregar a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8deef6550_0_38"/>
          <p:cNvSpPr/>
          <p:nvPr/>
        </p:nvSpPr>
        <p:spPr>
          <a:xfrm>
            <a:off x="5943600" y="1965960"/>
            <a:ext cx="2377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Es la que permite escribir code en una terminal. Las demás solo facilitan abrir carpetas con clic derecho.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8deef6550_0_38"/>
          <p:cNvSpPr/>
          <p:nvPr/>
        </p:nvSpPr>
        <p:spPr>
          <a:xfrm>
            <a:off x="5806440" y="3429000"/>
            <a:ext cx="2651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resto de pantallas: aceptar la licencia, dejar la carpeta que propone y Siguiente.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deef6550_0_65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ELEMENTOS DE UN PROGRAMA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g3f8deef6550_0_65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8deef6550_0_65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COMPROBACIÓN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g3f8deef6550_0_65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3 · Comprobar que funciona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g3f8deef6550_0_65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8deef6550_0_65"/>
          <p:cNvSpPr/>
          <p:nvPr/>
        </p:nvSpPr>
        <p:spPr>
          <a:xfrm>
            <a:off x="685800" y="1554480"/>
            <a:ext cx="4572000" cy="1516500"/>
          </a:xfrm>
          <a:prstGeom prst="roundRect">
            <a:avLst>
              <a:gd fmla="val 4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8deef6550_0_65"/>
          <p:cNvSpPr/>
          <p:nvPr/>
        </p:nvSpPr>
        <p:spPr>
          <a:xfrm>
            <a:off x="795528" y="1591056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9A29A"/>
                </a:solidFill>
                <a:latin typeface="Poppins"/>
                <a:ea typeface="Poppins"/>
                <a:cs typeface="Poppins"/>
                <a:sym typeface="Poppins"/>
              </a:rPr>
              <a:t>Símbolo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deef6550_0_65"/>
          <p:cNvSpPr/>
          <p:nvPr/>
        </p:nvSpPr>
        <p:spPr>
          <a:xfrm>
            <a:off x="4690872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8deef6550_0_65"/>
          <p:cNvSpPr/>
          <p:nvPr/>
        </p:nvSpPr>
        <p:spPr>
          <a:xfrm>
            <a:off x="4855464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8deef6550_0_65"/>
          <p:cNvSpPr/>
          <p:nvPr/>
        </p:nvSpPr>
        <p:spPr>
          <a:xfrm>
            <a:off x="5020056" y="1645920"/>
            <a:ext cx="100500" cy="100500"/>
          </a:xfrm>
          <a:prstGeom prst="ellipse">
            <a:avLst/>
          </a:prstGeom>
          <a:solidFill>
            <a:srgbClr val="C95D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8deef6550_0_65"/>
          <p:cNvSpPr/>
          <p:nvPr/>
        </p:nvSpPr>
        <p:spPr>
          <a:xfrm>
            <a:off x="813816" y="18653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C:\Users\Alumno&gt;code --version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0495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1.103.2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8deef6550_0_65"/>
          <p:cNvSpPr/>
          <p:nvPr/>
        </p:nvSpPr>
        <p:spPr>
          <a:xfrm>
            <a:off x="813816" y="22336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6f17636121051a53c88d3e605c491d22af2ba755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8deef6550_0_65"/>
          <p:cNvSpPr/>
          <p:nvPr/>
        </p:nvSpPr>
        <p:spPr>
          <a:xfrm>
            <a:off x="813816" y="24178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x64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8deef6550_0_65"/>
          <p:cNvSpPr/>
          <p:nvPr/>
        </p:nvSpPr>
        <p:spPr>
          <a:xfrm>
            <a:off x="813816" y="26019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8deef6550_0_65"/>
          <p:cNvSpPr/>
          <p:nvPr/>
        </p:nvSpPr>
        <p:spPr>
          <a:xfrm>
            <a:off x="813816" y="27861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C:\Users\Alumno&gt;_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8deef6550_0_65"/>
          <p:cNvSpPr/>
          <p:nvPr/>
        </p:nvSpPr>
        <p:spPr>
          <a:xfrm>
            <a:off x="685800" y="3246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primer número tiene que ser 1.103.2 o mayor.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8deef6550_0_65"/>
          <p:cNvSpPr/>
          <p:nvPr/>
        </p:nvSpPr>
        <p:spPr>
          <a:xfrm>
            <a:off x="5486400" y="1554480"/>
            <a:ext cx="2971800" cy="1417200"/>
          </a:xfrm>
          <a:prstGeom prst="roundRect">
            <a:avLst>
              <a:gd fmla="val 8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8deef6550_0_65"/>
          <p:cNvSpPr/>
          <p:nvPr/>
        </p:nvSpPr>
        <p:spPr>
          <a:xfrm>
            <a:off x="5623560" y="1664207"/>
            <a:ext cx="269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Abre una terminal NUEVA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8deef6550_0_65"/>
          <p:cNvSpPr/>
          <p:nvPr/>
        </p:nvSpPr>
        <p:spPr>
          <a:xfrm>
            <a:off x="5623560" y="196596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terminal lee la lista de programas que conoce (el PATH) al abrirse. La que ya estaba abierta no se entera de lo recién instalado.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8deef6550_0_65"/>
          <p:cNvSpPr/>
          <p:nvPr/>
        </p:nvSpPr>
        <p:spPr>
          <a:xfrm>
            <a:off x="5486400" y="3108960"/>
            <a:ext cx="2971800" cy="1326000"/>
          </a:xfrm>
          <a:prstGeom prst="roundRect">
            <a:avLst>
              <a:gd fmla="val 6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8deef6550_0_65"/>
          <p:cNvSpPr/>
          <p:nvPr/>
        </p:nvSpPr>
        <p:spPr>
          <a:xfrm>
            <a:off x="5577840" y="3172968"/>
            <a:ext cx="278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'code' no se reconoce como un comando interno o externo…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8deef6550_0_65"/>
          <p:cNvSpPr/>
          <p:nvPr/>
        </p:nvSpPr>
        <p:spPr>
          <a:xfrm>
            <a:off x="5577840" y="3749039"/>
            <a:ext cx="27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Casi siempre es la terminal vieja: ciérrala y abre otra.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8deef6550_0_65"/>
          <p:cNvSpPr/>
          <p:nvPr/>
        </p:nvSpPr>
        <p:spPr>
          <a:xfrm>
            <a:off x="685800" y="3749039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Los números de la segunda y la tercera línea pueden ser distintos: identifican la compilación exacta.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bb751a9e8577722_1_0"/>
          <p:cNvSpPr/>
          <p:nvPr/>
        </p:nvSpPr>
        <p:spPr>
          <a:xfrm>
            <a:off x="-1005840" y="2468880"/>
            <a:ext cx="3291900" cy="32919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1bb751a9e8577722_1_0"/>
          <p:cNvSpPr/>
          <p:nvPr/>
        </p:nvSpPr>
        <p:spPr>
          <a:xfrm>
            <a:off x="376733" y="2863901"/>
            <a:ext cx="2469000" cy="24690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1bb751a9e8577722_1_0"/>
          <p:cNvSpPr/>
          <p:nvPr/>
        </p:nvSpPr>
        <p:spPr>
          <a:xfrm>
            <a:off x="502920" y="19659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h1bb751a9e8577722_1_0"/>
          <p:cNvSpPr/>
          <p:nvPr/>
        </p:nvSpPr>
        <p:spPr>
          <a:xfrm>
            <a:off x="502920" y="2286000"/>
            <a:ext cx="5120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Cacharreamos con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Studio Code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6035040" y="-1280160"/>
            <a:ext cx="3108960" cy="310896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7340803" y="-907085"/>
            <a:ext cx="2331720" cy="233172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-1188720" y="3017520"/>
            <a:ext cx="2743200" cy="27432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-36576" y="3346704"/>
            <a:ext cx="2057400" cy="20574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4187952" y="1051560"/>
            <a:ext cx="768096" cy="7680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message_navy.png" id="133" name="Google Shape;1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657" y="1251265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¿Preguntas?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 Light"/>
              <a:buNone/>
            </a:pPr>
            <a:r>
              <a:rPr b="0" i="1" lang="en-US" sz="15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Lo siguiente de la unidad 1: por qué una web separa HTML, CSS y JavaScript, y cómo se guarda el historial del trabajo.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000"/>
              <a:buFont typeface="Poppins Light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3" name="Google Shape;33;g3f8deef6550_0_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CONFIGURACIÓN DEL ENTORNO DE TRABAJO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g3f8deef6550_0_8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8deef6550_0_8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PRÁCTICA GUIADA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g3f8deef6550_0_8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8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1 · La ventana por dentro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7;g3f8deef6550_0_8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8deef6550_0_8"/>
          <p:cNvSpPr/>
          <p:nvPr/>
        </p:nvSpPr>
        <p:spPr>
          <a:xfrm>
            <a:off x="685800" y="1508760"/>
            <a:ext cx="448050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8deef6550_0_8"/>
          <p:cNvSpPr/>
          <p:nvPr/>
        </p:nvSpPr>
        <p:spPr>
          <a:xfrm>
            <a:off x="685800" y="1508760"/>
            <a:ext cx="4480500" cy="2559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8deef6550_0_8"/>
          <p:cNvSpPr/>
          <p:nvPr/>
        </p:nvSpPr>
        <p:spPr>
          <a:xfrm>
            <a:off x="758952" y="15087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pruebas — Visual Studio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8deef6550_0_8"/>
          <p:cNvSpPr/>
          <p:nvPr/>
        </p:nvSpPr>
        <p:spPr>
          <a:xfrm>
            <a:off x="4480560" y="150876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–   ☐   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8deef6550_0_8"/>
          <p:cNvSpPr/>
          <p:nvPr/>
        </p:nvSpPr>
        <p:spPr>
          <a:xfrm>
            <a:off x="868680" y="1874519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Las cuatro zonas que vas a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8deef6550_0_8"/>
          <p:cNvSpPr/>
          <p:nvPr/>
        </p:nvSpPr>
        <p:spPr>
          <a:xfrm>
            <a:off x="868680" y="2313432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3D7A9E"/>
          </a:solidFill>
          <a:ln cap="flat" cmpd="sng" w="1270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f8deef6550_0_8"/>
          <p:cNvSpPr/>
          <p:nvPr/>
        </p:nvSpPr>
        <p:spPr>
          <a:xfrm>
            <a:off x="3611880" y="2313432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izquierda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8deef6550_0_8"/>
          <p:cNvSpPr/>
          <p:nvPr/>
        </p:nvSpPr>
        <p:spPr>
          <a:xfrm>
            <a:off x="868680" y="2788920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deef6550_0_8"/>
          <p:cNvSpPr/>
          <p:nvPr/>
        </p:nvSpPr>
        <p:spPr>
          <a:xfrm>
            <a:off x="3611880" y="2788920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centro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8deef6550_0_8"/>
          <p:cNvSpPr/>
          <p:nvPr/>
        </p:nvSpPr>
        <p:spPr>
          <a:xfrm>
            <a:off x="868680" y="3264408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Paleta de 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8deef6550_0_8"/>
          <p:cNvSpPr/>
          <p:nvPr/>
        </p:nvSpPr>
        <p:spPr>
          <a:xfrm>
            <a:off x="3611880" y="326440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arriba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8deef6550_0_8"/>
          <p:cNvSpPr/>
          <p:nvPr/>
        </p:nvSpPr>
        <p:spPr>
          <a:xfrm>
            <a:off x="868680" y="3739896"/>
            <a:ext cx="2651700" cy="384000"/>
          </a:xfrm>
          <a:prstGeom prst="roundRect">
            <a:avLst>
              <a:gd fmla="val 20000" name="adj"/>
            </a:avLst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Barra de 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8deef6550_0_8"/>
          <p:cNvSpPr/>
          <p:nvPr/>
        </p:nvSpPr>
        <p:spPr>
          <a:xfrm>
            <a:off x="3611880" y="3739896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8deef6550_0_8"/>
          <p:cNvSpPr/>
          <p:nvPr/>
        </p:nvSpPr>
        <p:spPr>
          <a:xfrm>
            <a:off x="5394960" y="161848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8deef6550_0_8"/>
          <p:cNvSpPr/>
          <p:nvPr/>
        </p:nvSpPr>
        <p:spPr>
          <a:xfrm>
            <a:off x="5806440" y="156362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Abre la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8deef6550_0_8"/>
          <p:cNvSpPr/>
          <p:nvPr/>
        </p:nvSpPr>
        <p:spPr>
          <a:xfrm>
            <a:off x="5806440" y="180136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Crea Documentos → 0487 → pruebas y ábrela con Archivo → Abrir carpeta…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f8deef6550_0_8"/>
          <p:cNvSpPr/>
          <p:nvPr/>
        </p:nvSpPr>
        <p:spPr>
          <a:xfrm>
            <a:off x="5394960" y="248716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8deef6550_0_8"/>
          <p:cNvSpPr/>
          <p:nvPr/>
        </p:nvSpPr>
        <p:spPr>
          <a:xfrm>
            <a:off x="5806440" y="243230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Enseña y esconde el explorador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8deef6550_0_8"/>
          <p:cNvSpPr/>
          <p:nvPr/>
        </p:nvSpPr>
        <p:spPr>
          <a:xfrm>
            <a:off x="5806440" y="267004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Ctrl+B. Es la lista de lo que hay dentro de la carpeta abierta, nada más.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f8deef6550_0_8"/>
          <p:cNvSpPr/>
          <p:nvPr/>
        </p:nvSpPr>
        <p:spPr>
          <a:xfrm>
            <a:off x="5394960" y="3355848"/>
            <a:ext cx="292500" cy="2925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8deef6550_0_8"/>
          <p:cNvSpPr/>
          <p:nvPr/>
        </p:nvSpPr>
        <p:spPr>
          <a:xfrm>
            <a:off x="5806440" y="330098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Abre la paleta de 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8deef6550_0_8"/>
          <p:cNvSpPr/>
          <p:nvPr/>
        </p:nvSpPr>
        <p:spPr>
          <a:xfrm>
            <a:off x="5806440" y="3538728"/>
            <a:ext cx="2651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Ctrl+Shift+P. Ahí está escrito todo lo que VS Code sabe hacer. Ciérrala con Esc.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92" name="Google Shape;92;g3f8deef6550_0_65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CONFIGURACIÓN DEL ENTORNO DE TRABAJO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g3f8deef6550_0_65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8deef6550_0_65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PRÁCTICA GUIADA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g3f8deef6550_0_65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2 · Escríbelo en un fichero de texto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g3f8deef6550_0_65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8deef6550_0_65"/>
          <p:cNvSpPr/>
          <p:nvPr/>
        </p:nvSpPr>
        <p:spPr>
          <a:xfrm>
            <a:off x="685800" y="1554480"/>
            <a:ext cx="4572000" cy="1700000"/>
          </a:xfrm>
          <a:prstGeom prst="roundRect">
            <a:avLst>
              <a:gd fmla="val 4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8deef6550_0_65"/>
          <p:cNvSpPr/>
          <p:nvPr/>
        </p:nvSpPr>
        <p:spPr>
          <a:xfrm>
            <a:off x="795528" y="1591056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9A29A"/>
                </a:solidFill>
                <a:latin typeface="Poppins"/>
                <a:ea typeface="Poppins"/>
                <a:cs typeface="Poppins"/>
                <a:sym typeface="Poppins"/>
              </a:rPr>
              <a:t>nota.txt — Visual Studio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deef6550_0_65"/>
          <p:cNvSpPr/>
          <p:nvPr/>
        </p:nvSpPr>
        <p:spPr>
          <a:xfrm>
            <a:off x="4690872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8deef6550_0_65"/>
          <p:cNvSpPr/>
          <p:nvPr/>
        </p:nvSpPr>
        <p:spPr>
          <a:xfrm>
            <a:off x="4855464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8deef6550_0_65"/>
          <p:cNvSpPr/>
          <p:nvPr/>
        </p:nvSpPr>
        <p:spPr>
          <a:xfrm>
            <a:off x="5020056" y="1645920"/>
            <a:ext cx="100500" cy="100500"/>
          </a:xfrm>
          <a:prstGeom prst="ellipse">
            <a:avLst/>
          </a:prstGeom>
          <a:solidFill>
            <a:srgbClr val="C95D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8deef6550_0_65"/>
          <p:cNvSpPr/>
          <p:nvPr/>
        </p:nvSpPr>
        <p:spPr>
          <a:xfrm>
            <a:off x="685800" y="3330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Crea el fichero desde el explorador de VS Code: «Nuevo archivo» → nota.txt. Guarda con Ctrl+S.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8deef6550_0_65"/>
          <p:cNvSpPr/>
          <p:nvPr/>
        </p:nvSpPr>
        <p:spPr>
          <a:xfrm>
            <a:off x="5486400" y="1554480"/>
            <a:ext cx="2971800" cy="1417200"/>
          </a:xfrm>
          <a:prstGeom prst="roundRect">
            <a:avLst>
              <a:gd fmla="val 8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8deef6550_0_65"/>
          <p:cNvSpPr/>
          <p:nvPr/>
        </p:nvSpPr>
        <p:spPr>
          <a:xfrm>
            <a:off x="5623560" y="1664207"/>
            <a:ext cx="269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Todo del mismo color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8deef6550_0_65"/>
          <p:cNvSpPr/>
          <p:nvPr/>
        </p:nvSpPr>
        <p:spPr>
          <a:xfrm>
            <a:off x="5623560" y="196596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Mira abajo a la derecha: pone «Texto sin formato». Para VS Code esto son letras sueltas, no sabe qué está leyendo.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8deef6550_0_65"/>
          <p:cNvSpPr/>
          <p:nvPr/>
        </p:nvSpPr>
        <p:spPr>
          <a:xfrm>
            <a:off x="5486400" y="3108960"/>
            <a:ext cx="2971800" cy="1326000"/>
          </a:xfrm>
          <a:prstGeom prst="roundRect">
            <a:avLst>
              <a:gd fmla="val 6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8deef6550_0_65"/>
          <p:cNvSpPr/>
          <p:nvPr/>
        </p:nvSpPr>
        <p:spPr>
          <a:xfrm>
            <a:off x="5577840" y="3172968"/>
            <a:ext cx="278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Escríbelo, no lo copies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8deef6550_0_65"/>
          <p:cNvSpPr/>
          <p:nvPr/>
        </p:nvSpPr>
        <p:spPr>
          <a:xfrm>
            <a:off x="5577840" y="3749039"/>
            <a:ext cx="27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Siete líneas. Fíjate en dónde van las llaves y el punto y coma.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18653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public class Producto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0495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public static void main(String[] args)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2336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String nombre = "Camiseta negra";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4178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double precio = 19.99;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6019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System.out.println(nombre + " - " + precio);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7861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9702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92" name="Google Shape;92;g3f8deef6550_0_65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CONFIGURACIÓN DEL ENTORNO DE TRABAJO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g3f8deef6550_0_65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8deef6550_0_65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COMPROBACIÓN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g3f8deef6550_0_65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3 · Cámbiale la extensión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g3f8deef6550_0_65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8deef6550_0_65"/>
          <p:cNvSpPr/>
          <p:nvPr/>
        </p:nvSpPr>
        <p:spPr>
          <a:xfrm>
            <a:off x="685800" y="1554480"/>
            <a:ext cx="4572000" cy="1700000"/>
          </a:xfrm>
          <a:prstGeom prst="roundRect">
            <a:avLst>
              <a:gd fmla="val 4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8deef6550_0_65"/>
          <p:cNvSpPr/>
          <p:nvPr/>
        </p:nvSpPr>
        <p:spPr>
          <a:xfrm>
            <a:off x="795528" y="1591056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9A29A"/>
                </a:solidFill>
                <a:latin typeface="Poppins"/>
                <a:ea typeface="Poppins"/>
                <a:cs typeface="Poppins"/>
                <a:sym typeface="Poppins"/>
              </a:rPr>
              <a:t>Producto.java — Visual Studio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deef6550_0_65"/>
          <p:cNvSpPr/>
          <p:nvPr/>
        </p:nvSpPr>
        <p:spPr>
          <a:xfrm>
            <a:off x="4690872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8deef6550_0_65"/>
          <p:cNvSpPr/>
          <p:nvPr/>
        </p:nvSpPr>
        <p:spPr>
          <a:xfrm>
            <a:off x="4855464" y="1645920"/>
            <a:ext cx="100500" cy="1005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8deef6550_0_65"/>
          <p:cNvSpPr/>
          <p:nvPr/>
        </p:nvSpPr>
        <p:spPr>
          <a:xfrm>
            <a:off x="5020056" y="1645920"/>
            <a:ext cx="100500" cy="100500"/>
          </a:xfrm>
          <a:prstGeom prst="ellipse">
            <a:avLst/>
          </a:prstGeom>
          <a:solidFill>
            <a:srgbClr val="C95D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8deef6550_0_65"/>
          <p:cNvSpPr/>
          <p:nvPr/>
        </p:nvSpPr>
        <p:spPr>
          <a:xfrm>
            <a:off x="685800" y="3330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extensión del fichero es lo que le dice al editor qué lenguaje estás escribiendo: él solo no lo adivina.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8deef6550_0_65"/>
          <p:cNvSpPr/>
          <p:nvPr/>
        </p:nvSpPr>
        <p:spPr>
          <a:xfrm>
            <a:off x="5486400" y="1554480"/>
            <a:ext cx="2971800" cy="1417200"/>
          </a:xfrm>
          <a:prstGeom prst="roundRect">
            <a:avLst>
              <a:gd fmla="val 8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8deef6550_0_65"/>
          <p:cNvSpPr/>
          <p:nvPr/>
        </p:nvSpPr>
        <p:spPr>
          <a:xfrm>
            <a:off x="5623560" y="1664207"/>
            <a:ext cx="269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Pulsa F2 sobre el nombre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8deef6550_0_65"/>
          <p:cNvSpPr/>
          <p:nvPr/>
        </p:nvSpPr>
        <p:spPr>
          <a:xfrm>
            <a:off x="5623560" y="1965960"/>
            <a:ext cx="269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Renómbralo a Producto.java. Los colores aparecen solos y abajo a la derecha ya pone «Java».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8deef6550_0_65"/>
          <p:cNvSpPr/>
          <p:nvPr/>
        </p:nvSpPr>
        <p:spPr>
          <a:xfrm>
            <a:off x="5486400" y="3108960"/>
            <a:ext cx="2971800" cy="1326000"/>
          </a:xfrm>
          <a:prstGeom prst="roundRect">
            <a:avLst>
              <a:gd fmla="val 6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8deef6550_0_65"/>
          <p:cNvSpPr/>
          <p:nvPr/>
        </p:nvSpPr>
        <p:spPr>
          <a:xfrm>
            <a:off x="5577840" y="3172968"/>
            <a:ext cx="278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nsolas"/>
                <a:ea typeface="Consolas"/>
                <a:cs typeface="Consolas"/>
                <a:sym typeface="Consolas"/>
              </a:rPr>
              <a:t>¿Y esto ya se puede ejecutar?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8deef6550_0_65"/>
          <p:cNvSpPr/>
          <p:nvPr/>
        </p:nvSpPr>
        <p:spPr>
          <a:xfrm>
            <a:off x="5577840" y="3749039"/>
            <a:ext cx="27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Todavía no. El editor sabe leer Java, pero falta lo que lo traduce y lo pone en marcha. Eso es el resto del entorno.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18653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7FB3D5"/>
                </a:solidFill>
                <a:latin typeface="Consolas"/>
                <a:ea typeface="Consolas"/>
                <a:cs typeface="Consolas"/>
                <a:sym typeface="Consolas"/>
              </a:rPr>
              <a:t>Producto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0495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7FB3D5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2336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EC97F"/>
                </a:solidFill>
                <a:latin typeface="Consolas"/>
                <a:ea typeface="Consolas"/>
                <a:cs typeface="Consolas"/>
                <a:sym typeface="Consolas"/>
              </a:rPr>
              <a:t>"Camiseta negra"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4178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E6945A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precio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EC97F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50" u="none" cap="none" strike="noStrike">
                <a:solidFill>
                  <a:srgbClr val="9EC97F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6019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050" u="none" cap="none" strike="noStrike">
                <a:solidFill>
                  <a:srgbClr val="7FB3D5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50" u="none" cap="none" strike="noStrike">
                <a:solidFill>
                  <a:srgbClr val="7FB3D5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50" u="none" cap="none" strike="noStrike">
                <a:solidFill>
                  <a:srgbClr val="7FB3D5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9EC97F"/>
                </a:solidFill>
                <a:latin typeface="Consolas"/>
                <a:ea typeface="Consolas"/>
                <a:cs typeface="Consolas"/>
                <a:sym typeface="Consolas"/>
              </a:rPr>
              <a:t>" - "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precio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78612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03" name="Google Shape;103;g3f8deef6550_0_65"/>
          <p:cNvSpPr/>
          <p:nvPr/>
        </p:nvSpPr>
        <p:spPr>
          <a:xfrm>
            <a:off x="813816" y="2970276"/>
            <a:ext cx="4316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05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1D"/>
        </a:solidFill>
      </p:bgPr>
    </p:bg>
    <p:spTree>
      <p:nvGrpSpPr>
        <p:cNvPr id="1" name=""/>
        <p:cNvGrpSpPr/>
        <p:nvPr/>
      </p:nvGrpSpPr>
      <p:grpSpPr/>
      <p:sp>
        <p:nvSpPr>
          <p:cNvPr id="25" name="Google Shape;25;g3f8deef6550_0_0"/>
          <p:cNvSpPr/>
          <p:nvPr/>
        </p:nvSpPr>
        <p:spPr>
          <a:xfrm>
            <a:off x="-1005840" y="2468880"/>
            <a:ext cx="3291900" cy="32919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f8deef6550_0_0"/>
          <p:cNvSpPr/>
          <p:nvPr/>
        </p:nvSpPr>
        <p:spPr>
          <a:xfrm>
            <a:off x="376733" y="2863901"/>
            <a:ext cx="2469000" cy="24690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f8deef6550_0_0"/>
          <p:cNvSpPr/>
          <p:nvPr/>
        </p:nvSpPr>
        <p:spPr>
          <a:xfrm>
            <a:off x="502920" y="19659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28;g3f8deef6550_0_0"/>
          <p:cNvSpPr/>
          <p:nvPr/>
        </p:nvSpPr>
        <p:spPr>
          <a:xfrm>
            <a:off x="502920" y="2286000"/>
            <a:ext cx="5120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es un entorno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desarrollo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64" name="Google Shape;64;g3f8deef6550_0_3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CONFIGURACIÓN DEL ENTORNO DE TRABAJO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g3f8deef6550_0_38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deef6550_0_38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TEORÍA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g3f8deef6550_0_38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Las cinco piezas de un entorno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g3f8deef6550_0_38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deef6550_0_38"/>
          <p:cNvSpPr/>
          <p:nvPr/>
        </p:nvSpPr>
        <p:spPr>
          <a:xfrm>
            <a:off x="685800" y="1508760"/>
            <a:ext cx="493770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8deef6550_0_38"/>
          <p:cNvSpPr/>
          <p:nvPr/>
        </p:nvSpPr>
        <p:spPr>
          <a:xfrm>
            <a:off x="685800" y="1508760"/>
            <a:ext cx="4937700" cy="2559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8deef6550_0_38"/>
          <p:cNvSpPr/>
          <p:nvPr/>
        </p:nvSpPr>
        <p:spPr>
          <a:xfrm>
            <a:off x="758952" y="150876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Entorno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8deef6550_0_38"/>
          <p:cNvSpPr/>
          <p:nvPr/>
        </p:nvSpPr>
        <p:spPr>
          <a:xfrm>
            <a:off x="4937760" y="150876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–   ☐   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8deef6550_0_38"/>
          <p:cNvSpPr/>
          <p:nvPr/>
        </p:nvSpPr>
        <p:spPr>
          <a:xfrm>
            <a:off x="868680" y="185623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Lo que hace falta para trabajar, junto o por separado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8deef6550_0_38"/>
          <p:cNvSpPr/>
          <p:nvPr/>
        </p:nvSpPr>
        <p:spPr>
          <a:xfrm>
            <a:off x="914400" y="2331720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rgbClr val="FFFFFF"/>
                </a:solidFill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8deef6550_0_38"/>
          <p:cNvSpPr/>
          <p:nvPr/>
        </p:nvSpPr>
        <p:spPr>
          <a:xfrm>
            <a:off x="1188720" y="2267712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Editor · donde escribes el código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8deef6550_0_38"/>
          <p:cNvSpPr/>
          <p:nvPr/>
        </p:nvSpPr>
        <p:spPr>
          <a:xfrm>
            <a:off x="914400" y="2715768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8deef6550_0_38"/>
          <p:cNvSpPr/>
          <p:nvPr/>
        </p:nvSpPr>
        <p:spPr>
          <a:xfrm>
            <a:off x="1188720" y="2651760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Compilador · traduce lo que escribes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8deef6550_0_38"/>
          <p:cNvSpPr/>
          <p:nvPr/>
        </p:nvSpPr>
        <p:spPr>
          <a:xfrm>
            <a:off x="914400" y="3099815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8deef6550_0_38"/>
          <p:cNvSpPr/>
          <p:nvPr/>
        </p:nvSpPr>
        <p:spPr>
          <a:xfrm>
            <a:off x="1188720" y="3035808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Depurador · para el programa y te deja mirar dentro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8deef6550_0_38"/>
          <p:cNvSpPr/>
          <p:nvPr/>
        </p:nvSpPr>
        <p:spPr>
          <a:xfrm>
            <a:off x="914400" y="3483864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8deef6550_0_38"/>
          <p:cNvSpPr/>
          <p:nvPr/>
        </p:nvSpPr>
        <p:spPr>
          <a:xfrm>
            <a:off x="1188720" y="3419856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Gestor del proyecto · carpetas, librerías y construcción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8deef6550_0_38"/>
          <p:cNvSpPr/>
          <p:nvPr/>
        </p:nvSpPr>
        <p:spPr>
          <a:xfrm>
            <a:off x="914400" y="3867912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8deef6550_0_38"/>
          <p:cNvSpPr/>
          <p:nvPr/>
        </p:nvSpPr>
        <p:spPr>
          <a:xfrm>
            <a:off x="1188720" y="3803904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Control de versiones · el historial del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8deef6550_0_38"/>
          <p:cNvSpPr/>
          <p:nvPr/>
        </p:nvSpPr>
        <p:spPr>
          <a:xfrm>
            <a:off x="5806440" y="1554480"/>
            <a:ext cx="2651700" cy="1737300"/>
          </a:xfrm>
          <a:prstGeom prst="roundRect">
            <a:avLst>
              <a:gd fmla="val 8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8deef6550_0_38"/>
          <p:cNvSpPr/>
          <p:nvPr/>
        </p:nvSpPr>
        <p:spPr>
          <a:xfrm>
            <a:off x="5943600" y="1664207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IDE: las cinco, juntas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8deef6550_0_38"/>
          <p:cNvSpPr/>
          <p:nvPr/>
        </p:nvSpPr>
        <p:spPr>
          <a:xfrm>
            <a:off x="5943600" y="1965960"/>
            <a:ext cx="2377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entorno integrado de desarrollo es un solo programa que trae las cinco piezas ya montadas y hablándose entre ellas.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8deef6550_0_38"/>
          <p:cNvSpPr/>
          <p:nvPr/>
        </p:nvSpPr>
        <p:spPr>
          <a:xfrm>
            <a:off x="5806440" y="3429000"/>
            <a:ext cx="2651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También se puede trabajar con las piezas sueltas, cada una por su lado. Eso es exactamente lo que tenemos hoy: acabamos de instalar 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64" name="Google Shape;64;g3f8deef6550_0_38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CONFIGURACIÓN DEL ENTORNO DE TRABAJO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g3f8deef6550_0_38"/>
          <p:cNvSpPr/>
          <p:nvPr/>
        </p:nvSpPr>
        <p:spPr>
          <a:xfrm>
            <a:off x="7223760" y="594360"/>
            <a:ext cx="14172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deef6550_0_38"/>
          <p:cNvSpPr/>
          <p:nvPr/>
        </p:nvSpPr>
        <p:spPr>
          <a:xfrm>
            <a:off x="7223760" y="59436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TEORÍA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g3f8deef6550_0_38"/>
          <p:cNvSpPr/>
          <p:nvPr/>
        </p:nvSpPr>
        <p:spPr>
          <a:xfrm>
            <a:off x="502920" y="566928"/>
            <a:ext cx="658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¿Y lo que acabamos de instalar?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g3f8deef6550_0_38"/>
          <p:cNvSpPr/>
          <p:nvPr/>
        </p:nvSpPr>
        <p:spPr>
          <a:xfrm>
            <a:off x="502920" y="1371600"/>
            <a:ext cx="8138100" cy="32460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8deef6550_0_38"/>
          <p:cNvSpPr/>
          <p:nvPr/>
        </p:nvSpPr>
        <p:spPr>
          <a:xfrm>
            <a:off x="685800" y="1508760"/>
            <a:ext cx="493770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8deef6550_0_38"/>
          <p:cNvSpPr/>
          <p:nvPr/>
        </p:nvSpPr>
        <p:spPr>
          <a:xfrm>
            <a:off x="685800" y="1508760"/>
            <a:ext cx="4937700" cy="2559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8deef6550_0_38"/>
          <p:cNvSpPr/>
          <p:nvPr/>
        </p:nvSpPr>
        <p:spPr>
          <a:xfrm>
            <a:off x="758952" y="150876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Visual Studio Code, recién instalado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8deef6550_0_38"/>
          <p:cNvSpPr/>
          <p:nvPr/>
        </p:nvSpPr>
        <p:spPr>
          <a:xfrm>
            <a:off x="4937760" y="1508760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–   ☐   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8deef6550_0_38"/>
          <p:cNvSpPr/>
          <p:nvPr/>
        </p:nvSpPr>
        <p:spPr>
          <a:xfrm>
            <a:off x="868680" y="185623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Lo que sabe hacer y lo que todavía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8deef6550_0_38"/>
          <p:cNvSpPr/>
          <p:nvPr/>
        </p:nvSpPr>
        <p:spPr>
          <a:xfrm>
            <a:off x="914400" y="2331720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rgbClr val="FFFFFF"/>
                </a:solidFill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8deef6550_0_38"/>
          <p:cNvSpPr/>
          <p:nvPr/>
        </p:nvSpPr>
        <p:spPr>
          <a:xfrm>
            <a:off x="1188720" y="2267712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Escribir, guardar y organizar ficheros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8deef6550_0_38"/>
          <p:cNvSpPr/>
          <p:nvPr/>
        </p:nvSpPr>
        <p:spPr>
          <a:xfrm>
            <a:off x="914400" y="2715768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8deef6550_0_38"/>
          <p:cNvSpPr/>
          <p:nvPr/>
        </p:nvSpPr>
        <p:spPr>
          <a:xfrm>
            <a:off x="1188720" y="2651760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Reconocer el lenguaje y colorear el código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8deef6550_0_38"/>
          <p:cNvSpPr/>
          <p:nvPr/>
        </p:nvSpPr>
        <p:spPr>
          <a:xfrm>
            <a:off x="914400" y="3099815"/>
            <a:ext cx="183000" cy="183000"/>
          </a:xfrm>
          <a:prstGeom prst="rect">
            <a:avLst/>
          </a:prstGeom>
          <a:solidFill>
            <a:srgbClr val="3D7A9E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8deef6550_0_38"/>
          <p:cNvSpPr/>
          <p:nvPr/>
        </p:nvSpPr>
        <p:spPr>
          <a:xfrm>
            <a:off x="1188720" y="3035808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Buscar y reemplazar en toda la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8deef6550_0_38"/>
          <p:cNvSpPr/>
          <p:nvPr/>
        </p:nvSpPr>
        <p:spPr>
          <a:xfrm>
            <a:off x="914400" y="3483864"/>
            <a:ext cx="1830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6B6B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8deef6550_0_38"/>
          <p:cNvSpPr/>
          <p:nvPr/>
        </p:nvSpPr>
        <p:spPr>
          <a:xfrm>
            <a:off x="1188720" y="3419856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Traducir 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8deef6550_0_38"/>
          <p:cNvSpPr/>
          <p:nvPr/>
        </p:nvSpPr>
        <p:spPr>
          <a:xfrm>
            <a:off x="914400" y="3867912"/>
            <a:ext cx="1830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6B6B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8deef6550_0_38"/>
          <p:cNvSpPr/>
          <p:nvPr/>
        </p:nvSpPr>
        <p:spPr>
          <a:xfrm>
            <a:off x="1188720" y="3803904"/>
            <a:ext cx="429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Ejecutarlo y depurarlo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8deef6550_0_38"/>
          <p:cNvSpPr/>
          <p:nvPr/>
        </p:nvSpPr>
        <p:spPr>
          <a:xfrm>
            <a:off x="5806440" y="1554480"/>
            <a:ext cx="2651700" cy="1737300"/>
          </a:xfrm>
          <a:prstGeom prst="roundRect">
            <a:avLst>
              <a:gd fmla="val 8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8deef6550_0_38"/>
          <p:cNvSpPr/>
          <p:nvPr/>
        </p:nvSpPr>
        <p:spPr>
          <a:xfrm>
            <a:off x="5943600" y="1664207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Entonces es un 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8deef6550_0_38"/>
          <p:cNvSpPr/>
          <p:nvPr/>
        </p:nvSpPr>
        <p:spPr>
          <a:xfrm>
            <a:off x="5943600" y="1965960"/>
            <a:ext cx="2377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Uno muy bueno. Se convierte en entorno cuando le añades las piezas que le faltan, y en VS Code se añaden con extensiones.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8deef6550_0_38"/>
          <p:cNvSpPr/>
          <p:nvPr/>
        </p:nvSpPr>
        <p:spPr>
          <a:xfrm>
            <a:off x="5806440" y="3429000"/>
            <a:ext cx="2651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IntelliJ o Eclipse vienen con todo puesto de fábrica; VS Code te deja elegir qué piezas quieres. Ninguna de las dos formas es mejor que la otra.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ROMETEO">
      <a:dk1>
        <a:srgbClr val="152A1D"/>
      </a:dk1>
      <a:lt1>
        <a:srgbClr val="FFFFFF"/>
      </a:lt1>
      <a:dk2>
        <a:srgbClr val="000000"/>
      </a:dk2>
      <a:lt2>
        <a:srgbClr val="F7F3EE"/>
      </a:lt2>
      <a:accent1>
        <a:srgbClr val="152A1D"/>
      </a:accent1>
      <a:accent2>
        <a:srgbClr val="E6945A"/>
      </a:accent2>
      <a:accent3>
        <a:srgbClr val="F0B98A"/>
      </a:accent3>
      <a:accent4>
        <a:srgbClr val="6B7269"/>
      </a:accent4>
      <a:accent5>
        <a:srgbClr val="4A5449"/>
      </a:accent5>
      <a:accent6>
        <a:srgbClr val="E5D3C2"/>
      </a:accent6>
      <a:hlink>
        <a:srgbClr val="E6945A"/>
      </a:hlink>
      <a:folHlink>
        <a:srgbClr val="6B72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