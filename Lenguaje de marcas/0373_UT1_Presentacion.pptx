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1. Error frecuente del temario: creer que cualquier editor de texto sirve igual. Abrir el Bloc de notas y VS Code con el mismo archivo, uno al lado del otro.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minutos. Es la diapositiva que da sentido a las dos siguientes: sin esto, instalar extensiones es un ritual sin motivo.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monten esto mismo mientras lo enseñas. Los tres archivos del Explorador son el bloque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ahorra veinte manos levantadas. Comprobar antes si en los equipos del aula se pueden instalar extensiones.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Otro que sale seguro: se abre Edge y ellos querían Chrome. Usa el navegador por defecto de Windows, no se cambia en VS Code. Y si cierran la pestaña, el servidor sigue: basta escribir localhost:5500 otra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Abrir una web real y buscar juntos un elemento. Es el laboratorio del módulo: gran parte del trabajo es inspeccionar, probar y depurar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Decirlo antes de que lo descubran solos. Es el otro error frecuente del temario: creer que el navegador solo sirve para ver la página terminada.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Insistir en los nombres: el fallo de «página web.html» con espacio y tilde sale cada curso y cuesta media sesión localizarlo. La carpeta .vscode aparece en cuanto se usa Live Server: avisar antes de que pregunten.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esqueleto, el vestido y el músculo: la metáfora es del temario. Cómo se enlazan va en el bloque 5, cuando ya sepan qué es una etiqueta.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Error frecuente del temario: creer que versionar solo hace falta en proyectos grandes o en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 del commit es lo que se lee dentro de seis meses. Insistir en que sea una frase, no «cambios».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lo que ocupa los 17 minutos de práctica de cada bloque: el paso 1 en el bloque 1, el 2 en el 2, el 3 en el 3 y el 4 en el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últimos 20 minutos de la sesión 5. Repartir el esqueleto del proyecto y el encargo impreso.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al final de la unidad, si da tiempo. No entra en el formulario. Enlaza con la diapositiva de IA de la presentación del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" y="-960120"/>
            <a:ext cx="2148840" cy="2148840"/>
          </a:xfrm>
          <a:prstGeom prst="ellipse">
            <a:avLst/>
          </a:prstGeom>
          <a:solidFill>
            <a:srgbClr val="5C5F3C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502920"/>
            <a:ext cx="2103120" cy="2103120"/>
          </a:xfrm>
          <a:prstGeom prst="ellipse">
            <a:avLst/>
          </a:prstGeom>
          <a:solidFill>
            <a:srgbClr val="2C4436"/>
          </a:solidFill>
          <a:ln/>
        </p:spPr>
      </p:sp>
      <p:sp>
        <p:nvSpPr>
          <p:cNvPr id="4" name="Shape 2"/>
          <p:cNvSpPr/>
          <p:nvPr/>
        </p:nvSpPr>
        <p:spPr>
          <a:xfrm>
            <a:off x="6355080" y="3246120"/>
            <a:ext cx="3108960" cy="3108960"/>
          </a:xfrm>
          <a:prstGeom prst="ellipse">
            <a:avLst/>
          </a:prstGeom>
          <a:solidFill>
            <a:srgbClr val="2C4436"/>
          </a:solidFill>
          <a:ln/>
        </p:spPr>
      </p:sp>
      <p:sp>
        <p:nvSpPr>
          <p:cNvPr id="5" name="Shape 3"/>
          <p:cNvSpPr/>
          <p:nvPr/>
        </p:nvSpPr>
        <p:spPr>
          <a:xfrm>
            <a:off x="7909560" y="3977640"/>
            <a:ext cx="2011680" cy="2011680"/>
          </a:xfrm>
          <a:prstGeom prst="ellipse">
            <a:avLst/>
          </a:prstGeom>
          <a:solidFill>
            <a:srgbClr val="5C5F3C"/>
          </a:solidFill>
          <a:ln/>
        </p:spPr>
      </p:sp>
      <p:pic>
        <p:nvPicPr>
          <p:cNvPr id="6" name="Image 0" descr="/home/claude/ref/x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56032"/>
            <a:ext cx="132588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3776" y="6035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DAM 1.º Y DAW 1.º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93776" y="160020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UT1 · Configuración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93776" y="22128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entorno de trabajo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493776" y="3246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94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RA1   ·   4 horas   ·   4 bloques de teoría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3776" y="4041648"/>
            <a:ext cx="1828800" cy="0"/>
          </a:xfrm>
          <a:prstGeom prst="line">
            <a:avLst/>
          </a:prstGeom>
          <a:noFill/>
          <a:ln w="12700">
            <a:solidFill>
              <a:srgbClr val="F3E6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Carlos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94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Curso 2026 /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editor de código no es un editor de texto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EDITOR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874520"/>
            <a:ext cx="1815084" cy="2194560"/>
          </a:xfrm>
          <a:prstGeom prst="roundRect">
            <a:avLst>
              <a:gd name="adj" fmla="val 4030"/>
            </a:avLst>
          </a:prstGeom>
          <a:solidFill>
            <a:srgbClr val="F3E6D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" y="20208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258568"/>
            <a:ext cx="148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Resaltado de sintaxis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825496"/>
            <a:ext cx="1485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Colorea el código. Un paréntesis sin cerrar se ve antes de ejecutarlo.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74620" y="1874520"/>
            <a:ext cx="1815084" cy="2194560"/>
          </a:xfrm>
          <a:prstGeom prst="roundRect">
            <a:avLst>
              <a:gd name="adj" fmla="val 4030"/>
            </a:avLst>
          </a:prstGeom>
          <a:solidFill>
            <a:srgbClr val="F3E6D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839212" y="20208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839212" y="225856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Sugerencias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2839212" y="2569464"/>
            <a:ext cx="14859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Autocompleta mientras escribes. Menos erratas y menos tiempo perdido.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36008" y="1874520"/>
            <a:ext cx="1815084" cy="2194560"/>
          </a:xfrm>
          <a:prstGeom prst="roundRect">
            <a:avLst>
              <a:gd name="adj" fmla="val 4030"/>
            </a:avLst>
          </a:prstGeom>
          <a:solidFill>
            <a:srgbClr val="F3E6D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20208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225856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Extensiones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2569464"/>
            <a:ext cx="14859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le añaden funciones: servidor en vivo, formateo, lenguajes nuevos.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97396" y="1874520"/>
            <a:ext cx="1815084" cy="2194560"/>
          </a:xfrm>
          <a:prstGeom prst="roundRect">
            <a:avLst>
              <a:gd name="adj" fmla="val 4030"/>
            </a:avLst>
          </a:prstGeom>
          <a:solidFill>
            <a:srgbClr val="152A1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61988" y="20208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761988" y="2258568"/>
            <a:ext cx="148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Terminal y Git dentro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761988" y="2825496"/>
            <a:ext cx="14859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tienes que salir del editor para ejecutar nada.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 Visual Studio Code y qué es una extensión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QUÉ 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81965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7830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9842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editor de código gratuito de Microsoft, el más usado del mundo.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" y="2404872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3682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qué lo vamos a usar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5694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escribir el HTML, el CSS y el JavaScript de las 110 horas del curso.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" y="2990088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3232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2953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 una extensión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154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añadido que le da funciones que no trae de fábrica. Se instala en un minuto.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13232" y="3575304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3232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5387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Cuántas vamos a instalar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7398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Dos: Live Server, que recarga la página al guardar, y Prettier, que ordena el código.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Así se ve el taller montado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TALLER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813816" y="1572768"/>
            <a:ext cx="7498080" cy="1785586"/>
          </a:xfrm>
          <a:prstGeom prst="roundRect">
            <a:avLst>
              <a:gd name="adj" fmla="val 2561"/>
            </a:avLst>
          </a:prstGeom>
          <a:solidFill>
            <a:srgbClr val="121314"/>
          </a:solidFill>
          <a:ln/>
        </p:spPr>
      </p:sp>
      <p:pic>
        <p:nvPicPr>
          <p:cNvPr id="9" name="Image 1" descr="/home/claude/ut1/img/f_ed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645920"/>
            <a:ext cx="7315200" cy="163928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3232" y="360273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13232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35661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abre la carpeta, no el archivo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767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Archivo &gt; Abrir carpeta. A la izquierda, el Explorador con los tres archivos del proyecto.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3232" y="405993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13232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4023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editor y el navegador, a la vez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4224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 pantalla para el código y media para la página. Así se ve el efecto de cada cambio.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Instalar Live Server: hay varios que se llaman igual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EXTENSIONES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664208"/>
            <a:ext cx="3163824" cy="2752021"/>
          </a:xfrm>
          <a:prstGeom prst="roundRect">
            <a:avLst>
              <a:gd name="adj" fmla="val 1661"/>
            </a:avLst>
          </a:prstGeom>
          <a:solidFill>
            <a:srgbClr val="121314"/>
          </a:solidFill>
          <a:ln/>
        </p:spPr>
      </p:sp>
      <p:pic>
        <p:nvPicPr>
          <p:cNvPr id="9" name="Image 1" descr="/home/claude/ut1/img/f_mar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37360"/>
            <a:ext cx="3017520" cy="260571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05072" y="181965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005072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17830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bueno es el primero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19842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Server, de Ritwick Dey. Se reconoce por las descargas: 82 millones frente a 3.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005072" y="264261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005072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389120" y="2606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otros dos no valen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389120" y="28072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llaman casi igual y hacen otra cosa. Instalar el equivocado da un fallo raro.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005072" y="346557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005072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0" y="34290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segunda extensión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389120" y="363016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Buscad después Prettier. Ordena el código al guardar, y la primera vez reformatea el archivo entero.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 Live: qué pasa cuando lo pulsas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LOCALHOST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719072"/>
            <a:ext cx="3108960" cy="1874520"/>
          </a:xfrm>
          <a:prstGeom prst="roundRect">
            <a:avLst>
              <a:gd name="adj" fmla="val 2927"/>
            </a:avLst>
          </a:prstGeom>
          <a:solidFill>
            <a:srgbClr val="152A1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2688" y="1883664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9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Live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210312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BF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abre localhost:5500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245059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9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267004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BF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la página se recarga sola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301752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9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Alt+L  Alt+C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23697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BF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para el servidor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36758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localhost es tu propio ordenador: la página solo la ves tú. Publicarla en internet es otra cosa, y eso lo hace GitHub.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096512" y="1792224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096512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17556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raíz es la carpeta que abriste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195681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eso se abre la carpeta y no el archivo: si no, no encuentra css/estilos.css y la página sale sin estilos.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096512" y="2633472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096512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2596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sale una lista de archivos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279806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hay index.html en la raíz. Casi siempre es que abristeis la carpeta de arriba y no proyecto-web.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096512" y="3474720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096512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480560" y="3438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pone 5501 en vez de 5500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480560" y="363931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puerto estaba ocupado por otra ventana. No es un error: solo cambia el número de la URL.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navegador no solo enseña la página: la desmonta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DEVTOOLS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874520"/>
            <a:ext cx="1815084" cy="2194560"/>
          </a:xfrm>
          <a:prstGeom prst="roundRect">
            <a:avLst>
              <a:gd name="adj" fmla="val 4030"/>
            </a:avLst>
          </a:prstGeom>
          <a:solidFill>
            <a:srgbClr val="152A1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" y="20208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F12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25856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Elementos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69464"/>
            <a:ext cx="14859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 y modificar en vivo el HTML y el CSS de la página.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74620" y="1874520"/>
            <a:ext cx="1815084" cy="2194560"/>
          </a:xfrm>
          <a:prstGeom prst="roundRect">
            <a:avLst>
              <a:gd name="adj" fmla="val 4030"/>
            </a:avLst>
          </a:prstGeom>
          <a:solidFill>
            <a:srgbClr val="F3E6D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839212" y="20208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F12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839212" y="225856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Consola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2839212" y="2569464"/>
            <a:ext cx="14859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mensajes y errores de JavaScript. Y probar código sin escribir un archivo.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36008" y="1874520"/>
            <a:ext cx="1815084" cy="2194560"/>
          </a:xfrm>
          <a:prstGeom prst="roundRect">
            <a:avLst>
              <a:gd name="adj" fmla="val 4030"/>
            </a:avLst>
          </a:prstGeom>
          <a:solidFill>
            <a:srgbClr val="F3E6D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20208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F12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225856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2569464"/>
            <a:ext cx="14859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peticiones que hace la página: archivos, imágenes, APIs.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97396" y="1874520"/>
            <a:ext cx="1815084" cy="2194560"/>
          </a:xfrm>
          <a:prstGeom prst="roundRect">
            <a:avLst>
              <a:gd name="adj" fmla="val 4030"/>
            </a:avLst>
          </a:prstGeom>
          <a:solidFill>
            <a:srgbClr val="F3E6D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61988" y="202082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F12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761988" y="225856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Rendimiento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761988" y="2569464"/>
            <a:ext cx="14859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Velocidad y accesibilidad. Lo usaremos más adelante.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ves en el inspector no es el archivo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 TRAMPA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200253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9659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Edítalo y recarga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1671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Vuelve a estar como estaba. No has tocado el archivo del servidor.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" y="2587752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551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qué sirve entonces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7523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probar una idea en cinco segundos antes de escribirla en el editor.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" y="3172968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3232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1363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Dónde se guarda de verdad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3375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tu archivo, desde el editor. El navegador solo lee.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proyecto no es un archivo: es una carpeta ordenada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 CARPETA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783080"/>
            <a:ext cx="3017520" cy="2183348"/>
          </a:xfrm>
          <a:prstGeom prst="roundRect">
            <a:avLst>
              <a:gd name="adj" fmla="val 2513"/>
            </a:avLst>
          </a:prstGeom>
          <a:solidFill>
            <a:srgbClr val="121314"/>
          </a:solidFill>
          <a:ln/>
        </p:spPr>
      </p:sp>
      <p:pic>
        <p:nvPicPr>
          <p:cNvPr id="9" name="Image 1" descr="/home/claude/ut1/img/f_ar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74520"/>
            <a:ext cx="2834640" cy="20004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05072" y="181965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005072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17830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carpeta por proyecto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19842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todo dentro. Si está repartido entre el escritorio y las descargas, no hay proyecto.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005072" y="245973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005072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389120" y="24231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Nombres sin espacios ni acentos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389120" y="262432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Minúsculas y guiones: quienes-somos.html, no «Quiénes somos.html». Los espacios y las tildes rompen las rutas.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005072" y="309981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005072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0" y="30632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subcarpeta por tipo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389120" y="32644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css, js e img. Con veinte archivos, el orden es la diferencia entre encontrar algo y no encontrarlo.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005072" y="373989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005072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4389120" y="37033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carpeta .vscode no la habéis creado vosotros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389120" y="39044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crea el editor para guardar los ajustes del proyecto. No se toca y no se borra.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archivos, tres trabajos distintos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SEPARACIÓN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8288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3E6D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" y="197510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21284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estructura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contenido: los textos, las imágenes, los enlaces. El esqueleto.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28416" y="18288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3E6D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93008" y="197510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css/estilos.css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21284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presentación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493008" y="2523744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Colores, tipografías, disposición. El vestido. Segundo trimestre.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18288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52A1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08192" y="197510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js/main.js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108192" y="221284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comportamiento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2523744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Responder a un clic, cargar datos. El músculo. Segundo y tercer trimestre.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13232" y="3895344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3232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8587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qué tres y no uno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0599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Son tres trabajos distintos y casi siempre los hacen personas distintas. Una hoja de estilos vale para las seis páginas: cambias un archivo y cambian todas.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guarda el historial; GitHub, la copia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VERSIONES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87452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3E6D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" y="20208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GIT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2585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tu ordenador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69464"/>
            <a:ext cx="21396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 los cambios en instantáneas llamadas commits. Permite ver el historial y volver atrás.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28416" y="187452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3E6D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93008" y="20208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COMMIT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2585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instantánea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493008" y="2569464"/>
            <a:ext cx="21396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proyecto entero en un momento, con un mensaje que explica qué cambió.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187452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152A1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08192" y="20208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GITHUB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108192" y="22585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la nube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2569464"/>
            <a:ext cx="21396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Aloja el repositorio, permite colaborar y es el portafolio del desarrollador.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Cuatro órdenes y una configuración previa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FLUJO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1545336" y="1591056"/>
            <a:ext cx="6035040" cy="1899255"/>
          </a:xfrm>
          <a:prstGeom prst="roundRect">
            <a:avLst>
              <a:gd name="adj" fmla="val 2407"/>
            </a:avLst>
          </a:prstGeom>
          <a:solidFill>
            <a:srgbClr val="121314"/>
          </a:solidFill>
          <a:ln/>
        </p:spPr>
      </p:sp>
      <p:pic>
        <p:nvPicPr>
          <p:cNvPr id="9" name="Image 1" descr="/home/claude/ut1/img/c_1789404017212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1664208"/>
            <a:ext cx="5852160" cy="17529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3232" y="364845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13232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3611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tres primeras, una sola vez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813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nombre y correo configurados, el commit falla con un error que no dice lo que pasa.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3232" y="4087368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13232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40507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Guardar no es hacer un commit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4251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Guardar sustituye lo anterior. Un commit añade una versión sin borrar las de antes.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 proyecto guiado: lo que hay que dejar hecho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 PRÁCTICA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828800"/>
            <a:ext cx="1815084" cy="1828800"/>
          </a:xfrm>
          <a:prstGeom prst="roundRect">
            <a:avLst>
              <a:gd name="adj" fmla="val 4030"/>
            </a:avLst>
          </a:prstGeom>
          <a:solidFill>
            <a:srgbClr val="F3E6D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" y="197510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PASO 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21284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editor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14859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 VS Code y añade Live Server y Prettier.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74620" y="1828800"/>
            <a:ext cx="1815084" cy="1828800"/>
          </a:xfrm>
          <a:prstGeom prst="roundRect">
            <a:avLst>
              <a:gd name="adj" fmla="val 4030"/>
            </a:avLst>
          </a:prstGeom>
          <a:solidFill>
            <a:srgbClr val="F3E6D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839212" y="197510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PASO 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839212" y="221284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navegador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2839212" y="2523744"/>
            <a:ext cx="14859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Explora las DevTools: inspector, consola y red.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36008" y="1828800"/>
            <a:ext cx="1815084" cy="1828800"/>
          </a:xfrm>
          <a:prstGeom prst="roundRect">
            <a:avLst>
              <a:gd name="adj" fmla="val 4030"/>
            </a:avLst>
          </a:prstGeom>
          <a:solidFill>
            <a:srgbClr val="F3E6D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197510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PASO 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221284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proyecto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2523744"/>
            <a:ext cx="14859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 la carpeta con index.html, css/estilos.css y js/main.js enlazados.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97396" y="1828800"/>
            <a:ext cx="1815084" cy="1828800"/>
          </a:xfrm>
          <a:prstGeom prst="roundRect">
            <a:avLst>
              <a:gd name="adj" fmla="val 4030"/>
            </a:avLst>
          </a:prstGeom>
          <a:solidFill>
            <a:srgbClr val="152A1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61988" y="1975104"/>
            <a:ext cx="1485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PASO 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761988" y="2212848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historial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761988" y="2523744"/>
            <a:ext cx="14859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init, primer commit y súbelo a GitHub.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3232" y="3803904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13232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37673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entregable de la unidad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39684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entorno configurado y el repositorio de GitHub con el primer commit. Se comprueba en clase, sobre vuestra pantalla.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Equipos y encargo del bloque 1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SEGUNDA HORA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819656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7830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9842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fila, un equipo. Fijos hasta el final del trimestre.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" y="2404872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3682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5694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Uno de los cinco de la lista, o el vuestro con mi visto bueno. Podéis repetir con otro equipo.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" y="2990088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3232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2953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Reparto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154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seis partes del encargo y quién es el Scrum Master de este bloque.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13232" y="3575304"/>
            <a:ext cx="274320" cy="274320"/>
          </a:xfrm>
          <a:prstGeom prst="ellipse">
            <a:avLst/>
          </a:prstGeom>
          <a:solidFill>
            <a:srgbClr val="E6945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3232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5387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viene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7398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UT2: etiquetas de texto, listas, enlaces e imágenes.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237744"/>
            <a:ext cx="132588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LENGUAJES DE MARCAS · 0373 · UT1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" y="603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cosas que ya están cambiando el oficio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solidFill>
            <a:srgbClr val="F3E6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87184" y="6583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152A1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AMPLIACIÓN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" y="1335024"/>
            <a:ext cx="8138160" cy="3310128"/>
          </a:xfrm>
          <a:prstGeom prst="roundRect">
            <a:avLst>
              <a:gd name="adj" fmla="val 165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1828800"/>
            <a:ext cx="3776472" cy="2286000"/>
          </a:xfrm>
          <a:prstGeom prst="roundRect">
            <a:avLst>
              <a:gd name="adj" fmla="val 3200"/>
            </a:avLst>
          </a:prstGeom>
          <a:solidFill>
            <a:srgbClr val="F3E6D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" y="1975104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SIN INSTALAR NADA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21284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5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Codespaces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34472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mismo VS Code, en el navegador y en la nube. Preconfigurado e igual para todo el equipo: se acabó el «en mi máquina funciona». Alternativas: Gitpod y vscode.dev.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36008" y="1828800"/>
            <a:ext cx="3776472" cy="2286000"/>
          </a:xfrm>
          <a:prstGeom prst="roundRect">
            <a:avLst>
              <a:gd name="adj" fmla="val 3200"/>
            </a:avLst>
          </a:prstGeom>
          <a:solidFill>
            <a:srgbClr val="152A1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1975104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6945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ASISTENTES DE CÓDIGO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21284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 y compañía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523744"/>
            <a:ext cx="34472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Sugieren código mientras escribes y completan funciones a partir de un comentario. Pueden generar código incorrecto o inseguro: la IA sugiere, el profesional decide.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3108960"/>
            <a:ext cx="2651760" cy="2651760"/>
          </a:xfrm>
          <a:prstGeom prst="ellipse">
            <a:avLst/>
          </a:prstGeom>
          <a:solidFill>
            <a:srgbClr val="2C4436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0" y="-1005840"/>
            <a:ext cx="2743200" cy="2743200"/>
          </a:xfrm>
          <a:prstGeom prst="ellipse">
            <a:avLst/>
          </a:prstGeom>
          <a:solidFill>
            <a:srgbClr val="5C5F3C"/>
          </a:solidFill>
          <a:ln/>
        </p:spPr>
      </p:sp>
      <p:pic>
        <p:nvPicPr>
          <p:cNvPr id="4" name="Image 0" descr="/home/claude/ref/x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457200"/>
            <a:ext cx="132588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Entorno montado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93776" y="2743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6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Tenéis editor, navegador, proyecto y un repositorio con vuestro primer commit. La semana que viene, HTML.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0373 · UT1 · Configuración del entorno de trabajo</dc:title>
  <dc:subject>PptxGenJS Presentation</dc:subject>
  <dc:creator>Carlos</dc:creator>
  <cp:lastModifiedBy>Carlos</cp:lastModifiedBy>
  <cp:revision>1</cp:revision>
  <dcterms:created xsi:type="dcterms:W3CDTF">2026-09-14T20:13:12Z</dcterms:created>
  <dcterms:modified xsi:type="dcterms:W3CDTF">2026-09-14T20:13:12Z</dcterms:modified>
</cp:coreProperties>
</file>